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15 seconds. We built Tsukuyomi Watch for PS-002. A user should be able to choose a place and night, understand what is observable, then inspect a space image without pretending the AI knows missing details. Team PF-K96JPZ. Public URL: https://tsukuyomi-watch.vercel.app. Repo: https://github.com/PECathon-2026/Team-PF-K96JPZ. Readiness audit: 30 October 2026 IST, app source commit 8e07eb7. This deck distinguishes implemented behavior from estimates and deployment prerequisites.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Explain the problem as three connected decisions, not just a feature checklist. Users currently assemble weather, event schedules and image tools themselves. The culturally themed interface is the narrative layer; the functional goal is more informed planning and inspectable restoration. Do not claim measured user research or adoption: these are intended user groups. PS-002 also asks for a before/after visualization and bonus analysis, archive retrieval and gamification.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Walk the actual user flow. Watchtower and Scroll live on the main dashboard; event details stay inside the app. Spirit Lens contains the before/after Dojo visualization. /dojo is the separate device-local observation journal, not the name of the AI pipeline. /analysis contains light-curve and spectral CSV screening. The SkyView feature retrieves archival survey images on demand; it is not a live telescope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Be precise about novelty. We did not invent DnCNN, SGP4, a new astronomical catalogue or the Japanese lunar calendar. Our innovation is an integrated observing workflow, local and auditable processing, and a Japanese-inspired interaction system. Four palettes and shared light/dark mode are implemented across feature pages, with translations and reduced-motion styles. Code: apps/web/providers/palette.tsx, components/japanese-text.tsx, shared theme artwork and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Follow one request: React Query calls the typed tRPC client through the web app’s same-origin API proxy, Express routes validate input with Zod, service functions own provider calls and business rules, and Drizzle accesses Neon PostgreSQL. Weather writes weather + score in a transaction; celestial feed membership supports caching and upserts by provider ID. Static type sharing reduces drift; runtime validation still handles untrusted inputs. NASA SkyView is a separate fixed-host server route in Next.js. Images selected from the user device are decoded and processed locally in an isolated worker using ONNX WASM, not sent to the API. Model assets are SHA-256 verified. VAPID private keys and database credentials are server-only. A configured recurring scheduler is necessary for push delivery. Files: apps/api/src/server.ts; packages/trpc/server/routes; packages/services; packages/database/models; apps/web/lib/spirit-lens/spirit-lens.worker.ts.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This screenshot was captured from production on 30 October 2026 IST, not a design mockup. The catalogue contains six curated Indian destinations. Search and map-area lookup do not mean a global destination discovery database. Nearby selection uses Haversine distance; conditions are ranked by the weather score. The forecast chooses the next future provider-night hour, not a past or daytime estimate. It is forecast data, not a real-time sensor feed. Score normalizes weights 40 cloud, 20 visibility, 15 humidity; visibility caps at 20 km. It currently excludes light pollution and moonlight. Explain these limits before claiming the best possible astronomical site. Code: packages/services/watchtower/weather.ts and index.ts.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Kyureki supports real 29/30-day Japanese lunisolar months and explicit leap months via himekuri; event filtering uses UTC dates. USNO phases retain UTC instants. Launch dates can change. Astronomy Engine eclipse events describe global maxima, not local visibility or contacts. Meteor events are approximate annual windows with ±1 day labels and a noon UTC placeholder, not a precision annual peak. ISS is a separate panel for the selected site: SGP4, fresh CelesTrak TLE, elevation at least 10 degrees, observer Sun below minus 6 degrees, fully sunlit segments, 20-second sampling over three days. Stale or malformed TLE does not generate fake passes. Push is implemented but needs credentials, HTTPS, permissions and a running minute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model is pretrained DnCNN sigma25, using luminance in a browser worker. Assets are hash-verified before inference. Tiles are 256 with a 17px halo. Gentle mode blends 25 percent with a max channel change of 6/255; Balanced uses 45 percent and 12/255. Detected source regions and color/alpha relationships are protected, with local extrema constraints. Optional deblur is conventional Richardson–Lucy, six iterations and an assumed Gaussian PSF 0.5–2px. Do not say no hallucination is mathematically guaranteed: the safeguards limit edits but faint source preservation needs a domain benchmark. Sixteen-bit PNG and FITS/RAW are not supported. The app restores bounded RGB previews, not full-resolution scientific data. Files: lib/spirit-lens/model.ts, image.ts, analysis.ts, deblur.ts and spirit-lens.worker.ts.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Fresh production run captured 2026-10-29T23:39:26Z, which is 30 October IST. This source is explicitly synthetic, not a telescope photograph and not an independent science benchmark. Result: 15.8 seconds on this browser/device, 41 candidates, input similarity SSIM 0.975, PSNR 41.6 dB, estimated noise 8.6 to 6.5, max channel edit 6/255. The time is not a hardware-independent performance claim; SSIM and PSNR compare against the noisy input, not known clean ground truth. The interactive UI supports the slider, zoom, pan and candidate overlays. Objects are detected on the original preview. Galaxy labels are tentative morphology candidates; brightness is uncalibrated pixel data, not astronomical magnitude or catalogue identity. Evidence: assets/live-evidence.json.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Tests and architecture carry 40 marks, so show evidence, not just a screenshot of a green check. The transcript is docs/presentation/test-results.txt. Node’s test runner executes 28 tests from eight TypeScript files using tsx. The seven displayed areas combine the five Lens analysis tests and one deblur test. Tests include boundary values, malformed external data, dates and timezones, injection and push credential rejection, scientific fixtures and invalid observations. The fresh frontend optimized build and API tsup build also pass. Existing PostgreSQL device-ownership integration had been run earlier; it is separate and was not rerun in this audit. No measured line coverage or load-test claim. See the appendix and READINESS.md for the exact command and remaining test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The live platform shows technical feasibility at prototype scale. Intended users are students, clubs and hobbyists. We have not measured improved observing success, scientific accuracy, retention, cost per user or load capacity. The browser model avoids a hosted GPU service, but execution time depends on hardware and image size. Current free demo hosting can sleep and external providers have quotas and outages; commercial production would require reliability and capacity planning. Geography is limited by the six-place catalogue. Validate with a club pilot and a labelled astronomy benchmark before broad claims. No need to quote current vendor pricing in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This is a candid internal readiness assessment, not a predicted judging score. All rubric categories have a concrete story, but code knowledge is demonstrated by the team answering questions and test marks depend on evidence beyond a count. The app is ready for a controlled demonstration with its known constraints. It is not certified for always-on production, confirmed astronomical classification or full-resolution science processing. The most material missing evidence is automated CI and broad E2E, a physical closed-app push receipt using a running production scheduler, a larger astronomy benchmark, and user impact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presenter rehearsal plan; skip it during a short live pitch if it breaks the flow. A detailed script is in DEMO_GUIDE.md. Preload the homepage and Spirit Lens so free-tier startup and model downloads happen before judging. Start with a synthetic fixture that is visibly labelled, and keep a permitted local space image ready. Do not rely on NASA availability, device geolocation or a future moonrise happening during the demo. If a provider fails, show the actual error handling and the previously captured screenshot. Never claim a notification has arrived if you only scheduled it. Speaker division: one person handles user flow, one architecture/testing, one impact and Q&amp;A; adapt to actual team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Request trace example: Watchtower client → packages/trpc/server/routes/watchtower/route.ts → packages/services/watchtower/index.ts → weather.ts provider adapter → packages/database/models/watchtower.ts. Event feed caching is in packages/services/celestial/index.ts; eclipse and meteor generation in calculated.ts; SGP4 passes in iss.ts. Push ownership and delivery are in services/alerts/index.ts and database/models/push.ts. AI worker validates requests, verifies model files, performs tiled inference, then produces metrics and candidates. There are database foundation tables for user accounts and Honor, but current journal behavior is local; do not imply the existence of full authentication or cloud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C=50, V=10 km, H=50 yields components 20 + 10 + 7.5 = 37.5. Divide by 75 and multiply by 100: 50. C=0, H=0 and V at least 20 gives 100; C=100, H=100 and V=0 gives 0. Inputs are validated before calculation. This is not a trained model and there is no measured prediction accuracy. Cloud/humidity/visibility do not account for seeing, atmospheric transparency, local obstructions, moonlight or light pollution. A future score should add calibrated darkness and moon effects with validation. Tests: packages/services/watchtower/weather.test.ts.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28 are test cases; many cases contain several assertions. The suite is mostly pure logic and provider parsing with fixtures, not a full live integration suite. Database ownership integration exists separately and had passed earlier using dummy subscriptions without delivery, but was not rerun here. Current browser proof covers map/calendar rendering and a synthetic AI restoration plus analysis screenshot. There is no measured line/branch coverage and no verified CI workflow. Follow-up E2E should cover provider outage, empty data, disabled geolocation, denied notification permission, offline state, concurrent alert claims, device deletion and download/export behavior. Scientific validation needs clean/noisy pairs and source photometry preservation, not just similarity to noisy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NASA SkyView accepts a validated target, DSS/2MASS-J/GALEX Near UV survey and bounded field width, retrieves a 512px archival display JPEG through a fixed-host server route, and preserves query provenance. It may return overload errors; the UI reports them. Signal Observatory accepts CSV up to 1 MB and 12–2000 rows. Time-domain median/MAD screening and spectral local-median residuals flag unusual values; uncertainties combine in quadrature. These are heuristic candidates, not formal discovery significance, and a spectrum alone cannot establish time variability. Honor is device-local, user-editable and self-reported, with no synced accounts or public leaderboard. Push uses hashed bearer ownership and endpoint allowlists, leases and up to three attempts, but browser power policy and a missing production scheduler can prevent timely delivery. Safari endpoint support is not enabled. Use calendar export as the demo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tsukuyomi-watch.vercel.app"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01</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PECATHON 2026 • TEAM PF-K96JPZ</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Tsukuyomi Watch</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The Samurai’s Celestial Guide</a:t>
            </a:r>
            <a:endParaRPr lang="en-US" sz="1400" dirty="0"/>
          </a:p>
        </p:txBody>
      </p:sp>
      <p:sp>
        <p:nvSpPr>
          <p:cNvPr id="9" name="Text 7"/>
          <p:cNvSpPr/>
          <p:nvPr/>
        </p:nvSpPr>
        <p:spPr>
          <a:xfrm>
            <a:off x="621792" y="2148840"/>
            <a:ext cx="5852160" cy="2011680"/>
          </a:xfrm>
          <a:prstGeom prst="rect">
            <a:avLst/>
          </a:prstGeom>
          <a:noFill/>
          <a:ln/>
        </p:spPr>
        <p:txBody>
          <a:bodyPr wrap="square" lIns="0" tIns="0" rIns="0" bIns="0" rtlCol="0" anchor="ctr"/>
          <a:lstStyle/>
          <a:p>
            <a:pPr indent="0" marL="0">
              <a:buNone/>
            </a:pPr>
            <a:r>
              <a:rPr lang="en-US" sz="3600" dirty="0">
                <a:solidFill>
                  <a:srgbClr val="F5EEE5"/>
                </a:solidFill>
                <a:latin typeface="Georgia" pitchFamily="34" charset="0"/>
                <a:ea typeface="Georgia" pitchFamily="34" charset="-122"/>
                <a:cs typeface="Georgia" pitchFamily="34" charset="-120"/>
              </a:rPr>
              <a:t>Plan the night.</a:t>
            </a:r>
            <a:endParaRPr lang="en-US" sz="3600" dirty="0"/>
          </a:p>
          <a:p>
            <a:pPr indent="0" marL="0">
              <a:buNone/>
            </a:pPr>
            <a:r>
              <a:rPr lang="en-US" sz="3600" dirty="0">
                <a:solidFill>
                  <a:srgbClr val="F5EEE5"/>
                </a:solidFill>
                <a:latin typeface="Georgia" pitchFamily="34" charset="0"/>
                <a:ea typeface="Georgia" pitchFamily="34" charset="-122"/>
                <a:cs typeface="Georgia" pitchFamily="34" charset="-120"/>
              </a:rPr>
              <a:t>Read the sky.</a:t>
            </a:r>
            <a:endParaRPr lang="en-US" sz="3600" dirty="0"/>
          </a:p>
          <a:p>
            <a:pPr indent="0" marL="0">
              <a:buNone/>
            </a:pPr>
            <a:r>
              <a:rPr lang="en-US" sz="3600" dirty="0">
                <a:solidFill>
                  <a:srgbClr val="F5EEE5"/>
                </a:solidFill>
                <a:latin typeface="Georgia" pitchFamily="34" charset="0"/>
                <a:ea typeface="Georgia" pitchFamily="34" charset="-122"/>
                <a:cs typeface="Georgia" pitchFamily="34" charset="-120"/>
              </a:rPr>
              <a:t>Inspect the image.</a:t>
            </a:r>
            <a:endParaRPr lang="en-US" sz="3600" dirty="0"/>
          </a:p>
        </p:txBody>
      </p:sp>
      <p:sp>
        <p:nvSpPr>
          <p:cNvPr id="10" name="Text 8"/>
          <p:cNvSpPr/>
          <p:nvPr/>
        </p:nvSpPr>
        <p:spPr>
          <a:xfrm>
            <a:off x="640080" y="4526280"/>
            <a:ext cx="5852160" cy="749808"/>
          </a:xfrm>
          <a:prstGeom prst="rect">
            <a:avLst/>
          </a:prstGeom>
          <a:noFill/>
          <a:ln/>
        </p:spPr>
        <p:txBody>
          <a:bodyPr wrap="square" lIns="0" tIns="0" rIns="0" bIns="0" rtlCol="0" anchor="ctr"/>
          <a:lstStyle/>
          <a:p>
            <a:pPr indent="0" marL="0">
              <a:buNone/>
            </a:pPr>
            <a:r>
              <a:rPr lang="en-US" sz="1900" dirty="0">
                <a:solidFill>
                  <a:srgbClr val="B5BED5"/>
                </a:solidFill>
                <a:latin typeface="Aptos" pitchFamily="34" charset="0"/>
                <a:ea typeface="Aptos" pitchFamily="34" charset="-122"/>
                <a:cs typeface="Aptos" pitchFamily="34" charset="-120"/>
              </a:rPr>
              <a:t>Weather + cosmic events + conservative local AI</a:t>
            </a:r>
            <a:endParaRPr lang="en-US" sz="1900" dirty="0"/>
          </a:p>
          <a:p>
            <a:pPr indent="0" marL="0">
              <a:buNone/>
            </a:pPr>
            <a:r>
              <a:rPr lang="en-US" sz="1900" dirty="0">
                <a:solidFill>
                  <a:srgbClr val="B5BED5"/>
                </a:solidFill>
                <a:latin typeface="Aptos" pitchFamily="34" charset="0"/>
                <a:ea typeface="Aptos" pitchFamily="34" charset="-122"/>
                <a:cs typeface="Aptos" pitchFamily="34" charset="-120"/>
              </a:rPr>
              <a:t>in one Japanese-inspired observing workflow.</a:t>
            </a:r>
            <a:endParaRPr lang="en-US" sz="1900" dirty="0"/>
          </a:p>
        </p:txBody>
      </p:sp>
      <p:sp>
        <p:nvSpPr>
          <p:cNvPr id="11" name="Shape 9"/>
          <p:cNvSpPr/>
          <p:nvPr/>
        </p:nvSpPr>
        <p:spPr>
          <a:xfrm>
            <a:off x="8321040" y="2057400"/>
            <a:ext cx="2331720" cy="2331720"/>
          </a:xfrm>
          <a:prstGeom prst="ellipse">
            <a:avLst/>
          </a:prstGeom>
          <a:solidFill>
            <a:srgbClr val="EFBD73"/>
          </a:solidFill>
          <a:ln w="12700">
            <a:solidFill>
              <a:srgbClr val="EFBD73"/>
            </a:solidFill>
            <a:prstDash val="solid"/>
          </a:ln>
        </p:spPr>
      </p:sp>
      <p:sp>
        <p:nvSpPr>
          <p:cNvPr id="12" name="Shape 10"/>
          <p:cNvSpPr/>
          <p:nvPr/>
        </p:nvSpPr>
        <p:spPr>
          <a:xfrm>
            <a:off x="8823960" y="1810512"/>
            <a:ext cx="2331720" cy="2331720"/>
          </a:xfrm>
          <a:prstGeom prst="ellipse">
            <a:avLst/>
          </a:prstGeom>
          <a:solidFill>
            <a:srgbClr val="0C1024"/>
          </a:solidFill>
          <a:ln w="12700">
            <a:solidFill>
              <a:srgbClr val="0C1024"/>
            </a:solidFill>
            <a:prstDash val="solid"/>
          </a:ln>
        </p:spPr>
      </p:sp>
      <p:sp>
        <p:nvSpPr>
          <p:cNvPr id="13" name="Shape 11"/>
          <p:cNvSpPr/>
          <p:nvPr/>
        </p:nvSpPr>
        <p:spPr>
          <a:xfrm>
            <a:off x="7772400" y="4791456"/>
            <a:ext cx="3566160" cy="0"/>
          </a:xfrm>
          <a:prstGeom prst="line">
            <a:avLst/>
          </a:prstGeom>
          <a:noFill/>
          <a:ln w="63500">
            <a:solidFill>
              <a:srgbClr val="C94B55"/>
            </a:solidFill>
            <a:prstDash val="solid"/>
          </a:ln>
        </p:spPr>
      </p:sp>
      <p:sp>
        <p:nvSpPr>
          <p:cNvPr id="14" name="Shape 12"/>
          <p:cNvSpPr/>
          <p:nvPr/>
        </p:nvSpPr>
        <p:spPr>
          <a:xfrm>
            <a:off x="8001000" y="5084064"/>
            <a:ext cx="3108960" cy="0"/>
          </a:xfrm>
          <a:prstGeom prst="line">
            <a:avLst/>
          </a:prstGeom>
          <a:noFill/>
          <a:ln w="25400">
            <a:solidFill>
              <a:srgbClr val="EFBD73"/>
            </a:solidFill>
            <a:prstDash val="solid"/>
          </a:ln>
        </p:spPr>
      </p:sp>
      <p:sp>
        <p:nvSpPr>
          <p:cNvPr id="15" name="Shape 13"/>
          <p:cNvSpPr/>
          <p:nvPr/>
        </p:nvSpPr>
        <p:spPr>
          <a:xfrm>
            <a:off x="8321040" y="4800600"/>
            <a:ext cx="0" cy="868680"/>
          </a:xfrm>
          <a:prstGeom prst="line">
            <a:avLst/>
          </a:prstGeom>
          <a:noFill/>
          <a:ln w="63500">
            <a:solidFill>
              <a:srgbClr val="C94B55"/>
            </a:solidFill>
            <a:prstDash val="solid"/>
          </a:ln>
        </p:spPr>
      </p:sp>
      <p:sp>
        <p:nvSpPr>
          <p:cNvPr id="16" name="Shape 14"/>
          <p:cNvSpPr/>
          <p:nvPr/>
        </p:nvSpPr>
        <p:spPr>
          <a:xfrm>
            <a:off x="10789920" y="4800600"/>
            <a:ext cx="0" cy="868680"/>
          </a:xfrm>
          <a:prstGeom prst="line">
            <a:avLst/>
          </a:prstGeom>
          <a:noFill/>
          <a:ln w="63500">
            <a:solidFill>
              <a:srgbClr val="C94B55"/>
            </a:solidFill>
            <a:prstDash val="solid"/>
          </a:ln>
        </p:spPr>
      </p:sp>
      <p:sp>
        <p:nvSpPr>
          <p:cNvPr id="17" name="Text 15">
            <a:hlinkClick r:id="rId1" tooltip=""/>
          </p:cNvPr>
          <p:cNvSpPr/>
          <p:nvPr/>
        </p:nvSpPr>
        <p:spPr>
          <a:xfrm>
            <a:off x="640080" y="5715000"/>
            <a:ext cx="6400800" cy="274320"/>
          </a:xfrm>
          <a:prstGeom prst="rect">
            <a:avLst/>
          </a:prstGeom>
          <a:noFill/>
          <a:ln/>
        </p:spPr>
        <p:txBody>
          <a:bodyPr wrap="square" lIns="0" tIns="0" rIns="0" bIns="0" rtlCol="0" anchor="ctr"/>
          <a:lstStyle/>
          <a:p>
            <a:pPr indent="0" marL="0">
              <a:buNone/>
            </a:pPr>
            <a:r>
              <a:rPr lang="en-US" sz="1700" u="sng" dirty="0">
                <a:solidFill>
                  <a:srgbClr val="EFBD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tsukuyomi-watch.vercel.app</a:t>
            </a:r>
            <a:endParaRPr lang="en-US" sz="1700" dirty="0"/>
          </a:p>
        </p:txBody>
      </p:sp>
      <p:sp>
        <p:nvSpPr>
          <p:cNvPr id="18" name="Shape 16"/>
          <p:cNvSpPr/>
          <p:nvPr/>
        </p:nvSpPr>
        <p:spPr>
          <a:xfrm>
            <a:off x="7635240" y="5806440"/>
            <a:ext cx="3703320" cy="320040"/>
          </a:xfrm>
          <a:prstGeom prst="rect">
            <a:avLst/>
          </a:prstGeom>
          <a:solidFill>
            <a:srgbClr val="212A46"/>
          </a:solidFill>
          <a:ln w="7620">
            <a:solidFill>
              <a:srgbClr val="212A46"/>
            </a:solidFill>
            <a:prstDash val="solid"/>
          </a:ln>
        </p:spPr>
      </p:sp>
      <p:sp>
        <p:nvSpPr>
          <p:cNvPr id="19" name="Text 17"/>
          <p:cNvSpPr/>
          <p:nvPr/>
        </p:nvSpPr>
        <p:spPr>
          <a:xfrm>
            <a:off x="7726680" y="5843016"/>
            <a:ext cx="3520440" cy="228600"/>
          </a:xfrm>
          <a:prstGeom prst="rect">
            <a:avLst/>
          </a:prstGeom>
          <a:noFill/>
          <a:ln/>
        </p:spPr>
        <p:txBody>
          <a:bodyPr wrap="square" lIns="0" tIns="0" rIns="0" bIns="0" rtlCol="0" anchor="ctr"/>
          <a:lstStyle/>
          <a:p>
            <a:pPr indent="0" marL="0">
              <a:buNone/>
            </a:pPr>
            <a:r>
              <a:rPr lang="en-US" sz="1100" dirty="0">
                <a:solidFill>
                  <a:srgbClr val="EFBD73"/>
                </a:solidFill>
                <a:latin typeface="Aptos" pitchFamily="34" charset="0"/>
                <a:ea typeface="Aptos" pitchFamily="34" charset="-122"/>
                <a:cs typeface="Aptos" pitchFamily="34" charset="-120"/>
              </a:rPr>
              <a:t>LIVE DEMO + VERIFIED TEST EVIDENCE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02</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PROBLEM UNDERSTANDING • 15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A clear night is a decision problem</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A beginner must combine fragmented information before an observing trip.</a:t>
            </a:r>
            <a:endParaRPr lang="en-US" sz="1400" dirty="0"/>
          </a:p>
        </p:txBody>
      </p:sp>
      <p:sp>
        <p:nvSpPr>
          <p:cNvPr id="9" name="Shape 7"/>
          <p:cNvSpPr/>
          <p:nvPr/>
        </p:nvSpPr>
        <p:spPr>
          <a:xfrm>
            <a:off x="594360" y="2148840"/>
            <a:ext cx="3529584" cy="3337560"/>
          </a:xfrm>
          <a:prstGeom prst="rect">
            <a:avLst/>
          </a:prstGeom>
          <a:solidFill>
            <a:srgbClr val="161D36"/>
          </a:solidFill>
          <a:ln w="7620">
            <a:solidFill>
              <a:srgbClr val="161D36"/>
            </a:solidFill>
            <a:prstDash val="solid"/>
          </a:ln>
        </p:spPr>
      </p:sp>
      <p:sp>
        <p:nvSpPr>
          <p:cNvPr id="10" name="Shape 8"/>
          <p:cNvSpPr/>
          <p:nvPr/>
        </p:nvSpPr>
        <p:spPr>
          <a:xfrm>
            <a:off x="594360" y="2148840"/>
            <a:ext cx="41148" cy="3337560"/>
          </a:xfrm>
          <a:prstGeom prst="rect">
            <a:avLst/>
          </a:prstGeom>
          <a:solidFill>
            <a:srgbClr val="EFBD73"/>
          </a:solidFill>
          <a:ln w="7620">
            <a:solidFill>
              <a:srgbClr val="EFBD73"/>
            </a:solidFill>
            <a:prstDash val="solid"/>
          </a:ln>
        </p:spPr>
      </p:sp>
      <p:sp>
        <p:nvSpPr>
          <p:cNvPr id="11" name="Text 9"/>
          <p:cNvSpPr/>
          <p:nvPr/>
        </p:nvSpPr>
        <p:spPr>
          <a:xfrm>
            <a:off x="777240" y="233172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01 / WHERE</a:t>
            </a:r>
            <a:endParaRPr lang="en-US" sz="1100" dirty="0"/>
          </a:p>
        </p:txBody>
      </p:sp>
      <p:sp>
        <p:nvSpPr>
          <p:cNvPr id="12" name="Text 10"/>
          <p:cNvSpPr/>
          <p:nvPr/>
        </p:nvSpPr>
        <p:spPr>
          <a:xfrm>
            <a:off x="777240" y="274320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Will the sky be usable?</a:t>
            </a:r>
            <a:endParaRPr lang="en-US" sz="2200" dirty="0"/>
          </a:p>
        </p:txBody>
      </p:sp>
      <p:sp>
        <p:nvSpPr>
          <p:cNvPr id="13" name="Text 11"/>
          <p:cNvSpPr/>
          <p:nvPr/>
        </p:nvSpPr>
        <p:spPr>
          <a:xfrm>
            <a:off x="777240" y="3502152"/>
            <a:ext cx="3163824" cy="1828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Clouds, humidity and visibility change by place and time. A map alone cannot rank an observing night.</a:t>
            </a:r>
            <a:endParaRPr lang="en-US" sz="1700" dirty="0"/>
          </a:p>
        </p:txBody>
      </p:sp>
      <p:sp>
        <p:nvSpPr>
          <p:cNvPr id="14" name="Shape 12"/>
          <p:cNvSpPr/>
          <p:nvPr/>
        </p:nvSpPr>
        <p:spPr>
          <a:xfrm>
            <a:off x="4325112" y="2148840"/>
            <a:ext cx="3529584" cy="3337560"/>
          </a:xfrm>
          <a:prstGeom prst="rect">
            <a:avLst/>
          </a:prstGeom>
          <a:solidFill>
            <a:srgbClr val="161D36"/>
          </a:solidFill>
          <a:ln w="7620">
            <a:solidFill>
              <a:srgbClr val="161D36"/>
            </a:solidFill>
            <a:prstDash val="solid"/>
          </a:ln>
        </p:spPr>
      </p:sp>
      <p:sp>
        <p:nvSpPr>
          <p:cNvPr id="15" name="Shape 13"/>
          <p:cNvSpPr/>
          <p:nvPr/>
        </p:nvSpPr>
        <p:spPr>
          <a:xfrm>
            <a:off x="4325112" y="2148840"/>
            <a:ext cx="41148" cy="3337560"/>
          </a:xfrm>
          <a:prstGeom prst="rect">
            <a:avLst/>
          </a:prstGeom>
          <a:solidFill>
            <a:srgbClr val="EFBD73"/>
          </a:solidFill>
          <a:ln w="7620">
            <a:solidFill>
              <a:srgbClr val="EFBD73"/>
            </a:solidFill>
            <a:prstDash val="solid"/>
          </a:ln>
        </p:spPr>
      </p:sp>
      <p:sp>
        <p:nvSpPr>
          <p:cNvPr id="16" name="Text 14"/>
          <p:cNvSpPr/>
          <p:nvPr/>
        </p:nvSpPr>
        <p:spPr>
          <a:xfrm>
            <a:off x="4507992" y="233172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02 / WHEN</a:t>
            </a:r>
            <a:endParaRPr lang="en-US" sz="1100" dirty="0"/>
          </a:p>
        </p:txBody>
      </p:sp>
      <p:sp>
        <p:nvSpPr>
          <p:cNvPr id="17" name="Text 15"/>
          <p:cNvSpPr/>
          <p:nvPr/>
        </p:nvSpPr>
        <p:spPr>
          <a:xfrm>
            <a:off x="4507992" y="274320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What can I observe?</a:t>
            </a:r>
            <a:endParaRPr lang="en-US" sz="2200" dirty="0"/>
          </a:p>
        </p:txBody>
      </p:sp>
      <p:sp>
        <p:nvSpPr>
          <p:cNvPr id="18" name="Text 16"/>
          <p:cNvSpPr/>
          <p:nvPr/>
        </p:nvSpPr>
        <p:spPr>
          <a:xfrm>
            <a:off x="4507992" y="3502152"/>
            <a:ext cx="3163824" cy="1828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Moon phases, launches, eclipses, meteor windows and visible ISS segments come from different sources.</a:t>
            </a:r>
            <a:endParaRPr lang="en-US" sz="1700" dirty="0"/>
          </a:p>
        </p:txBody>
      </p:sp>
      <p:sp>
        <p:nvSpPr>
          <p:cNvPr id="19" name="Shape 17"/>
          <p:cNvSpPr/>
          <p:nvPr/>
        </p:nvSpPr>
        <p:spPr>
          <a:xfrm>
            <a:off x="8055864" y="2148840"/>
            <a:ext cx="3529584" cy="3337560"/>
          </a:xfrm>
          <a:prstGeom prst="rect">
            <a:avLst/>
          </a:prstGeom>
          <a:solidFill>
            <a:srgbClr val="161D36"/>
          </a:solidFill>
          <a:ln w="7620">
            <a:solidFill>
              <a:srgbClr val="161D36"/>
            </a:solidFill>
            <a:prstDash val="solid"/>
          </a:ln>
        </p:spPr>
      </p:sp>
      <p:sp>
        <p:nvSpPr>
          <p:cNvPr id="20" name="Shape 18"/>
          <p:cNvSpPr/>
          <p:nvPr/>
        </p:nvSpPr>
        <p:spPr>
          <a:xfrm>
            <a:off x="8055864" y="2148840"/>
            <a:ext cx="41148" cy="3337560"/>
          </a:xfrm>
          <a:prstGeom prst="rect">
            <a:avLst/>
          </a:prstGeom>
          <a:solidFill>
            <a:srgbClr val="EFBD73"/>
          </a:solidFill>
          <a:ln w="7620">
            <a:solidFill>
              <a:srgbClr val="EFBD73"/>
            </a:solidFill>
            <a:prstDash val="solid"/>
          </a:ln>
        </p:spPr>
      </p:sp>
      <p:sp>
        <p:nvSpPr>
          <p:cNvPr id="21" name="Text 19"/>
          <p:cNvSpPr/>
          <p:nvPr/>
        </p:nvSpPr>
        <p:spPr>
          <a:xfrm>
            <a:off x="8238744" y="233172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03 / WHAT</a:t>
            </a:r>
            <a:endParaRPr lang="en-US" sz="1100" dirty="0"/>
          </a:p>
        </p:txBody>
      </p:sp>
      <p:sp>
        <p:nvSpPr>
          <p:cNvPr id="22" name="Text 20"/>
          <p:cNvSpPr/>
          <p:nvPr/>
        </p:nvSpPr>
        <p:spPr>
          <a:xfrm>
            <a:off x="8238744" y="274320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Can I trust the image?</a:t>
            </a:r>
            <a:endParaRPr lang="en-US" sz="2200" dirty="0"/>
          </a:p>
        </p:txBody>
      </p:sp>
      <p:sp>
        <p:nvSpPr>
          <p:cNvPr id="23" name="Text 21"/>
          <p:cNvSpPr/>
          <p:nvPr/>
        </p:nvSpPr>
        <p:spPr>
          <a:xfrm>
            <a:off x="8238744" y="3502152"/>
            <a:ext cx="3163824" cy="1828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Noise and blur hide faint structure. Cleanup must stay inspectable and avoid invented object identities.</a:t>
            </a:r>
            <a:endParaRPr lang="en-US" sz="1700" dirty="0"/>
          </a:p>
        </p:txBody>
      </p:sp>
      <p:sp>
        <p:nvSpPr>
          <p:cNvPr id="24" name="Text 22"/>
          <p:cNvSpPr/>
          <p:nvPr/>
        </p:nvSpPr>
        <p:spPr>
          <a:xfrm>
            <a:off x="621792" y="5806440"/>
            <a:ext cx="1097280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Primary users: student astronomy clubs, first-time observers and hobby astrophotographers.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03</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SOLUTION WALKTHROUGH</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One observing journey, four connected views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The core PS-002 modules are implemented; the interface also includes optional bonus tools.</a:t>
            </a:r>
            <a:endParaRPr lang="en-US" sz="1400" dirty="0"/>
          </a:p>
        </p:txBody>
      </p:sp>
      <p:sp>
        <p:nvSpPr>
          <p:cNvPr id="9" name="Shape 7"/>
          <p:cNvSpPr/>
          <p:nvPr/>
        </p:nvSpPr>
        <p:spPr>
          <a:xfrm>
            <a:off x="594360" y="2240280"/>
            <a:ext cx="2624328" cy="3063240"/>
          </a:xfrm>
          <a:prstGeom prst="rect">
            <a:avLst/>
          </a:prstGeom>
          <a:solidFill>
            <a:srgbClr val="161D36"/>
          </a:solidFill>
          <a:ln w="7620">
            <a:solidFill>
              <a:srgbClr val="161D36"/>
            </a:solidFill>
            <a:prstDash val="solid"/>
          </a:ln>
        </p:spPr>
      </p:sp>
      <p:sp>
        <p:nvSpPr>
          <p:cNvPr id="10" name="Shape 8"/>
          <p:cNvSpPr/>
          <p:nvPr/>
        </p:nvSpPr>
        <p:spPr>
          <a:xfrm>
            <a:off x="594360" y="2240280"/>
            <a:ext cx="41148" cy="3063240"/>
          </a:xfrm>
          <a:prstGeom prst="rect">
            <a:avLst/>
          </a:prstGeom>
          <a:solidFill>
            <a:srgbClr val="EFBD73"/>
          </a:solidFill>
          <a:ln w="7620">
            <a:solidFill>
              <a:srgbClr val="EFBD73"/>
            </a:solidFill>
            <a:prstDash val="solid"/>
          </a:ln>
        </p:spPr>
      </p:sp>
      <p:sp>
        <p:nvSpPr>
          <p:cNvPr id="11" name="Text 9"/>
          <p:cNvSpPr/>
          <p:nvPr/>
        </p:nvSpPr>
        <p:spPr>
          <a:xfrm>
            <a:off x="777240" y="2423160"/>
            <a:ext cx="2258568"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01 / WATCHTOWER</a:t>
            </a:r>
            <a:endParaRPr lang="en-US" sz="1100" dirty="0"/>
          </a:p>
        </p:txBody>
      </p:sp>
      <p:sp>
        <p:nvSpPr>
          <p:cNvPr id="12" name="Text 10"/>
          <p:cNvSpPr/>
          <p:nvPr/>
        </p:nvSpPr>
        <p:spPr>
          <a:xfrm>
            <a:off x="777240" y="2834640"/>
            <a:ext cx="2258568"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Choose a place</a:t>
            </a:r>
            <a:endParaRPr lang="en-US" sz="2200" dirty="0"/>
          </a:p>
        </p:txBody>
      </p:sp>
      <p:sp>
        <p:nvSpPr>
          <p:cNvPr id="13" name="Text 11"/>
          <p:cNvSpPr/>
          <p:nvPr/>
        </p:nvSpPr>
        <p:spPr>
          <a:xfrm>
            <a:off x="777240" y="3593592"/>
            <a:ext cx="2258568" cy="15544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Search the scroll map.</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Compare nighttime forecasts.</a:t>
            </a:r>
            <a:endParaRPr lang="en-US" sz="1700" dirty="0"/>
          </a:p>
        </p:txBody>
      </p:sp>
      <p:sp>
        <p:nvSpPr>
          <p:cNvPr id="14" name="Text 12"/>
          <p:cNvSpPr/>
          <p:nvPr/>
        </p:nvSpPr>
        <p:spPr>
          <a:xfrm>
            <a:off x="3218688" y="3337560"/>
            <a:ext cx="192024" cy="32004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5" name="Shape 13"/>
          <p:cNvSpPr/>
          <p:nvPr/>
        </p:nvSpPr>
        <p:spPr>
          <a:xfrm>
            <a:off x="3410712" y="2240280"/>
            <a:ext cx="2624328" cy="3063240"/>
          </a:xfrm>
          <a:prstGeom prst="rect">
            <a:avLst/>
          </a:prstGeom>
          <a:solidFill>
            <a:srgbClr val="161D36"/>
          </a:solidFill>
          <a:ln w="7620">
            <a:solidFill>
              <a:srgbClr val="161D36"/>
            </a:solidFill>
            <a:prstDash val="solid"/>
          </a:ln>
        </p:spPr>
      </p:sp>
      <p:sp>
        <p:nvSpPr>
          <p:cNvPr id="16" name="Shape 14"/>
          <p:cNvSpPr/>
          <p:nvPr/>
        </p:nvSpPr>
        <p:spPr>
          <a:xfrm>
            <a:off x="3410712" y="2240280"/>
            <a:ext cx="41148" cy="3063240"/>
          </a:xfrm>
          <a:prstGeom prst="rect">
            <a:avLst/>
          </a:prstGeom>
          <a:solidFill>
            <a:srgbClr val="EFBD73"/>
          </a:solidFill>
          <a:ln w="7620">
            <a:solidFill>
              <a:srgbClr val="EFBD73"/>
            </a:solidFill>
            <a:prstDash val="solid"/>
          </a:ln>
        </p:spPr>
      </p:sp>
      <p:sp>
        <p:nvSpPr>
          <p:cNvPr id="17" name="Text 15"/>
          <p:cNvSpPr/>
          <p:nvPr/>
        </p:nvSpPr>
        <p:spPr>
          <a:xfrm>
            <a:off x="3593592" y="2423160"/>
            <a:ext cx="2258568"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02 / CELESTIAL SCROLL</a:t>
            </a:r>
            <a:endParaRPr lang="en-US" sz="1100" dirty="0"/>
          </a:p>
        </p:txBody>
      </p:sp>
      <p:sp>
        <p:nvSpPr>
          <p:cNvPr id="18" name="Text 16"/>
          <p:cNvSpPr/>
          <p:nvPr/>
        </p:nvSpPr>
        <p:spPr>
          <a:xfrm>
            <a:off x="3593592" y="2834640"/>
            <a:ext cx="2258568"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Choose a moment</a:t>
            </a:r>
            <a:endParaRPr lang="en-US" sz="2200" dirty="0"/>
          </a:p>
        </p:txBody>
      </p:sp>
      <p:sp>
        <p:nvSpPr>
          <p:cNvPr id="19" name="Text 17"/>
          <p:cNvSpPr/>
          <p:nvPr/>
        </p:nvSpPr>
        <p:spPr>
          <a:xfrm>
            <a:off x="3593592" y="3593592"/>
            <a:ext cx="2258568" cy="15544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Filter cosmic events.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Read the lunar calendar.</a:t>
            </a:r>
            <a:endParaRPr lang="en-US" sz="1700" dirty="0"/>
          </a:p>
        </p:txBody>
      </p:sp>
      <p:sp>
        <p:nvSpPr>
          <p:cNvPr id="20" name="Text 18"/>
          <p:cNvSpPr/>
          <p:nvPr/>
        </p:nvSpPr>
        <p:spPr>
          <a:xfrm>
            <a:off x="6035040" y="3337560"/>
            <a:ext cx="192024" cy="32004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21" name="Shape 19"/>
          <p:cNvSpPr/>
          <p:nvPr/>
        </p:nvSpPr>
        <p:spPr>
          <a:xfrm>
            <a:off x="6227064" y="2240280"/>
            <a:ext cx="2624328" cy="3063240"/>
          </a:xfrm>
          <a:prstGeom prst="rect">
            <a:avLst/>
          </a:prstGeom>
          <a:solidFill>
            <a:srgbClr val="161D36"/>
          </a:solidFill>
          <a:ln w="7620">
            <a:solidFill>
              <a:srgbClr val="161D36"/>
            </a:solidFill>
            <a:prstDash val="solid"/>
          </a:ln>
        </p:spPr>
      </p:sp>
      <p:sp>
        <p:nvSpPr>
          <p:cNvPr id="22" name="Shape 20"/>
          <p:cNvSpPr/>
          <p:nvPr/>
        </p:nvSpPr>
        <p:spPr>
          <a:xfrm>
            <a:off x="6227064" y="2240280"/>
            <a:ext cx="41148" cy="3063240"/>
          </a:xfrm>
          <a:prstGeom prst="rect">
            <a:avLst/>
          </a:prstGeom>
          <a:solidFill>
            <a:srgbClr val="EFBD73"/>
          </a:solidFill>
          <a:ln w="7620">
            <a:solidFill>
              <a:srgbClr val="EFBD73"/>
            </a:solidFill>
            <a:prstDash val="solid"/>
          </a:ln>
        </p:spPr>
      </p:sp>
      <p:sp>
        <p:nvSpPr>
          <p:cNvPr id="23" name="Text 21"/>
          <p:cNvSpPr/>
          <p:nvPr/>
        </p:nvSpPr>
        <p:spPr>
          <a:xfrm>
            <a:off x="6409944" y="2423160"/>
            <a:ext cx="2258568"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03 / SPIRIT LENS</a:t>
            </a:r>
            <a:endParaRPr lang="en-US" sz="1100" dirty="0"/>
          </a:p>
        </p:txBody>
      </p:sp>
      <p:sp>
        <p:nvSpPr>
          <p:cNvPr id="24" name="Text 22"/>
          <p:cNvSpPr/>
          <p:nvPr/>
        </p:nvSpPr>
        <p:spPr>
          <a:xfrm>
            <a:off x="6409944" y="2834640"/>
            <a:ext cx="2258568"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Restore carefully</a:t>
            </a:r>
            <a:endParaRPr lang="en-US" sz="2200" dirty="0"/>
          </a:p>
        </p:txBody>
      </p:sp>
      <p:sp>
        <p:nvSpPr>
          <p:cNvPr id="25" name="Text 23"/>
          <p:cNvSpPr/>
          <p:nvPr/>
        </p:nvSpPr>
        <p:spPr>
          <a:xfrm>
            <a:off x="6409944" y="3593592"/>
            <a:ext cx="2258568" cy="15544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Run local AI denoising.</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Inspect object candidates.</a:t>
            </a:r>
            <a:endParaRPr lang="en-US" sz="1700" dirty="0"/>
          </a:p>
        </p:txBody>
      </p:sp>
      <p:sp>
        <p:nvSpPr>
          <p:cNvPr id="26" name="Text 24"/>
          <p:cNvSpPr/>
          <p:nvPr/>
        </p:nvSpPr>
        <p:spPr>
          <a:xfrm>
            <a:off x="8851392" y="3337560"/>
            <a:ext cx="192024" cy="32004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27" name="Shape 25"/>
          <p:cNvSpPr/>
          <p:nvPr/>
        </p:nvSpPr>
        <p:spPr>
          <a:xfrm>
            <a:off x="9043416" y="2240280"/>
            <a:ext cx="2624328" cy="3063240"/>
          </a:xfrm>
          <a:prstGeom prst="rect">
            <a:avLst/>
          </a:prstGeom>
          <a:solidFill>
            <a:srgbClr val="161D36"/>
          </a:solidFill>
          <a:ln w="7620">
            <a:solidFill>
              <a:srgbClr val="161D36"/>
            </a:solidFill>
            <a:prstDash val="solid"/>
          </a:ln>
        </p:spPr>
      </p:sp>
      <p:sp>
        <p:nvSpPr>
          <p:cNvPr id="28" name="Shape 26"/>
          <p:cNvSpPr/>
          <p:nvPr/>
        </p:nvSpPr>
        <p:spPr>
          <a:xfrm>
            <a:off x="9043416" y="2240280"/>
            <a:ext cx="41148" cy="3063240"/>
          </a:xfrm>
          <a:prstGeom prst="rect">
            <a:avLst/>
          </a:prstGeom>
          <a:solidFill>
            <a:srgbClr val="EFBD73"/>
          </a:solidFill>
          <a:ln w="7620">
            <a:solidFill>
              <a:srgbClr val="EFBD73"/>
            </a:solidFill>
            <a:prstDash val="solid"/>
          </a:ln>
        </p:spPr>
      </p:sp>
      <p:sp>
        <p:nvSpPr>
          <p:cNvPr id="29" name="Text 27"/>
          <p:cNvSpPr/>
          <p:nvPr/>
        </p:nvSpPr>
        <p:spPr>
          <a:xfrm>
            <a:off x="9226296" y="2423160"/>
            <a:ext cx="2258568"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04 / DOJO / VIEWER</a:t>
            </a:r>
            <a:endParaRPr lang="en-US" sz="1100" dirty="0"/>
          </a:p>
        </p:txBody>
      </p:sp>
      <p:sp>
        <p:nvSpPr>
          <p:cNvPr id="30" name="Text 28"/>
          <p:cNvSpPr/>
          <p:nvPr/>
        </p:nvSpPr>
        <p:spPr>
          <a:xfrm>
            <a:off x="9226296" y="2834640"/>
            <a:ext cx="2258568"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Inspect and record</a:t>
            </a:r>
            <a:endParaRPr lang="en-US" sz="2200" dirty="0"/>
          </a:p>
        </p:txBody>
      </p:sp>
      <p:sp>
        <p:nvSpPr>
          <p:cNvPr id="31" name="Text 29"/>
          <p:cNvSpPr/>
          <p:nvPr/>
        </p:nvSpPr>
        <p:spPr>
          <a:xfrm>
            <a:off x="9226296" y="3593592"/>
            <a:ext cx="2258568" cy="15544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Compare, zoom and export.</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Log an observation.</a:t>
            </a:r>
            <a:endParaRPr lang="en-US" sz="1700" dirty="0"/>
          </a:p>
        </p:txBody>
      </p:sp>
      <p:sp>
        <p:nvSpPr>
          <p:cNvPr id="32" name="Shape 30"/>
          <p:cNvSpPr/>
          <p:nvPr/>
        </p:nvSpPr>
        <p:spPr>
          <a:xfrm>
            <a:off x="594360" y="5724144"/>
            <a:ext cx="10991088" cy="320040"/>
          </a:xfrm>
          <a:prstGeom prst="rect">
            <a:avLst/>
          </a:prstGeom>
          <a:solidFill>
            <a:srgbClr val="212A46"/>
          </a:solidFill>
          <a:ln w="7620">
            <a:solidFill>
              <a:srgbClr val="212A46"/>
            </a:solidFill>
            <a:prstDash val="solid"/>
          </a:ln>
        </p:spPr>
      </p:sp>
      <p:sp>
        <p:nvSpPr>
          <p:cNvPr id="33" name="Text 31"/>
          <p:cNvSpPr/>
          <p:nvPr/>
        </p:nvSpPr>
        <p:spPr>
          <a:xfrm>
            <a:off x="685800" y="5760720"/>
            <a:ext cx="10808208" cy="228600"/>
          </a:xfrm>
          <a:prstGeom prst="rect">
            <a:avLst/>
          </a:prstGeom>
          <a:noFill/>
          <a:ln/>
        </p:spPr>
        <p:txBody>
          <a:bodyPr wrap="square" lIns="0" tIns="0" rIns="0" bIns="0" rtlCol="0" anchor="ctr"/>
          <a:lstStyle/>
          <a:p>
            <a:pPr indent="0" marL="0">
              <a:buNone/>
            </a:pPr>
            <a:r>
              <a:rPr lang="en-US" sz="1100" dirty="0">
                <a:solidFill>
                  <a:srgbClr val="EFBD73"/>
                </a:solidFill>
                <a:latin typeface="Aptos" pitchFamily="34" charset="0"/>
                <a:ea typeface="Aptos" pitchFamily="34" charset="-122"/>
                <a:cs typeface="Aptos" pitchFamily="34" charset="-120"/>
              </a:rPr>
              <a:t>BONUS: archival SkyView import • CSV signal screening • local Honor Points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04</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INNOVATION • 15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The contribution is the observing workflow</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We combine established science and AI tools with explicit provenance and a distinctive interface.</a:t>
            </a:r>
            <a:endParaRPr lang="en-US" sz="1400" dirty="0"/>
          </a:p>
        </p:txBody>
      </p:sp>
      <p:sp>
        <p:nvSpPr>
          <p:cNvPr id="9" name="Shape 7"/>
          <p:cNvSpPr/>
          <p:nvPr/>
        </p:nvSpPr>
        <p:spPr>
          <a:xfrm>
            <a:off x="594360" y="2194560"/>
            <a:ext cx="3529584" cy="3291840"/>
          </a:xfrm>
          <a:prstGeom prst="rect">
            <a:avLst/>
          </a:prstGeom>
          <a:solidFill>
            <a:srgbClr val="161D36"/>
          </a:solidFill>
          <a:ln w="7620">
            <a:solidFill>
              <a:srgbClr val="161D36"/>
            </a:solidFill>
            <a:prstDash val="solid"/>
          </a:ln>
        </p:spPr>
      </p:sp>
      <p:sp>
        <p:nvSpPr>
          <p:cNvPr id="10" name="Shape 8"/>
          <p:cNvSpPr/>
          <p:nvPr/>
        </p:nvSpPr>
        <p:spPr>
          <a:xfrm>
            <a:off x="594360" y="2194560"/>
            <a:ext cx="41148" cy="3291840"/>
          </a:xfrm>
          <a:prstGeom prst="rect">
            <a:avLst/>
          </a:prstGeom>
          <a:solidFill>
            <a:srgbClr val="EFBD73"/>
          </a:solidFill>
          <a:ln w="7620">
            <a:solidFill>
              <a:srgbClr val="EFBD73"/>
            </a:solidFill>
            <a:prstDash val="solid"/>
          </a:ln>
        </p:spPr>
      </p:sp>
      <p:sp>
        <p:nvSpPr>
          <p:cNvPr id="11" name="Text 9"/>
          <p:cNvSpPr/>
          <p:nvPr/>
        </p:nvSpPr>
        <p:spPr>
          <a:xfrm>
            <a:off x="777240"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CONNECTED PLANNING</a:t>
            </a:r>
            <a:endParaRPr lang="en-US" sz="1100" dirty="0"/>
          </a:p>
        </p:txBody>
      </p:sp>
      <p:sp>
        <p:nvSpPr>
          <p:cNvPr id="12" name="Text 10"/>
          <p:cNvSpPr/>
          <p:nvPr/>
        </p:nvSpPr>
        <p:spPr>
          <a:xfrm>
            <a:off x="777240"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Place → time → image</a:t>
            </a:r>
            <a:endParaRPr lang="en-US" sz="2200" dirty="0"/>
          </a:p>
        </p:txBody>
      </p:sp>
      <p:sp>
        <p:nvSpPr>
          <p:cNvPr id="13" name="Text 11"/>
          <p:cNvSpPr/>
          <p:nvPr/>
        </p:nvSpPr>
        <p:spPr>
          <a:xfrm>
            <a:off x="777240" y="3547872"/>
            <a:ext cx="3163824" cy="17830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Weather ranking, lunar navigation, event details, alerts and inspection are available in one application.</a:t>
            </a:r>
            <a:endParaRPr lang="en-US" sz="1700" dirty="0"/>
          </a:p>
        </p:txBody>
      </p:sp>
      <p:sp>
        <p:nvSpPr>
          <p:cNvPr id="14" name="Shape 12"/>
          <p:cNvSpPr/>
          <p:nvPr/>
        </p:nvSpPr>
        <p:spPr>
          <a:xfrm>
            <a:off x="4325112" y="2194560"/>
            <a:ext cx="3529584" cy="3291840"/>
          </a:xfrm>
          <a:prstGeom prst="rect">
            <a:avLst/>
          </a:prstGeom>
          <a:solidFill>
            <a:srgbClr val="161D36"/>
          </a:solidFill>
          <a:ln w="7620">
            <a:solidFill>
              <a:srgbClr val="161D36"/>
            </a:solidFill>
            <a:prstDash val="solid"/>
          </a:ln>
        </p:spPr>
      </p:sp>
      <p:sp>
        <p:nvSpPr>
          <p:cNvPr id="15" name="Shape 13"/>
          <p:cNvSpPr/>
          <p:nvPr/>
        </p:nvSpPr>
        <p:spPr>
          <a:xfrm>
            <a:off x="4325112" y="2194560"/>
            <a:ext cx="41148" cy="3291840"/>
          </a:xfrm>
          <a:prstGeom prst="rect">
            <a:avLst/>
          </a:prstGeom>
          <a:solidFill>
            <a:srgbClr val="EFBD73"/>
          </a:solidFill>
          <a:ln w="7620">
            <a:solidFill>
              <a:srgbClr val="EFBD73"/>
            </a:solidFill>
            <a:prstDash val="solid"/>
          </a:ln>
        </p:spPr>
      </p:sp>
      <p:sp>
        <p:nvSpPr>
          <p:cNvPr id="16" name="Text 14"/>
          <p:cNvSpPr/>
          <p:nvPr/>
        </p:nvSpPr>
        <p:spPr>
          <a:xfrm>
            <a:off x="4507992"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INSPECTABLE AI</a:t>
            </a:r>
            <a:endParaRPr lang="en-US" sz="1100" dirty="0"/>
          </a:p>
        </p:txBody>
      </p:sp>
      <p:sp>
        <p:nvSpPr>
          <p:cNvPr id="17" name="Text 15"/>
          <p:cNvSpPr/>
          <p:nvPr/>
        </p:nvSpPr>
        <p:spPr>
          <a:xfrm>
            <a:off x="4507992"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Local and bounded</a:t>
            </a:r>
            <a:endParaRPr lang="en-US" sz="2200" dirty="0"/>
          </a:p>
        </p:txBody>
      </p:sp>
      <p:sp>
        <p:nvSpPr>
          <p:cNvPr id="18" name="Text 16"/>
          <p:cNvSpPr/>
          <p:nvPr/>
        </p:nvSpPr>
        <p:spPr>
          <a:xfrm>
            <a:off x="4507992" y="3547872"/>
            <a:ext cx="3163824" cy="17830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A browser worker runs DnCNN. Conservative edits, object overlays and downloadable measurements support review.</a:t>
            </a:r>
            <a:endParaRPr lang="en-US" sz="1700" dirty="0"/>
          </a:p>
        </p:txBody>
      </p:sp>
      <p:sp>
        <p:nvSpPr>
          <p:cNvPr id="19" name="Shape 17"/>
          <p:cNvSpPr/>
          <p:nvPr/>
        </p:nvSpPr>
        <p:spPr>
          <a:xfrm>
            <a:off x="8055864" y="2194560"/>
            <a:ext cx="3529584" cy="3291840"/>
          </a:xfrm>
          <a:prstGeom prst="rect">
            <a:avLst/>
          </a:prstGeom>
          <a:solidFill>
            <a:srgbClr val="161D36"/>
          </a:solidFill>
          <a:ln w="7620">
            <a:solidFill>
              <a:srgbClr val="161D36"/>
            </a:solidFill>
            <a:prstDash val="solid"/>
          </a:ln>
        </p:spPr>
      </p:sp>
      <p:sp>
        <p:nvSpPr>
          <p:cNvPr id="20" name="Shape 18"/>
          <p:cNvSpPr/>
          <p:nvPr/>
        </p:nvSpPr>
        <p:spPr>
          <a:xfrm>
            <a:off x="8055864" y="2194560"/>
            <a:ext cx="41148" cy="3291840"/>
          </a:xfrm>
          <a:prstGeom prst="rect">
            <a:avLst/>
          </a:prstGeom>
          <a:solidFill>
            <a:srgbClr val="EFBD73"/>
          </a:solidFill>
          <a:ln w="7620">
            <a:solidFill>
              <a:srgbClr val="EFBD73"/>
            </a:solidFill>
            <a:prstDash val="solid"/>
          </a:ln>
        </p:spPr>
      </p:sp>
      <p:sp>
        <p:nvSpPr>
          <p:cNvPr id="21" name="Text 19"/>
          <p:cNvSpPr/>
          <p:nvPr/>
        </p:nvSpPr>
        <p:spPr>
          <a:xfrm>
            <a:off x="8238744"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CULTURAL INTERACTION</a:t>
            </a:r>
            <a:endParaRPr lang="en-US" sz="1100" dirty="0"/>
          </a:p>
        </p:txBody>
      </p:sp>
      <p:sp>
        <p:nvSpPr>
          <p:cNvPr id="22" name="Text 20"/>
          <p:cNvSpPr/>
          <p:nvPr/>
        </p:nvSpPr>
        <p:spPr>
          <a:xfrm>
            <a:off x="8238744"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A celestial scroll</a:t>
            </a:r>
            <a:endParaRPr lang="en-US" sz="2200" dirty="0"/>
          </a:p>
        </p:txBody>
      </p:sp>
      <p:sp>
        <p:nvSpPr>
          <p:cNvPr id="23" name="Text 21"/>
          <p:cNvSpPr/>
          <p:nvPr/>
        </p:nvSpPr>
        <p:spPr>
          <a:xfrm>
            <a:off x="8238744" y="3547872"/>
            <a:ext cx="3163824" cy="178308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Ink Wash, Torii, Sakura and Katana palettes; light/dark mode; moon cues; English meanings for Japanese labels.</a:t>
            </a:r>
            <a:endParaRPr lang="en-US" sz="1700" dirty="0"/>
          </a:p>
        </p:txBody>
      </p:sp>
      <p:sp>
        <p:nvSpPr>
          <p:cNvPr id="24" name="Text 22"/>
          <p:cNvSpPr/>
          <p:nvPr/>
        </p:nvSpPr>
        <p:spPr>
          <a:xfrm>
            <a:off x="621792" y="5779008"/>
            <a:ext cx="10972800" cy="365760"/>
          </a:xfrm>
          <a:prstGeom prst="rect">
            <a:avLst/>
          </a:prstGeom>
          <a:noFill/>
          <a:ln/>
        </p:spPr>
        <p:txBody>
          <a:bodyPr wrap="square" lIns="0" tIns="0" rIns="0" bIns="0" rtlCol="0" anchor="ctr"/>
          <a:lstStyle/>
          <a:p>
            <a:pPr indent="0" marL="0">
              <a:buNone/>
            </a:pPr>
            <a:r>
              <a:rPr lang="en-US" sz="1500" dirty="0">
                <a:solidFill>
                  <a:srgbClr val="EFBD73"/>
                </a:solidFill>
                <a:latin typeface="Aptos" pitchFamily="34" charset="0"/>
                <a:ea typeface="Aptos" pitchFamily="34" charset="-122"/>
                <a:cs typeface="Aptos" pitchFamily="34" charset="-120"/>
              </a:rPr>
              <a:t>Originality claim: integration and experience. DnCNN, SGP4 and astronomical algorithms are established methods.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05</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SYSTEM DESIGN • 20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Typed boundaries, separated responsibilities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Image pixels stay in the browser; planning data and alert jobs use the backend.</a:t>
            </a:r>
            <a:endParaRPr lang="en-US" sz="1400" dirty="0"/>
          </a:p>
        </p:txBody>
      </p:sp>
      <p:sp>
        <p:nvSpPr>
          <p:cNvPr id="9" name="Shape 7"/>
          <p:cNvSpPr/>
          <p:nvPr/>
        </p:nvSpPr>
        <p:spPr>
          <a:xfrm>
            <a:off x="594360" y="2194560"/>
            <a:ext cx="3200400" cy="1234440"/>
          </a:xfrm>
          <a:prstGeom prst="rect">
            <a:avLst/>
          </a:prstGeom>
          <a:solidFill>
            <a:srgbClr val="161D36"/>
          </a:solidFill>
          <a:ln w="7620">
            <a:solidFill>
              <a:srgbClr val="161D36"/>
            </a:solidFill>
            <a:prstDash val="solid"/>
          </a:ln>
        </p:spPr>
      </p:sp>
      <p:sp>
        <p:nvSpPr>
          <p:cNvPr id="10" name="Text 8"/>
          <p:cNvSpPr/>
          <p:nvPr/>
        </p:nvSpPr>
        <p:spPr>
          <a:xfrm>
            <a:off x="758952" y="2331720"/>
            <a:ext cx="2871216" cy="329184"/>
          </a:xfrm>
          <a:prstGeom prst="rect">
            <a:avLst/>
          </a:prstGeom>
          <a:noFill/>
          <a:ln/>
        </p:spPr>
        <p:txBody>
          <a:bodyPr wrap="square" lIns="0" tIns="0" rIns="0" bIns="0" rtlCol="0" anchor="ctr"/>
          <a:lstStyle/>
          <a:p>
            <a:pPr indent="0" marL="0">
              <a:buNone/>
            </a:pPr>
            <a:r>
              <a:rPr lang="en-US" sz="1800" b="1" dirty="0">
                <a:solidFill>
                  <a:srgbClr val="EFBD73"/>
                </a:solidFill>
                <a:latin typeface="Aptos" pitchFamily="34" charset="0"/>
                <a:ea typeface="Aptos" pitchFamily="34" charset="-122"/>
                <a:cs typeface="Aptos" pitchFamily="34" charset="-120"/>
              </a:rPr>
              <a:t>Next.js / React UI</a:t>
            </a:r>
            <a:endParaRPr lang="en-US" sz="1800" dirty="0"/>
          </a:p>
        </p:txBody>
      </p:sp>
      <p:sp>
        <p:nvSpPr>
          <p:cNvPr id="11" name="Text 9"/>
          <p:cNvSpPr/>
          <p:nvPr/>
        </p:nvSpPr>
        <p:spPr>
          <a:xfrm>
            <a:off x="758952" y="2788920"/>
            <a:ext cx="2871216" cy="57607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Map • calendar • event pages</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React Query + typed tRPC client</a:t>
            </a:r>
            <a:endParaRPr lang="en-US" sz="1400" dirty="0"/>
          </a:p>
        </p:txBody>
      </p:sp>
      <p:sp>
        <p:nvSpPr>
          <p:cNvPr id="12" name="Shape 10"/>
          <p:cNvSpPr/>
          <p:nvPr/>
        </p:nvSpPr>
        <p:spPr>
          <a:xfrm>
            <a:off x="4315968" y="2194560"/>
            <a:ext cx="3310128" cy="1234440"/>
          </a:xfrm>
          <a:prstGeom prst="rect">
            <a:avLst/>
          </a:prstGeom>
          <a:solidFill>
            <a:srgbClr val="161D36"/>
          </a:solidFill>
          <a:ln w="7620">
            <a:solidFill>
              <a:srgbClr val="161D36"/>
            </a:solidFill>
            <a:prstDash val="solid"/>
          </a:ln>
        </p:spPr>
      </p:sp>
      <p:sp>
        <p:nvSpPr>
          <p:cNvPr id="13" name="Text 11"/>
          <p:cNvSpPr/>
          <p:nvPr/>
        </p:nvSpPr>
        <p:spPr>
          <a:xfrm>
            <a:off x="4480560" y="2331720"/>
            <a:ext cx="2980944" cy="329184"/>
          </a:xfrm>
          <a:prstGeom prst="rect">
            <a:avLst/>
          </a:prstGeom>
          <a:noFill/>
          <a:ln/>
        </p:spPr>
        <p:txBody>
          <a:bodyPr wrap="square" lIns="0" tIns="0" rIns="0" bIns="0" rtlCol="0" anchor="ctr"/>
          <a:lstStyle/>
          <a:p>
            <a:pPr indent="0" marL="0">
              <a:buNone/>
            </a:pPr>
            <a:r>
              <a:rPr lang="en-US" sz="1800" b="1" dirty="0">
                <a:solidFill>
                  <a:srgbClr val="EFBD73"/>
                </a:solidFill>
                <a:latin typeface="Aptos" pitchFamily="34" charset="0"/>
                <a:ea typeface="Aptos" pitchFamily="34" charset="-122"/>
                <a:cs typeface="Aptos" pitchFamily="34" charset="-120"/>
              </a:rPr>
              <a:t>Express + tRPC API</a:t>
            </a:r>
            <a:endParaRPr lang="en-US" sz="1800" dirty="0"/>
          </a:p>
        </p:txBody>
      </p:sp>
      <p:sp>
        <p:nvSpPr>
          <p:cNvPr id="14" name="Text 12"/>
          <p:cNvSpPr/>
          <p:nvPr/>
        </p:nvSpPr>
        <p:spPr>
          <a:xfrm>
            <a:off x="4480560" y="2788920"/>
            <a:ext cx="2980944" cy="57607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Zod validation • domain services</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Provider adapters + bounded caches</a:t>
            </a:r>
            <a:endParaRPr lang="en-US" sz="1400" dirty="0"/>
          </a:p>
        </p:txBody>
      </p:sp>
      <p:sp>
        <p:nvSpPr>
          <p:cNvPr id="15" name="Shape 13"/>
          <p:cNvSpPr/>
          <p:nvPr/>
        </p:nvSpPr>
        <p:spPr>
          <a:xfrm>
            <a:off x="8156448" y="2194560"/>
            <a:ext cx="3429000" cy="1234440"/>
          </a:xfrm>
          <a:prstGeom prst="rect">
            <a:avLst/>
          </a:prstGeom>
          <a:solidFill>
            <a:srgbClr val="161D36"/>
          </a:solidFill>
          <a:ln w="7620">
            <a:solidFill>
              <a:srgbClr val="161D36"/>
            </a:solidFill>
            <a:prstDash val="solid"/>
          </a:ln>
        </p:spPr>
      </p:sp>
      <p:sp>
        <p:nvSpPr>
          <p:cNvPr id="16" name="Text 14"/>
          <p:cNvSpPr/>
          <p:nvPr/>
        </p:nvSpPr>
        <p:spPr>
          <a:xfrm>
            <a:off x="8321040" y="2331720"/>
            <a:ext cx="3099816" cy="329184"/>
          </a:xfrm>
          <a:prstGeom prst="rect">
            <a:avLst/>
          </a:prstGeom>
          <a:noFill/>
          <a:ln/>
        </p:spPr>
        <p:txBody>
          <a:bodyPr wrap="square" lIns="0" tIns="0" rIns="0" bIns="0" rtlCol="0" anchor="ctr"/>
          <a:lstStyle/>
          <a:p>
            <a:pPr indent="0" marL="0">
              <a:buNone/>
            </a:pPr>
            <a:r>
              <a:rPr lang="en-US" sz="1800" b="1" dirty="0">
                <a:solidFill>
                  <a:srgbClr val="EFBD73"/>
                </a:solidFill>
                <a:latin typeface="Aptos" pitchFamily="34" charset="0"/>
                <a:ea typeface="Aptos" pitchFamily="34" charset="-122"/>
                <a:cs typeface="Aptos" pitchFamily="34" charset="-120"/>
              </a:rPr>
              <a:t>Drizzle → Neon PostgreSQL</a:t>
            </a:r>
            <a:endParaRPr lang="en-US" sz="1800" dirty="0"/>
          </a:p>
        </p:txBody>
      </p:sp>
      <p:sp>
        <p:nvSpPr>
          <p:cNvPr id="17" name="Text 15"/>
          <p:cNvSpPr/>
          <p:nvPr/>
        </p:nvSpPr>
        <p:spPr>
          <a:xfrm>
            <a:off x="8321040" y="2788920"/>
            <a:ext cx="3099816" cy="57607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Places • weather • event feeds</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Device subscriptions + alert jobs</a:t>
            </a:r>
            <a:endParaRPr lang="en-US" sz="1400" dirty="0"/>
          </a:p>
        </p:txBody>
      </p:sp>
      <p:sp>
        <p:nvSpPr>
          <p:cNvPr id="18" name="Shape 16"/>
          <p:cNvSpPr/>
          <p:nvPr/>
        </p:nvSpPr>
        <p:spPr>
          <a:xfrm>
            <a:off x="3794760" y="2788920"/>
            <a:ext cx="457200" cy="0"/>
          </a:xfrm>
          <a:prstGeom prst="line">
            <a:avLst/>
          </a:prstGeom>
          <a:noFill/>
          <a:ln w="17780">
            <a:solidFill>
              <a:srgbClr val="EFBD73"/>
            </a:solidFill>
            <a:prstDash val="solid"/>
            <a:tailEnd type="triangle"/>
          </a:ln>
        </p:spPr>
      </p:sp>
      <p:sp>
        <p:nvSpPr>
          <p:cNvPr id="19" name="Shape 17"/>
          <p:cNvSpPr/>
          <p:nvPr/>
        </p:nvSpPr>
        <p:spPr>
          <a:xfrm>
            <a:off x="7626096" y="2788920"/>
            <a:ext cx="457200" cy="0"/>
          </a:xfrm>
          <a:prstGeom prst="line">
            <a:avLst/>
          </a:prstGeom>
          <a:noFill/>
          <a:ln w="17780">
            <a:solidFill>
              <a:srgbClr val="EFBD73"/>
            </a:solidFill>
            <a:prstDash val="solid"/>
            <a:tailEnd type="triangle"/>
          </a:ln>
        </p:spPr>
      </p:sp>
      <p:sp>
        <p:nvSpPr>
          <p:cNvPr id="20" name="Shape 18"/>
          <p:cNvSpPr/>
          <p:nvPr/>
        </p:nvSpPr>
        <p:spPr>
          <a:xfrm>
            <a:off x="594360" y="4005072"/>
            <a:ext cx="3200400" cy="1508760"/>
          </a:xfrm>
          <a:prstGeom prst="rect">
            <a:avLst/>
          </a:prstGeom>
          <a:solidFill>
            <a:srgbClr val="161D36"/>
          </a:solidFill>
          <a:ln w="7620">
            <a:solidFill>
              <a:srgbClr val="161D36"/>
            </a:solidFill>
            <a:prstDash val="solid"/>
          </a:ln>
        </p:spPr>
      </p:sp>
      <p:sp>
        <p:nvSpPr>
          <p:cNvPr id="21" name="Text 19"/>
          <p:cNvSpPr/>
          <p:nvPr/>
        </p:nvSpPr>
        <p:spPr>
          <a:xfrm>
            <a:off x="758952" y="4142232"/>
            <a:ext cx="2871216" cy="329184"/>
          </a:xfrm>
          <a:prstGeom prst="rect">
            <a:avLst/>
          </a:prstGeom>
          <a:noFill/>
          <a:ln/>
        </p:spPr>
        <p:txBody>
          <a:bodyPr wrap="square" lIns="0" tIns="0" rIns="0" bIns="0" rtlCol="0" anchor="ctr"/>
          <a:lstStyle/>
          <a:p>
            <a:pPr indent="0" marL="0">
              <a:buNone/>
            </a:pPr>
            <a:r>
              <a:rPr lang="en-US" sz="1800" b="1" dirty="0">
                <a:solidFill>
                  <a:srgbClr val="81CAB0"/>
                </a:solidFill>
                <a:latin typeface="Aptos" pitchFamily="34" charset="0"/>
                <a:ea typeface="Aptos" pitchFamily="34" charset="-122"/>
                <a:cs typeface="Aptos" pitchFamily="34" charset="-120"/>
              </a:rPr>
              <a:t>Browser worker / ONNX WASM</a:t>
            </a:r>
            <a:endParaRPr lang="en-US" sz="1800" dirty="0"/>
          </a:p>
        </p:txBody>
      </p:sp>
      <p:sp>
        <p:nvSpPr>
          <p:cNvPr id="22" name="Text 20"/>
          <p:cNvSpPr/>
          <p:nvPr/>
        </p:nvSpPr>
        <p:spPr>
          <a:xfrm>
            <a:off x="758952" y="4599432"/>
            <a:ext cx="2871216" cy="85039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Validate image → DnCNN → bounded blend</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Optional deblur → metrics → overlays</a:t>
            </a:r>
            <a:endParaRPr lang="en-US" sz="1400" dirty="0"/>
          </a:p>
        </p:txBody>
      </p:sp>
      <p:sp>
        <p:nvSpPr>
          <p:cNvPr id="23" name="Shape 21"/>
          <p:cNvSpPr/>
          <p:nvPr/>
        </p:nvSpPr>
        <p:spPr>
          <a:xfrm>
            <a:off x="4315968" y="4005072"/>
            <a:ext cx="3310128" cy="1508760"/>
          </a:xfrm>
          <a:prstGeom prst="rect">
            <a:avLst/>
          </a:prstGeom>
          <a:solidFill>
            <a:srgbClr val="161D36"/>
          </a:solidFill>
          <a:ln w="7620">
            <a:solidFill>
              <a:srgbClr val="161D36"/>
            </a:solidFill>
            <a:prstDash val="solid"/>
          </a:ln>
        </p:spPr>
      </p:sp>
      <p:sp>
        <p:nvSpPr>
          <p:cNvPr id="24" name="Text 22"/>
          <p:cNvSpPr/>
          <p:nvPr/>
        </p:nvSpPr>
        <p:spPr>
          <a:xfrm>
            <a:off x="4480560" y="4142232"/>
            <a:ext cx="2980944" cy="329184"/>
          </a:xfrm>
          <a:prstGeom prst="rect">
            <a:avLst/>
          </a:prstGeom>
          <a:noFill/>
          <a:ln/>
        </p:spPr>
        <p:txBody>
          <a:bodyPr wrap="square" lIns="0" tIns="0" rIns="0" bIns="0" rtlCol="0" anchor="ctr"/>
          <a:lstStyle/>
          <a:p>
            <a:pPr indent="0" marL="0">
              <a:buNone/>
            </a:pPr>
            <a:r>
              <a:rPr lang="en-US" sz="1800" b="1" dirty="0">
                <a:solidFill>
                  <a:srgbClr val="81CAB0"/>
                </a:solidFill>
                <a:latin typeface="Aptos" pitchFamily="34" charset="0"/>
                <a:ea typeface="Aptos" pitchFamily="34" charset="-122"/>
                <a:cs typeface="Aptos" pitchFamily="34" charset="-120"/>
              </a:rPr>
              <a:t>External provider adapters</a:t>
            </a:r>
            <a:endParaRPr lang="en-US" sz="1800" dirty="0"/>
          </a:p>
        </p:txBody>
      </p:sp>
      <p:sp>
        <p:nvSpPr>
          <p:cNvPr id="25" name="Text 23"/>
          <p:cNvSpPr/>
          <p:nvPr/>
        </p:nvSpPr>
        <p:spPr>
          <a:xfrm>
            <a:off x="4480560" y="4599432"/>
            <a:ext cx="2980944" cy="85039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Open-Meteo • USNO • Launch Library</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CelesTrak • NASA SkyView¹</a:t>
            </a:r>
            <a:endParaRPr lang="en-US" sz="1400" dirty="0"/>
          </a:p>
        </p:txBody>
      </p:sp>
      <p:sp>
        <p:nvSpPr>
          <p:cNvPr id="26" name="Shape 24"/>
          <p:cNvSpPr/>
          <p:nvPr/>
        </p:nvSpPr>
        <p:spPr>
          <a:xfrm>
            <a:off x="8156448" y="4005072"/>
            <a:ext cx="3429000" cy="1508760"/>
          </a:xfrm>
          <a:prstGeom prst="rect">
            <a:avLst/>
          </a:prstGeom>
          <a:solidFill>
            <a:srgbClr val="161D36"/>
          </a:solidFill>
          <a:ln w="7620">
            <a:solidFill>
              <a:srgbClr val="161D36"/>
            </a:solidFill>
            <a:prstDash val="solid"/>
          </a:ln>
        </p:spPr>
      </p:sp>
      <p:sp>
        <p:nvSpPr>
          <p:cNvPr id="27" name="Text 25"/>
          <p:cNvSpPr/>
          <p:nvPr/>
        </p:nvSpPr>
        <p:spPr>
          <a:xfrm>
            <a:off x="8321040" y="4142232"/>
            <a:ext cx="3099816" cy="329184"/>
          </a:xfrm>
          <a:prstGeom prst="rect">
            <a:avLst/>
          </a:prstGeom>
          <a:noFill/>
          <a:ln/>
        </p:spPr>
        <p:txBody>
          <a:bodyPr wrap="square" lIns="0" tIns="0" rIns="0" bIns="0" rtlCol="0" anchor="ctr"/>
          <a:lstStyle/>
          <a:p>
            <a:pPr indent="0" marL="0">
              <a:buNone/>
            </a:pPr>
            <a:r>
              <a:rPr lang="en-US" sz="1800" b="1" dirty="0">
                <a:solidFill>
                  <a:srgbClr val="81CAB0"/>
                </a:solidFill>
                <a:latin typeface="Aptos" pitchFamily="34" charset="0"/>
                <a:ea typeface="Aptos" pitchFamily="34" charset="-122"/>
                <a:cs typeface="Aptos" pitchFamily="34" charset="-120"/>
              </a:rPr>
              <a:t>Push delivery pipeline</a:t>
            </a:r>
            <a:endParaRPr lang="en-US" sz="1800" dirty="0"/>
          </a:p>
        </p:txBody>
      </p:sp>
      <p:sp>
        <p:nvSpPr>
          <p:cNvPr id="28" name="Text 26"/>
          <p:cNvSpPr/>
          <p:nvPr/>
        </p:nvSpPr>
        <p:spPr>
          <a:xfrm>
            <a:off x="8321040" y="4599432"/>
            <a:ext cx="3099816" cy="850392"/>
          </a:xfrm>
          <a:prstGeom prst="rect">
            <a:avLst/>
          </a:prstGeom>
          <a:noFill/>
          <a:ln/>
        </p:spPr>
        <p:txBody>
          <a:bodyPr wrap="square" lIns="0" tIns="0" rIns="0" bIns="0" rtlCol="0" anchor="t"/>
          <a:lstStyle/>
          <a:p>
            <a:pPr indent="0" marL="0">
              <a:buNone/>
            </a:pPr>
            <a:r>
              <a:rPr lang="en-US" sz="1400" dirty="0">
                <a:solidFill>
                  <a:srgbClr val="B5BED5"/>
                </a:solidFill>
                <a:latin typeface="Aptos" pitchFamily="34" charset="0"/>
                <a:ea typeface="Aptos" pitchFamily="34" charset="-122"/>
                <a:cs typeface="Aptos" pitchFamily="34" charset="-120"/>
              </a:rPr>
              <a:t>Minute scheduler → claimed DB jobs</a:t>
            </a:r>
            <a:endParaRPr lang="en-US" sz="1400" dirty="0"/>
          </a:p>
          <a:p>
            <a:pPr indent="0" marL="0">
              <a:buNone/>
            </a:pPr>
            <a:r>
              <a:rPr lang="en-US" sz="1400" dirty="0">
                <a:solidFill>
                  <a:srgbClr val="B5BED5"/>
                </a:solidFill>
                <a:latin typeface="Aptos" pitchFamily="34" charset="0"/>
                <a:ea typeface="Aptos" pitchFamily="34" charset="-122"/>
                <a:cs typeface="Aptos" pitchFamily="34" charset="-120"/>
              </a:rPr>
              <a:t>Web Push → browser service worker</a:t>
            </a:r>
            <a:endParaRPr lang="en-US" sz="1400" dirty="0"/>
          </a:p>
        </p:txBody>
      </p:sp>
      <p:sp>
        <p:nvSpPr>
          <p:cNvPr id="29" name="Shape 27"/>
          <p:cNvSpPr/>
          <p:nvPr/>
        </p:nvSpPr>
        <p:spPr>
          <a:xfrm>
            <a:off x="2194560" y="3429000"/>
            <a:ext cx="0" cy="502920"/>
          </a:xfrm>
          <a:prstGeom prst="line">
            <a:avLst/>
          </a:prstGeom>
          <a:noFill/>
          <a:ln w="15240">
            <a:solidFill>
              <a:srgbClr val="81CAB0"/>
            </a:solidFill>
            <a:prstDash val="solid"/>
            <a:tailEnd type="triangle"/>
          </a:ln>
        </p:spPr>
      </p:sp>
      <p:sp>
        <p:nvSpPr>
          <p:cNvPr id="30" name="Shape 28"/>
          <p:cNvSpPr/>
          <p:nvPr/>
        </p:nvSpPr>
        <p:spPr>
          <a:xfrm>
            <a:off x="5971032" y="3429000"/>
            <a:ext cx="0" cy="502920"/>
          </a:xfrm>
          <a:prstGeom prst="line">
            <a:avLst/>
          </a:prstGeom>
          <a:noFill/>
          <a:ln w="15240">
            <a:solidFill>
              <a:srgbClr val="81CAB0"/>
            </a:solidFill>
            <a:prstDash val="solid"/>
            <a:tailEnd type="triangle"/>
          </a:ln>
        </p:spPr>
      </p:sp>
      <p:sp>
        <p:nvSpPr>
          <p:cNvPr id="31" name="Shape 29"/>
          <p:cNvSpPr/>
          <p:nvPr/>
        </p:nvSpPr>
        <p:spPr>
          <a:xfrm>
            <a:off x="9875520" y="3429000"/>
            <a:ext cx="0" cy="502920"/>
          </a:xfrm>
          <a:prstGeom prst="line">
            <a:avLst/>
          </a:prstGeom>
          <a:noFill/>
          <a:ln w="15240">
            <a:solidFill>
              <a:srgbClr val="81CAB0"/>
            </a:solidFill>
            <a:prstDash val="solid"/>
            <a:tailEnd type="triangle"/>
          </a:ln>
        </p:spPr>
      </p:sp>
      <p:sp>
        <p:nvSpPr>
          <p:cNvPr id="32" name="Text 30"/>
          <p:cNvSpPr/>
          <p:nvPr/>
        </p:nvSpPr>
        <p:spPr>
          <a:xfrm>
            <a:off x="621792" y="5897880"/>
            <a:ext cx="10972800" cy="256032"/>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¹ SkyView uses a fixed-host Next.js server route. Vercel frontend • Render API • Neon database.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06</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WATCHTOWER • LIVE APPLICATION SCREENSHOT</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A scroll map backed by nighttime forecasts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Search a place or map area, select a marker and compare the next available nighttime conditions.</a:t>
            </a:r>
            <a:endParaRPr lang="en-US" sz="1400" dirty="0"/>
          </a:p>
        </p:txBody>
      </p:sp>
      <p:pic>
        <p:nvPicPr>
          <p:cNvPr id="9" name="Image 0" descr="C:\Users\Aalam\Desktop\trpc-monorepo\pecathon\docs\presentation\assets\watchtower.png">    </p:cNvPr>
          <p:cNvPicPr>
            <a:picLocks noChangeAspect="1"/>
          </p:cNvPicPr>
          <p:nvPr/>
        </p:nvPicPr>
        <p:blipFill>
          <a:blip r:embed="rId1"/>
          <a:stretch>
            <a:fillRect/>
          </a:stretch>
        </p:blipFill>
        <p:spPr>
          <a:xfrm>
            <a:off x="594360" y="2144105"/>
            <a:ext cx="6492240" cy="3813374"/>
          </a:xfrm>
          <a:prstGeom prst="rect">
            <a:avLst/>
          </a:prstGeom>
        </p:spPr>
      </p:pic>
      <p:sp>
        <p:nvSpPr>
          <p:cNvPr id="10" name="Text 7"/>
          <p:cNvSpPr/>
          <p:nvPr/>
        </p:nvSpPr>
        <p:spPr>
          <a:xfrm>
            <a:off x="7370064" y="2313432"/>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1" name="Text 8"/>
          <p:cNvSpPr/>
          <p:nvPr/>
        </p:nvSpPr>
        <p:spPr>
          <a:xfrm>
            <a:off x="7626096" y="2313432"/>
            <a:ext cx="390448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Open-Meteo cloud cover, humidity and visibility.</a:t>
            </a:r>
            <a:endParaRPr lang="en-US" sz="1800" dirty="0"/>
          </a:p>
        </p:txBody>
      </p:sp>
      <p:sp>
        <p:nvSpPr>
          <p:cNvPr id="12" name="Text 9"/>
          <p:cNvSpPr/>
          <p:nvPr/>
        </p:nvSpPr>
        <p:spPr>
          <a:xfrm>
            <a:off x="7370064" y="3145536"/>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3" name="Text 10"/>
          <p:cNvSpPr/>
          <p:nvPr/>
        </p:nvSpPr>
        <p:spPr>
          <a:xfrm>
            <a:off x="7626096" y="3145536"/>
            <a:ext cx="390448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Night Honor Score: transparent weather-only ranking.</a:t>
            </a:r>
            <a:endParaRPr lang="en-US" sz="1800" dirty="0"/>
          </a:p>
        </p:txBody>
      </p:sp>
      <p:sp>
        <p:nvSpPr>
          <p:cNvPr id="14" name="Text 11"/>
          <p:cNvSpPr/>
          <p:nvPr/>
        </p:nvSpPr>
        <p:spPr>
          <a:xfrm>
            <a:off x="7370064" y="3977640"/>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5" name="Text 12"/>
          <p:cNvSpPr/>
          <p:nvPr/>
        </p:nvSpPr>
        <p:spPr>
          <a:xfrm>
            <a:off x="7626096" y="3977640"/>
            <a:ext cx="390448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Shrine, mountain, temple and observatory markers.</a:t>
            </a:r>
            <a:endParaRPr lang="en-US" sz="1800" dirty="0"/>
          </a:p>
        </p:txBody>
      </p:sp>
      <p:sp>
        <p:nvSpPr>
          <p:cNvPr id="16" name="Text 13"/>
          <p:cNvSpPr/>
          <p:nvPr/>
        </p:nvSpPr>
        <p:spPr>
          <a:xfrm>
            <a:off x="7370064" y="4809744"/>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7" name="Text 14"/>
          <p:cNvSpPr/>
          <p:nvPr/>
        </p:nvSpPr>
        <p:spPr>
          <a:xfrm>
            <a:off x="7626096" y="4809744"/>
            <a:ext cx="390448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Six curated Indian destinations today.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07</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CELESTIAL SCROLL • LIVE APPLICATION SCREENSHOT</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Time-aware events, with uncertainty visible</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A Japanese Kyūreki month view includes lunar leap months and Gregorian dates.</a:t>
            </a:r>
            <a:endParaRPr lang="en-US" sz="1400" dirty="0"/>
          </a:p>
        </p:txBody>
      </p:sp>
      <p:pic>
        <p:nvPicPr>
          <p:cNvPr id="9" name="Image 0" descr="C:\Users\Aalam\Desktop\trpc-monorepo\pecathon\docs\presentation\assets\calendar.png">    </p:cNvPr>
          <p:cNvPicPr>
            <a:picLocks noChangeAspect="1"/>
          </p:cNvPicPr>
          <p:nvPr/>
        </p:nvPicPr>
        <p:blipFill>
          <a:blip r:embed="rId1"/>
          <a:stretch>
            <a:fillRect/>
          </a:stretch>
        </p:blipFill>
        <p:spPr>
          <a:xfrm>
            <a:off x="2656765" y="2084832"/>
            <a:ext cx="2184550" cy="3886200"/>
          </a:xfrm>
          <a:prstGeom prst="rect">
            <a:avLst/>
          </a:prstGeom>
        </p:spPr>
      </p:pic>
      <p:sp>
        <p:nvSpPr>
          <p:cNvPr id="10" name="Text 7"/>
          <p:cNvSpPr/>
          <p:nvPr/>
        </p:nvSpPr>
        <p:spPr>
          <a:xfrm>
            <a:off x="7223760" y="2286000"/>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1" name="Text 8"/>
          <p:cNvSpPr/>
          <p:nvPr/>
        </p:nvSpPr>
        <p:spPr>
          <a:xfrm>
            <a:off x="7479792" y="2286000"/>
            <a:ext cx="408736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Moon phases, launches, eclipses and meteor windows.</a:t>
            </a:r>
            <a:endParaRPr lang="en-US" sz="1800" dirty="0"/>
          </a:p>
        </p:txBody>
      </p:sp>
      <p:sp>
        <p:nvSpPr>
          <p:cNvPr id="12" name="Text 9"/>
          <p:cNvSpPr/>
          <p:nvPr/>
        </p:nvSpPr>
        <p:spPr>
          <a:xfrm>
            <a:off x="7223760" y="3145536"/>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3" name="Text 10"/>
          <p:cNvSpPr/>
          <p:nvPr/>
        </p:nvSpPr>
        <p:spPr>
          <a:xfrm>
            <a:off x="7479792" y="3145536"/>
            <a:ext cx="408736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Visible ISS segments use fresh orbital elements.</a:t>
            </a:r>
            <a:endParaRPr lang="en-US" sz="1800" dirty="0"/>
          </a:p>
        </p:txBody>
      </p:sp>
      <p:sp>
        <p:nvSpPr>
          <p:cNvPr id="14" name="Text 11"/>
          <p:cNvSpPr/>
          <p:nvPr/>
        </p:nvSpPr>
        <p:spPr>
          <a:xfrm>
            <a:off x="7223760" y="4005072"/>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5" name="Text 12"/>
          <p:cNvSpPr/>
          <p:nvPr/>
        </p:nvSpPr>
        <p:spPr>
          <a:xfrm>
            <a:off x="7479792" y="4005072"/>
            <a:ext cx="408736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Internal event details and calendar export.</a:t>
            </a:r>
            <a:endParaRPr lang="en-US" sz="1800" dirty="0"/>
          </a:p>
        </p:txBody>
      </p:sp>
      <p:sp>
        <p:nvSpPr>
          <p:cNvPr id="16" name="Text 13"/>
          <p:cNvSpPr/>
          <p:nvPr/>
        </p:nvSpPr>
        <p:spPr>
          <a:xfrm>
            <a:off x="7223760" y="4864608"/>
            <a:ext cx="182880" cy="402336"/>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7" name="Text 14"/>
          <p:cNvSpPr/>
          <p:nvPr/>
        </p:nvSpPr>
        <p:spPr>
          <a:xfrm>
            <a:off x="7479792" y="4864608"/>
            <a:ext cx="4087368" cy="457200"/>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Moonrise reminders and optional browser push.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08</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SPIRIT LENS • AI RESTORATION</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Conservative cleanup with an audit trail</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DnCNN denoises a preview locally; users retain control over every result.</a:t>
            </a:r>
            <a:endParaRPr lang="en-US" sz="1400" dirty="0"/>
          </a:p>
        </p:txBody>
      </p:sp>
      <p:sp>
        <p:nvSpPr>
          <p:cNvPr id="9" name="Shape 7"/>
          <p:cNvSpPr/>
          <p:nvPr/>
        </p:nvSpPr>
        <p:spPr>
          <a:xfrm>
            <a:off x="594360" y="2331720"/>
            <a:ext cx="2048256" cy="1709928"/>
          </a:xfrm>
          <a:prstGeom prst="rect">
            <a:avLst/>
          </a:prstGeom>
          <a:solidFill>
            <a:srgbClr val="161D36"/>
          </a:solidFill>
          <a:ln w="7620">
            <a:solidFill>
              <a:srgbClr val="161D36"/>
            </a:solidFill>
            <a:prstDash val="solid"/>
          </a:ln>
        </p:spPr>
      </p:sp>
      <p:sp>
        <p:nvSpPr>
          <p:cNvPr id="10" name="Text 8"/>
          <p:cNvSpPr/>
          <p:nvPr/>
        </p:nvSpPr>
        <p:spPr>
          <a:xfrm>
            <a:off x="731520" y="2532888"/>
            <a:ext cx="1773936" cy="274320"/>
          </a:xfrm>
          <a:prstGeom prst="rect">
            <a:avLst/>
          </a:prstGeom>
          <a:noFill/>
          <a:ln/>
        </p:spPr>
        <p:txBody>
          <a:bodyPr wrap="square" lIns="0" tIns="0" rIns="0" bIns="0" rtlCol="0" anchor="ctr"/>
          <a:lstStyle/>
          <a:p>
            <a:pPr indent="0" marL="0">
              <a:buNone/>
            </a:pPr>
            <a:r>
              <a:rPr lang="en-US" sz="1200" spc="110" kern="0" dirty="0">
                <a:solidFill>
                  <a:srgbClr val="EFBD73"/>
                </a:solidFill>
                <a:latin typeface="Aptos" pitchFamily="34" charset="0"/>
                <a:ea typeface="Aptos" pitchFamily="34" charset="-122"/>
                <a:cs typeface="Aptos" pitchFamily="34" charset="-120"/>
              </a:rPr>
              <a:t>VALIDATE</a:t>
            </a:r>
            <a:endParaRPr lang="en-US" sz="1200" dirty="0"/>
          </a:p>
        </p:txBody>
      </p:sp>
      <p:sp>
        <p:nvSpPr>
          <p:cNvPr id="11" name="Text 9"/>
          <p:cNvSpPr/>
          <p:nvPr/>
        </p:nvSpPr>
        <p:spPr>
          <a:xfrm>
            <a:off x="731520" y="3044952"/>
            <a:ext cx="1773936" cy="694944"/>
          </a:xfrm>
          <a:prstGeom prst="rect">
            <a:avLst/>
          </a:prstGeom>
          <a:noFill/>
          <a:ln/>
        </p:spPr>
        <p:txBody>
          <a:bodyPr wrap="square" lIns="0" tIns="0" rIns="0" bIns="0" rtlCol="0" anchor="ctr"/>
          <a:lstStyle/>
          <a:p>
            <a:pPr indent="0" marL="0">
              <a:buNone/>
            </a:pPr>
            <a:r>
              <a:rPr lang="en-US" sz="1600" dirty="0">
                <a:solidFill>
                  <a:srgbClr val="F5EEE5"/>
                </a:solidFill>
                <a:latin typeface="Aptos" pitchFamily="34" charset="0"/>
                <a:ea typeface="Aptos" pitchFamily="34" charset="-122"/>
                <a:cs typeface="Aptos" pitchFamily="34" charset="-120"/>
              </a:rPr>
              <a:t>PNG / JPEG / WebP</a:t>
            </a:r>
            <a:endParaRPr lang="en-US" sz="1600" dirty="0"/>
          </a:p>
          <a:p>
            <a:pPr indent="0" marL="0">
              <a:buNone/>
            </a:pPr>
            <a:r>
              <a:rPr lang="en-US" sz="1600" dirty="0">
                <a:solidFill>
                  <a:srgbClr val="F5EEE5"/>
                </a:solidFill>
                <a:latin typeface="Aptos" pitchFamily="34" charset="0"/>
                <a:ea typeface="Aptos" pitchFamily="34" charset="-122"/>
                <a:cs typeface="Aptos" pitchFamily="34" charset="-120"/>
              </a:rPr>
              <a:t>12 MB • 24 MP cap</a:t>
            </a:r>
            <a:endParaRPr lang="en-US" sz="1600" dirty="0"/>
          </a:p>
        </p:txBody>
      </p:sp>
      <p:sp>
        <p:nvSpPr>
          <p:cNvPr id="12" name="Text 10"/>
          <p:cNvSpPr/>
          <p:nvPr/>
        </p:nvSpPr>
        <p:spPr>
          <a:xfrm>
            <a:off x="2642616" y="2935224"/>
            <a:ext cx="182880"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3" name="Shape 11"/>
          <p:cNvSpPr/>
          <p:nvPr/>
        </p:nvSpPr>
        <p:spPr>
          <a:xfrm>
            <a:off x="2825496" y="2331720"/>
            <a:ext cx="2048256" cy="1709928"/>
          </a:xfrm>
          <a:prstGeom prst="rect">
            <a:avLst/>
          </a:prstGeom>
          <a:solidFill>
            <a:srgbClr val="161D36"/>
          </a:solidFill>
          <a:ln w="7620">
            <a:solidFill>
              <a:srgbClr val="161D36"/>
            </a:solidFill>
            <a:prstDash val="solid"/>
          </a:ln>
        </p:spPr>
      </p:sp>
      <p:sp>
        <p:nvSpPr>
          <p:cNvPr id="14" name="Text 12"/>
          <p:cNvSpPr/>
          <p:nvPr/>
        </p:nvSpPr>
        <p:spPr>
          <a:xfrm>
            <a:off x="2962656" y="2532888"/>
            <a:ext cx="1773936" cy="274320"/>
          </a:xfrm>
          <a:prstGeom prst="rect">
            <a:avLst/>
          </a:prstGeom>
          <a:noFill/>
          <a:ln/>
        </p:spPr>
        <p:txBody>
          <a:bodyPr wrap="square" lIns="0" tIns="0" rIns="0" bIns="0" rtlCol="0" anchor="ctr"/>
          <a:lstStyle/>
          <a:p>
            <a:pPr indent="0" marL="0">
              <a:buNone/>
            </a:pPr>
            <a:r>
              <a:rPr lang="en-US" sz="1200" spc="110" kern="0" dirty="0">
                <a:solidFill>
                  <a:srgbClr val="EFBD73"/>
                </a:solidFill>
                <a:latin typeface="Aptos" pitchFamily="34" charset="0"/>
                <a:ea typeface="Aptos" pitchFamily="34" charset="-122"/>
                <a:cs typeface="Aptos" pitchFamily="34" charset="-120"/>
              </a:rPr>
              <a:t>NORMALIZE</a:t>
            </a:r>
            <a:endParaRPr lang="en-US" sz="1200" dirty="0"/>
          </a:p>
        </p:txBody>
      </p:sp>
      <p:sp>
        <p:nvSpPr>
          <p:cNvPr id="15" name="Text 13"/>
          <p:cNvSpPr/>
          <p:nvPr/>
        </p:nvSpPr>
        <p:spPr>
          <a:xfrm>
            <a:off x="2962656" y="3044952"/>
            <a:ext cx="1773936" cy="694944"/>
          </a:xfrm>
          <a:prstGeom prst="rect">
            <a:avLst/>
          </a:prstGeom>
          <a:noFill/>
          <a:ln/>
        </p:spPr>
        <p:txBody>
          <a:bodyPr wrap="square" lIns="0" tIns="0" rIns="0" bIns="0" rtlCol="0" anchor="ctr"/>
          <a:lstStyle/>
          <a:p>
            <a:pPr indent="0" marL="0">
              <a:buNone/>
            </a:pPr>
            <a:r>
              <a:rPr lang="en-US" sz="1600" dirty="0">
                <a:solidFill>
                  <a:srgbClr val="F5EEE5"/>
                </a:solidFill>
                <a:latin typeface="Aptos" pitchFamily="34" charset="0"/>
                <a:ea typeface="Aptos" pitchFamily="34" charset="-122"/>
                <a:cs typeface="Aptos" pitchFamily="34" charset="-120"/>
              </a:rPr>
              <a:t>RGB preview</a:t>
            </a:r>
            <a:endParaRPr lang="en-US" sz="1600" dirty="0"/>
          </a:p>
          <a:p>
            <a:pPr indent="0" marL="0">
              <a:buNone/>
            </a:pPr>
            <a:r>
              <a:rPr lang="en-US" sz="1600" dirty="0">
                <a:solidFill>
                  <a:srgbClr val="F5EEE5"/>
                </a:solidFill>
                <a:latin typeface="Aptos" pitchFamily="34" charset="0"/>
                <a:ea typeface="Aptos" pitchFamily="34" charset="-122"/>
                <a:cs typeface="Aptos" pitchFamily="34" charset="-120"/>
              </a:rPr>
              <a:t>Longest edge ≤768px</a:t>
            </a:r>
            <a:endParaRPr lang="en-US" sz="1600" dirty="0"/>
          </a:p>
        </p:txBody>
      </p:sp>
      <p:sp>
        <p:nvSpPr>
          <p:cNvPr id="16" name="Text 14"/>
          <p:cNvSpPr/>
          <p:nvPr/>
        </p:nvSpPr>
        <p:spPr>
          <a:xfrm>
            <a:off x="4873752" y="2935224"/>
            <a:ext cx="182880"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7" name="Shape 15"/>
          <p:cNvSpPr/>
          <p:nvPr/>
        </p:nvSpPr>
        <p:spPr>
          <a:xfrm>
            <a:off x="5056632" y="2331720"/>
            <a:ext cx="2048256" cy="1709928"/>
          </a:xfrm>
          <a:prstGeom prst="rect">
            <a:avLst/>
          </a:prstGeom>
          <a:solidFill>
            <a:srgbClr val="161D36"/>
          </a:solidFill>
          <a:ln w="7620">
            <a:solidFill>
              <a:srgbClr val="161D36"/>
            </a:solidFill>
            <a:prstDash val="solid"/>
          </a:ln>
        </p:spPr>
      </p:sp>
      <p:sp>
        <p:nvSpPr>
          <p:cNvPr id="18" name="Text 16"/>
          <p:cNvSpPr/>
          <p:nvPr/>
        </p:nvSpPr>
        <p:spPr>
          <a:xfrm>
            <a:off x="5193792" y="2532888"/>
            <a:ext cx="1773936" cy="274320"/>
          </a:xfrm>
          <a:prstGeom prst="rect">
            <a:avLst/>
          </a:prstGeom>
          <a:noFill/>
          <a:ln/>
        </p:spPr>
        <p:txBody>
          <a:bodyPr wrap="square" lIns="0" tIns="0" rIns="0" bIns="0" rtlCol="0" anchor="ctr"/>
          <a:lstStyle/>
          <a:p>
            <a:pPr indent="0" marL="0">
              <a:buNone/>
            </a:pPr>
            <a:r>
              <a:rPr lang="en-US" sz="1200" spc="110" kern="0" dirty="0">
                <a:solidFill>
                  <a:srgbClr val="EFBD73"/>
                </a:solidFill>
                <a:latin typeface="Aptos" pitchFamily="34" charset="0"/>
                <a:ea typeface="Aptos" pitchFamily="34" charset="-122"/>
                <a:cs typeface="Aptos" pitchFamily="34" charset="-120"/>
              </a:rPr>
              <a:t>RESTORE</a:t>
            </a:r>
            <a:endParaRPr lang="en-US" sz="1200" dirty="0"/>
          </a:p>
        </p:txBody>
      </p:sp>
      <p:sp>
        <p:nvSpPr>
          <p:cNvPr id="19" name="Text 17"/>
          <p:cNvSpPr/>
          <p:nvPr/>
        </p:nvSpPr>
        <p:spPr>
          <a:xfrm>
            <a:off x="5193792" y="3044952"/>
            <a:ext cx="1773936" cy="694944"/>
          </a:xfrm>
          <a:prstGeom prst="rect">
            <a:avLst/>
          </a:prstGeom>
          <a:noFill/>
          <a:ln/>
        </p:spPr>
        <p:txBody>
          <a:bodyPr wrap="square" lIns="0" tIns="0" rIns="0" bIns="0" rtlCol="0" anchor="ctr"/>
          <a:lstStyle/>
          <a:p>
            <a:pPr indent="0" marL="0">
              <a:buNone/>
            </a:pPr>
            <a:r>
              <a:rPr lang="en-US" sz="1600" dirty="0">
                <a:solidFill>
                  <a:srgbClr val="F5EEE5"/>
                </a:solidFill>
                <a:latin typeface="Aptos" pitchFamily="34" charset="0"/>
                <a:ea typeface="Aptos" pitchFamily="34" charset="-122"/>
                <a:cs typeface="Aptos" pitchFamily="34" charset="-120"/>
              </a:rPr>
              <a:t>Verified DnCNN</a:t>
            </a:r>
            <a:endParaRPr lang="en-US" sz="1600" dirty="0"/>
          </a:p>
          <a:p>
            <a:pPr indent="0" marL="0">
              <a:buNone/>
            </a:pPr>
            <a:r>
              <a:rPr lang="en-US" sz="1600" dirty="0">
                <a:solidFill>
                  <a:srgbClr val="F5EEE5"/>
                </a:solidFill>
                <a:latin typeface="Aptos" pitchFamily="34" charset="0"/>
                <a:ea typeface="Aptos" pitchFamily="34" charset="-122"/>
                <a:cs typeface="Aptos" pitchFamily="34" charset="-120"/>
              </a:rPr>
              <a:t>256px tiled inference</a:t>
            </a:r>
            <a:endParaRPr lang="en-US" sz="1600" dirty="0"/>
          </a:p>
        </p:txBody>
      </p:sp>
      <p:sp>
        <p:nvSpPr>
          <p:cNvPr id="20" name="Text 18"/>
          <p:cNvSpPr/>
          <p:nvPr/>
        </p:nvSpPr>
        <p:spPr>
          <a:xfrm>
            <a:off x="7104888" y="2935224"/>
            <a:ext cx="182880"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21" name="Shape 19"/>
          <p:cNvSpPr/>
          <p:nvPr/>
        </p:nvSpPr>
        <p:spPr>
          <a:xfrm>
            <a:off x="7287768" y="2331720"/>
            <a:ext cx="2048256" cy="1709928"/>
          </a:xfrm>
          <a:prstGeom prst="rect">
            <a:avLst/>
          </a:prstGeom>
          <a:solidFill>
            <a:srgbClr val="161D36"/>
          </a:solidFill>
          <a:ln w="7620">
            <a:solidFill>
              <a:srgbClr val="161D36"/>
            </a:solidFill>
            <a:prstDash val="solid"/>
          </a:ln>
        </p:spPr>
      </p:sp>
      <p:sp>
        <p:nvSpPr>
          <p:cNvPr id="22" name="Text 20"/>
          <p:cNvSpPr/>
          <p:nvPr/>
        </p:nvSpPr>
        <p:spPr>
          <a:xfrm>
            <a:off x="7424928" y="2532888"/>
            <a:ext cx="1773936" cy="274320"/>
          </a:xfrm>
          <a:prstGeom prst="rect">
            <a:avLst/>
          </a:prstGeom>
          <a:noFill/>
          <a:ln/>
        </p:spPr>
        <p:txBody>
          <a:bodyPr wrap="square" lIns="0" tIns="0" rIns="0" bIns="0" rtlCol="0" anchor="ctr"/>
          <a:lstStyle/>
          <a:p>
            <a:pPr indent="0" marL="0">
              <a:buNone/>
            </a:pPr>
            <a:r>
              <a:rPr lang="en-US" sz="1200" spc="110" kern="0" dirty="0">
                <a:solidFill>
                  <a:srgbClr val="EFBD73"/>
                </a:solidFill>
                <a:latin typeface="Aptos" pitchFamily="34" charset="0"/>
                <a:ea typeface="Aptos" pitchFamily="34" charset="-122"/>
                <a:cs typeface="Aptos" pitchFamily="34" charset="-120"/>
              </a:rPr>
              <a:t>CONSTRAIN</a:t>
            </a:r>
            <a:endParaRPr lang="en-US" sz="1200" dirty="0"/>
          </a:p>
        </p:txBody>
      </p:sp>
      <p:sp>
        <p:nvSpPr>
          <p:cNvPr id="23" name="Text 21"/>
          <p:cNvSpPr/>
          <p:nvPr/>
        </p:nvSpPr>
        <p:spPr>
          <a:xfrm>
            <a:off x="7424928" y="3044952"/>
            <a:ext cx="1773936" cy="694944"/>
          </a:xfrm>
          <a:prstGeom prst="rect">
            <a:avLst/>
          </a:prstGeom>
          <a:noFill/>
          <a:ln/>
        </p:spPr>
        <p:txBody>
          <a:bodyPr wrap="square" lIns="0" tIns="0" rIns="0" bIns="0" rtlCol="0" anchor="ctr"/>
          <a:lstStyle/>
          <a:p>
            <a:pPr indent="0" marL="0">
              <a:buNone/>
            </a:pPr>
            <a:r>
              <a:rPr lang="en-US" sz="1600" dirty="0">
                <a:solidFill>
                  <a:srgbClr val="F5EEE5"/>
                </a:solidFill>
                <a:latin typeface="Aptos" pitchFamily="34" charset="0"/>
                <a:ea typeface="Aptos" pitchFamily="34" charset="-122"/>
                <a:cs typeface="Aptos" pitchFamily="34" charset="-120"/>
              </a:rPr>
              <a:t>Bounded luminance</a:t>
            </a:r>
            <a:endParaRPr lang="en-US" sz="1600" dirty="0"/>
          </a:p>
          <a:p>
            <a:pPr indent="0" marL="0">
              <a:buNone/>
            </a:pPr>
            <a:r>
              <a:rPr lang="en-US" sz="1600" dirty="0">
                <a:solidFill>
                  <a:srgbClr val="F5EEE5"/>
                </a:solidFill>
                <a:latin typeface="Aptos" pitchFamily="34" charset="0"/>
                <a:ea typeface="Aptos" pitchFamily="34" charset="-122"/>
                <a:cs typeface="Aptos" pitchFamily="34" charset="-120"/>
              </a:rPr>
              <a:t>Protect source regions</a:t>
            </a:r>
            <a:endParaRPr lang="en-US" sz="1600" dirty="0"/>
          </a:p>
        </p:txBody>
      </p:sp>
      <p:sp>
        <p:nvSpPr>
          <p:cNvPr id="24" name="Text 22"/>
          <p:cNvSpPr/>
          <p:nvPr/>
        </p:nvSpPr>
        <p:spPr>
          <a:xfrm>
            <a:off x="9336024" y="2935224"/>
            <a:ext cx="182880"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25" name="Shape 23"/>
          <p:cNvSpPr/>
          <p:nvPr/>
        </p:nvSpPr>
        <p:spPr>
          <a:xfrm>
            <a:off x="9518904" y="2331720"/>
            <a:ext cx="2048256" cy="1709928"/>
          </a:xfrm>
          <a:prstGeom prst="rect">
            <a:avLst/>
          </a:prstGeom>
          <a:solidFill>
            <a:srgbClr val="161D36"/>
          </a:solidFill>
          <a:ln w="7620">
            <a:solidFill>
              <a:srgbClr val="161D36"/>
            </a:solidFill>
            <a:prstDash val="solid"/>
          </a:ln>
        </p:spPr>
      </p:sp>
      <p:sp>
        <p:nvSpPr>
          <p:cNvPr id="26" name="Text 24"/>
          <p:cNvSpPr/>
          <p:nvPr/>
        </p:nvSpPr>
        <p:spPr>
          <a:xfrm>
            <a:off x="9656064" y="2532888"/>
            <a:ext cx="1773936" cy="274320"/>
          </a:xfrm>
          <a:prstGeom prst="rect">
            <a:avLst/>
          </a:prstGeom>
          <a:noFill/>
          <a:ln/>
        </p:spPr>
        <p:txBody>
          <a:bodyPr wrap="square" lIns="0" tIns="0" rIns="0" bIns="0" rtlCol="0" anchor="ctr"/>
          <a:lstStyle/>
          <a:p>
            <a:pPr indent="0" marL="0">
              <a:buNone/>
            </a:pPr>
            <a:r>
              <a:rPr lang="en-US" sz="1200" spc="110" kern="0" dirty="0">
                <a:solidFill>
                  <a:srgbClr val="EFBD73"/>
                </a:solidFill>
                <a:latin typeface="Aptos" pitchFamily="34" charset="0"/>
                <a:ea typeface="Aptos" pitchFamily="34" charset="-122"/>
                <a:cs typeface="Aptos" pitchFamily="34" charset="-120"/>
              </a:rPr>
              <a:t>INSPECT</a:t>
            </a:r>
            <a:endParaRPr lang="en-US" sz="1200" dirty="0"/>
          </a:p>
        </p:txBody>
      </p:sp>
      <p:sp>
        <p:nvSpPr>
          <p:cNvPr id="27" name="Text 25"/>
          <p:cNvSpPr/>
          <p:nvPr/>
        </p:nvSpPr>
        <p:spPr>
          <a:xfrm>
            <a:off x="9656064" y="3044952"/>
            <a:ext cx="1773936" cy="694944"/>
          </a:xfrm>
          <a:prstGeom prst="rect">
            <a:avLst/>
          </a:prstGeom>
          <a:noFill/>
          <a:ln/>
        </p:spPr>
        <p:txBody>
          <a:bodyPr wrap="square" lIns="0" tIns="0" rIns="0" bIns="0" rtlCol="0" anchor="ctr"/>
          <a:lstStyle/>
          <a:p>
            <a:pPr indent="0" marL="0">
              <a:buNone/>
            </a:pPr>
            <a:r>
              <a:rPr lang="en-US" sz="1600" dirty="0">
                <a:solidFill>
                  <a:srgbClr val="F5EEE5"/>
                </a:solidFill>
                <a:latin typeface="Aptos" pitchFamily="34" charset="0"/>
                <a:ea typeface="Aptos" pitchFamily="34" charset="-122"/>
                <a:cs typeface="Aptos" pitchFamily="34" charset="-120"/>
              </a:rPr>
              <a:t>Compare + zoom</a:t>
            </a:r>
            <a:endParaRPr lang="en-US" sz="1600" dirty="0"/>
          </a:p>
          <a:p>
            <a:pPr indent="0" marL="0">
              <a:buNone/>
            </a:pPr>
            <a:r>
              <a:rPr lang="en-US" sz="1600" dirty="0">
                <a:solidFill>
                  <a:srgbClr val="F5EEE5"/>
                </a:solidFill>
                <a:latin typeface="Aptos" pitchFamily="34" charset="0"/>
                <a:ea typeface="Aptos" pitchFamily="34" charset="-122"/>
                <a:cs typeface="Aptos" pitchFamily="34" charset="-120"/>
              </a:rPr>
              <a:t>PNG / JSON export</a:t>
            </a:r>
            <a:endParaRPr lang="en-US" sz="1600" dirty="0"/>
          </a:p>
        </p:txBody>
      </p:sp>
      <p:sp>
        <p:nvSpPr>
          <p:cNvPr id="28" name="Shape 26"/>
          <p:cNvSpPr/>
          <p:nvPr/>
        </p:nvSpPr>
        <p:spPr>
          <a:xfrm>
            <a:off x="594360" y="4434840"/>
            <a:ext cx="5367528" cy="1581912"/>
          </a:xfrm>
          <a:prstGeom prst="rect">
            <a:avLst/>
          </a:prstGeom>
          <a:solidFill>
            <a:srgbClr val="161D36"/>
          </a:solidFill>
          <a:ln w="7620">
            <a:solidFill>
              <a:srgbClr val="161D36"/>
            </a:solidFill>
            <a:prstDash val="solid"/>
          </a:ln>
        </p:spPr>
      </p:sp>
      <p:sp>
        <p:nvSpPr>
          <p:cNvPr id="29" name="Text 27"/>
          <p:cNvSpPr/>
          <p:nvPr/>
        </p:nvSpPr>
        <p:spPr>
          <a:xfrm>
            <a:off x="786384" y="4636008"/>
            <a:ext cx="4965192" cy="228600"/>
          </a:xfrm>
          <a:prstGeom prst="rect">
            <a:avLst/>
          </a:prstGeom>
          <a:noFill/>
          <a:ln/>
        </p:spPr>
        <p:txBody>
          <a:bodyPr wrap="square" lIns="0" tIns="0" rIns="0" bIns="0" rtlCol="0" anchor="ctr"/>
          <a:lstStyle/>
          <a:p>
            <a:pPr indent="0" marL="0">
              <a:buNone/>
            </a:pPr>
            <a:r>
              <a:rPr lang="en-US" sz="1200" spc="120" kern="0" dirty="0">
                <a:solidFill>
                  <a:srgbClr val="81CAB0"/>
                </a:solidFill>
                <a:latin typeface="Aptos" pitchFamily="34" charset="0"/>
                <a:ea typeface="Aptos" pitchFamily="34" charset="-122"/>
                <a:cs typeface="Aptos" pitchFamily="34" charset="-120"/>
              </a:rPr>
              <a:t>OPTIONAL DEBLUR</a:t>
            </a:r>
            <a:endParaRPr lang="en-US" sz="1200" dirty="0"/>
          </a:p>
        </p:txBody>
      </p:sp>
      <p:sp>
        <p:nvSpPr>
          <p:cNvPr id="30" name="Text 28"/>
          <p:cNvSpPr/>
          <p:nvPr/>
        </p:nvSpPr>
        <p:spPr>
          <a:xfrm>
            <a:off x="786384" y="5047488"/>
            <a:ext cx="4965192" cy="365760"/>
          </a:xfrm>
          <a:prstGeom prst="rect">
            <a:avLst/>
          </a:prstGeom>
          <a:noFill/>
          <a:ln/>
        </p:spPr>
        <p:txBody>
          <a:bodyPr wrap="square" lIns="0" tIns="0" rIns="0" bIns="0" rtlCol="0" anchor="ctr"/>
          <a:lstStyle/>
          <a:p>
            <a:pPr indent="0" marL="0">
              <a:buNone/>
            </a:pPr>
            <a:r>
              <a:rPr lang="en-US" sz="2100" dirty="0">
                <a:solidFill>
                  <a:srgbClr val="F5EEE5"/>
                </a:solidFill>
                <a:latin typeface="Georgia" pitchFamily="34" charset="0"/>
                <a:ea typeface="Georgia" pitchFamily="34" charset="-122"/>
                <a:cs typeface="Georgia" pitchFamily="34" charset="-120"/>
              </a:rPr>
              <a:t>Six Richardson–Lucy iterations</a:t>
            </a:r>
            <a:endParaRPr lang="en-US" sz="2100" dirty="0"/>
          </a:p>
        </p:txBody>
      </p:sp>
      <p:sp>
        <p:nvSpPr>
          <p:cNvPr id="31" name="Text 29"/>
          <p:cNvSpPr/>
          <p:nvPr/>
        </p:nvSpPr>
        <p:spPr>
          <a:xfrm>
            <a:off x="786384" y="5568696"/>
            <a:ext cx="4965192" cy="274320"/>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User-selected Gaussian PSF; wrong settings can cause ringing.</a:t>
            </a:r>
            <a:endParaRPr lang="en-US" sz="1300" dirty="0"/>
          </a:p>
        </p:txBody>
      </p:sp>
      <p:sp>
        <p:nvSpPr>
          <p:cNvPr id="32" name="Shape 30"/>
          <p:cNvSpPr/>
          <p:nvPr/>
        </p:nvSpPr>
        <p:spPr>
          <a:xfrm>
            <a:off x="6172200" y="4434840"/>
            <a:ext cx="5394960" cy="1581912"/>
          </a:xfrm>
          <a:prstGeom prst="rect">
            <a:avLst/>
          </a:prstGeom>
          <a:solidFill>
            <a:srgbClr val="161D36"/>
          </a:solidFill>
          <a:ln w="7620">
            <a:solidFill>
              <a:srgbClr val="161D36"/>
            </a:solidFill>
            <a:prstDash val="solid"/>
          </a:ln>
        </p:spPr>
      </p:sp>
      <p:sp>
        <p:nvSpPr>
          <p:cNvPr id="33" name="Text 31"/>
          <p:cNvSpPr/>
          <p:nvPr/>
        </p:nvSpPr>
        <p:spPr>
          <a:xfrm>
            <a:off x="6382512" y="4636008"/>
            <a:ext cx="4937760" cy="228600"/>
          </a:xfrm>
          <a:prstGeom prst="rect">
            <a:avLst/>
          </a:prstGeom>
          <a:noFill/>
          <a:ln/>
        </p:spPr>
        <p:txBody>
          <a:bodyPr wrap="square" lIns="0" tIns="0" rIns="0" bIns="0" rtlCol="0" anchor="ctr"/>
          <a:lstStyle/>
          <a:p>
            <a:pPr indent="0" marL="0">
              <a:buNone/>
            </a:pPr>
            <a:r>
              <a:rPr lang="en-US" sz="1200" spc="120" kern="0" dirty="0">
                <a:solidFill>
                  <a:srgbClr val="C94B55"/>
                </a:solidFill>
                <a:latin typeface="Aptos" pitchFamily="34" charset="0"/>
                <a:ea typeface="Aptos" pitchFamily="34" charset="-122"/>
                <a:cs typeface="Aptos" pitchFamily="34" charset="-120"/>
              </a:rPr>
              <a:t>SCIENTIFIC LIMIT</a:t>
            </a:r>
            <a:endParaRPr lang="en-US" sz="1200" dirty="0"/>
          </a:p>
        </p:txBody>
      </p:sp>
      <p:sp>
        <p:nvSpPr>
          <p:cNvPr id="34" name="Text 32"/>
          <p:cNvSpPr/>
          <p:nvPr/>
        </p:nvSpPr>
        <p:spPr>
          <a:xfrm>
            <a:off x="6382512" y="5148072"/>
            <a:ext cx="4892040" cy="594360"/>
          </a:xfrm>
          <a:prstGeom prst="rect">
            <a:avLst/>
          </a:prstGeom>
          <a:noFill/>
          <a:ln/>
        </p:spPr>
        <p:txBody>
          <a:bodyPr wrap="square" lIns="0" tIns="0" rIns="0" bIns="0" rtlCol="0" anchor="ctr"/>
          <a:lstStyle/>
          <a:p>
            <a:pPr indent="0" marL="0">
              <a:buNone/>
            </a:pPr>
            <a:r>
              <a:rPr lang="en-US" sz="1700" dirty="0">
                <a:solidFill>
                  <a:srgbClr val="F5EEE5"/>
                </a:solidFill>
                <a:latin typeface="Aptos" pitchFamily="34" charset="0"/>
                <a:ea typeface="Aptos" pitchFamily="34" charset="-122"/>
                <a:cs typeface="Aptos" pitchFamily="34" charset="-120"/>
              </a:rPr>
              <a:t>Bounded edits reduce risk. They cannot guarantee</a:t>
            </a:r>
            <a:endParaRPr lang="en-US" sz="1700" dirty="0"/>
          </a:p>
          <a:p>
            <a:pPr indent="0" marL="0">
              <a:buNone/>
            </a:pPr>
            <a:r>
              <a:rPr lang="en-US" sz="1700" dirty="0">
                <a:solidFill>
                  <a:srgbClr val="F5EEE5"/>
                </a:solidFill>
                <a:latin typeface="Aptos" pitchFamily="34" charset="0"/>
                <a:ea typeface="Aptos" pitchFamily="34" charset="-122"/>
                <a:cs typeface="Aptos" pitchFamily="34" charset="-120"/>
              </a:rPr>
              <a:t>that every faint feature remains unchanged.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09</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DOJO VISUALIZATION • ACTUAL BROWSER RESULT</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Compare pixels, not promises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Synthetic demo fixture • 444 × 330 pixels • Gentle mode • one production browser run</a:t>
            </a:r>
            <a:endParaRPr lang="en-US" sz="1400" dirty="0"/>
          </a:p>
        </p:txBody>
      </p:sp>
      <p:pic>
        <p:nvPicPr>
          <p:cNvPr id="9" name="Image 0" descr="C:\Users\Aalam\Desktop\trpc-monorepo\pecathon\docs\presentation\assets\lens.png">    </p:cNvPr>
          <p:cNvPicPr>
            <a:picLocks noChangeAspect="1"/>
          </p:cNvPicPr>
          <p:nvPr/>
        </p:nvPicPr>
        <p:blipFill>
          <a:blip r:embed="rId1"/>
          <a:stretch>
            <a:fillRect/>
          </a:stretch>
        </p:blipFill>
        <p:spPr>
          <a:xfrm>
            <a:off x="935761" y="2084832"/>
            <a:ext cx="6358078" cy="3886200"/>
          </a:xfrm>
          <a:prstGeom prst="rect">
            <a:avLst/>
          </a:prstGeom>
        </p:spPr>
      </p:pic>
      <p:sp>
        <p:nvSpPr>
          <p:cNvPr id="10" name="Text 7"/>
          <p:cNvSpPr/>
          <p:nvPr/>
        </p:nvSpPr>
        <p:spPr>
          <a:xfrm>
            <a:off x="7909560" y="2377440"/>
            <a:ext cx="1783080" cy="530352"/>
          </a:xfrm>
          <a:prstGeom prst="rect">
            <a:avLst/>
          </a:prstGeom>
          <a:noFill/>
          <a:ln/>
        </p:spPr>
        <p:txBody>
          <a:bodyPr wrap="square" lIns="0" tIns="0" rIns="0" bIns="0" rtlCol="0" anchor="ctr"/>
          <a:lstStyle/>
          <a:p>
            <a:pPr indent="0" marL="0">
              <a:buNone/>
            </a:pPr>
            <a:r>
              <a:rPr lang="en-US" sz="2700" dirty="0">
                <a:solidFill>
                  <a:srgbClr val="EFBD73"/>
                </a:solidFill>
                <a:latin typeface="Georgia" pitchFamily="34" charset="0"/>
                <a:ea typeface="Georgia" pitchFamily="34" charset="-122"/>
                <a:cs typeface="Georgia" pitchFamily="34" charset="-120"/>
              </a:rPr>
              <a:t>15.8 s</a:t>
            </a:r>
            <a:endParaRPr lang="en-US" sz="2700" dirty="0"/>
          </a:p>
        </p:txBody>
      </p:sp>
      <p:sp>
        <p:nvSpPr>
          <p:cNvPr id="11" name="Text 8"/>
          <p:cNvSpPr/>
          <p:nvPr/>
        </p:nvSpPr>
        <p:spPr>
          <a:xfrm>
            <a:off x="7909560" y="2990088"/>
            <a:ext cx="1783080" cy="457200"/>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This browser run</a:t>
            </a:r>
            <a:endParaRPr lang="en-US" sz="1300" dirty="0"/>
          </a:p>
        </p:txBody>
      </p:sp>
      <p:sp>
        <p:nvSpPr>
          <p:cNvPr id="12" name="Text 9"/>
          <p:cNvSpPr/>
          <p:nvPr/>
        </p:nvSpPr>
        <p:spPr>
          <a:xfrm>
            <a:off x="9756648" y="2377440"/>
            <a:ext cx="1783080" cy="530352"/>
          </a:xfrm>
          <a:prstGeom prst="rect">
            <a:avLst/>
          </a:prstGeom>
          <a:noFill/>
          <a:ln/>
        </p:spPr>
        <p:txBody>
          <a:bodyPr wrap="square" lIns="0" tIns="0" rIns="0" bIns="0" rtlCol="0" anchor="ctr"/>
          <a:lstStyle/>
          <a:p>
            <a:pPr indent="0" marL="0">
              <a:buNone/>
            </a:pPr>
            <a:r>
              <a:rPr lang="en-US" sz="2700" dirty="0">
                <a:solidFill>
                  <a:srgbClr val="EFBD73"/>
                </a:solidFill>
                <a:latin typeface="Georgia" pitchFamily="34" charset="0"/>
                <a:ea typeface="Georgia" pitchFamily="34" charset="-122"/>
                <a:cs typeface="Georgia" pitchFamily="34" charset="-120"/>
              </a:rPr>
              <a:t>41</a:t>
            </a:r>
            <a:endParaRPr lang="en-US" sz="2700" dirty="0"/>
          </a:p>
        </p:txBody>
      </p:sp>
      <p:sp>
        <p:nvSpPr>
          <p:cNvPr id="13" name="Text 10"/>
          <p:cNvSpPr/>
          <p:nvPr/>
        </p:nvSpPr>
        <p:spPr>
          <a:xfrm>
            <a:off x="9756648" y="2990088"/>
            <a:ext cx="1783080" cy="457200"/>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Object candidates</a:t>
            </a:r>
            <a:endParaRPr lang="en-US" sz="1300" dirty="0"/>
          </a:p>
        </p:txBody>
      </p:sp>
      <p:sp>
        <p:nvSpPr>
          <p:cNvPr id="14" name="Text 11"/>
          <p:cNvSpPr/>
          <p:nvPr/>
        </p:nvSpPr>
        <p:spPr>
          <a:xfrm>
            <a:off x="7909560" y="3730752"/>
            <a:ext cx="1783080" cy="530352"/>
          </a:xfrm>
          <a:prstGeom prst="rect">
            <a:avLst/>
          </a:prstGeom>
          <a:noFill/>
          <a:ln/>
        </p:spPr>
        <p:txBody>
          <a:bodyPr wrap="square" lIns="0" tIns="0" rIns="0" bIns="0" rtlCol="0" anchor="ctr"/>
          <a:lstStyle/>
          <a:p>
            <a:pPr indent="0" marL="0">
              <a:buNone/>
            </a:pPr>
            <a:r>
              <a:rPr lang="en-US" sz="2700" dirty="0">
                <a:solidFill>
                  <a:srgbClr val="EFBD73"/>
                </a:solidFill>
                <a:latin typeface="Georgia" pitchFamily="34" charset="0"/>
                <a:ea typeface="Georgia" pitchFamily="34" charset="-122"/>
                <a:cs typeface="Georgia" pitchFamily="34" charset="-120"/>
              </a:rPr>
              <a:t>8.6 → 6.5</a:t>
            </a:r>
            <a:endParaRPr lang="en-US" sz="2700" dirty="0"/>
          </a:p>
        </p:txBody>
      </p:sp>
      <p:sp>
        <p:nvSpPr>
          <p:cNvPr id="15" name="Text 12"/>
          <p:cNvSpPr/>
          <p:nvPr/>
        </p:nvSpPr>
        <p:spPr>
          <a:xfrm>
            <a:off x="7909560" y="4343400"/>
            <a:ext cx="1783080" cy="457200"/>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Estimated noise</a:t>
            </a:r>
            <a:endParaRPr lang="en-US" sz="1300" dirty="0"/>
          </a:p>
        </p:txBody>
      </p:sp>
      <p:sp>
        <p:nvSpPr>
          <p:cNvPr id="16" name="Text 13"/>
          <p:cNvSpPr/>
          <p:nvPr/>
        </p:nvSpPr>
        <p:spPr>
          <a:xfrm>
            <a:off x="9756648" y="3730752"/>
            <a:ext cx="1783080" cy="530352"/>
          </a:xfrm>
          <a:prstGeom prst="rect">
            <a:avLst/>
          </a:prstGeom>
          <a:noFill/>
          <a:ln/>
        </p:spPr>
        <p:txBody>
          <a:bodyPr wrap="square" lIns="0" tIns="0" rIns="0" bIns="0" rtlCol="0" anchor="ctr"/>
          <a:lstStyle/>
          <a:p>
            <a:pPr indent="0" marL="0">
              <a:buNone/>
            </a:pPr>
            <a:r>
              <a:rPr lang="en-US" sz="2700" dirty="0">
                <a:solidFill>
                  <a:srgbClr val="EFBD73"/>
                </a:solidFill>
                <a:latin typeface="Georgia" pitchFamily="34" charset="0"/>
                <a:ea typeface="Georgia" pitchFamily="34" charset="-122"/>
                <a:cs typeface="Georgia" pitchFamily="34" charset="-120"/>
              </a:rPr>
              <a:t>6 / 255</a:t>
            </a:r>
            <a:endParaRPr lang="en-US" sz="2700" dirty="0"/>
          </a:p>
        </p:txBody>
      </p:sp>
      <p:sp>
        <p:nvSpPr>
          <p:cNvPr id="17" name="Text 14"/>
          <p:cNvSpPr/>
          <p:nvPr/>
        </p:nvSpPr>
        <p:spPr>
          <a:xfrm>
            <a:off x="9756648" y="4343400"/>
            <a:ext cx="1783080" cy="457200"/>
          </a:xfrm>
          <a:prstGeom prst="rect">
            <a:avLst/>
          </a:prstGeom>
          <a:noFill/>
          <a:ln/>
        </p:spPr>
        <p:txBody>
          <a:bodyPr wrap="square" lIns="0" tIns="0" rIns="0" bIns="0" rtlCol="0" anchor="ctr"/>
          <a:lstStyle/>
          <a:p>
            <a:pPr indent="0" marL="0">
              <a:buNone/>
            </a:pPr>
            <a:r>
              <a:rPr lang="en-US" sz="1300" dirty="0">
                <a:solidFill>
                  <a:srgbClr val="B5BED5"/>
                </a:solidFill>
                <a:latin typeface="Aptos" pitchFamily="34" charset="0"/>
                <a:ea typeface="Aptos" pitchFamily="34" charset="-122"/>
                <a:cs typeface="Aptos" pitchFamily="34" charset="-120"/>
              </a:rPr>
              <a:t>Max channel edit</a:t>
            </a:r>
            <a:endParaRPr lang="en-US" sz="1300" dirty="0"/>
          </a:p>
        </p:txBody>
      </p:sp>
      <p:sp>
        <p:nvSpPr>
          <p:cNvPr id="18" name="Text 15"/>
          <p:cNvSpPr/>
          <p:nvPr/>
        </p:nvSpPr>
        <p:spPr>
          <a:xfrm>
            <a:off x="7909560" y="5349240"/>
            <a:ext cx="3566160" cy="603504"/>
          </a:xfrm>
          <a:prstGeom prst="rect">
            <a:avLst/>
          </a:prstGeom>
          <a:noFill/>
          <a:ln/>
        </p:spPr>
        <p:txBody>
          <a:bodyPr wrap="square" lIns="0" tIns="0" rIns="0" bIns="0" rtlCol="0" anchor="ctr"/>
          <a:lstStyle/>
          <a:p>
            <a:pPr indent="0" marL="0">
              <a:buNone/>
            </a:pPr>
            <a:r>
              <a:rPr lang="en-US" sz="1400" dirty="0">
                <a:solidFill>
                  <a:srgbClr val="F5EEE5"/>
                </a:solidFill>
                <a:latin typeface="Aptos" pitchFamily="34" charset="0"/>
                <a:ea typeface="Aptos" pitchFamily="34" charset="-122"/>
                <a:cs typeface="Aptos" pitchFamily="34" charset="-120"/>
              </a:rPr>
              <a:t>SSIM 0.975 compares output with noisy input. It does not prove clean-image accuracy.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10</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TEST CASES • 20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28 automated tests pass across 8 files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Fresh audit run: 30 October 2026 IST • 28 passed • 0 failed • no coverage percentage claimed</a:t>
            </a:r>
            <a:endParaRPr lang="en-US" sz="1400" dirty="0"/>
          </a:p>
        </p:txBody>
      </p:sp>
      <p:sp>
        <p:nvSpPr>
          <p:cNvPr id="9" name="Text 7"/>
          <p:cNvSpPr/>
          <p:nvPr/>
        </p:nvSpPr>
        <p:spPr>
          <a:xfrm>
            <a:off x="594360" y="2212848"/>
            <a:ext cx="269748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AREA</a:t>
            </a:r>
            <a:endParaRPr lang="en-US" sz="1400" dirty="0"/>
          </a:p>
        </p:txBody>
      </p:sp>
      <p:sp>
        <p:nvSpPr>
          <p:cNvPr id="10" name="Text 8"/>
          <p:cNvSpPr/>
          <p:nvPr/>
        </p:nvSpPr>
        <p:spPr>
          <a:xfrm>
            <a:off x="3429000" y="2212848"/>
            <a:ext cx="82296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TESTS</a:t>
            </a:r>
            <a:endParaRPr lang="en-US" sz="1400" dirty="0"/>
          </a:p>
        </p:txBody>
      </p:sp>
      <p:sp>
        <p:nvSpPr>
          <p:cNvPr id="11" name="Text 9"/>
          <p:cNvSpPr/>
          <p:nvPr/>
        </p:nvSpPr>
        <p:spPr>
          <a:xfrm>
            <a:off x="4389120" y="2212848"/>
            <a:ext cx="690372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EDGE CASE EVIDENCE</a:t>
            </a:r>
            <a:endParaRPr lang="en-US" sz="1400" dirty="0"/>
          </a:p>
        </p:txBody>
      </p:sp>
      <p:sp>
        <p:nvSpPr>
          <p:cNvPr id="12" name="Shape 10"/>
          <p:cNvSpPr/>
          <p:nvPr/>
        </p:nvSpPr>
        <p:spPr>
          <a:xfrm>
            <a:off x="530352" y="2683764"/>
            <a:ext cx="11109960" cy="384048"/>
          </a:xfrm>
          <a:prstGeom prst="rect">
            <a:avLst/>
          </a:prstGeom>
          <a:solidFill>
            <a:srgbClr val="161D36"/>
          </a:solidFill>
          <a:ln w="7620">
            <a:solidFill>
              <a:srgbClr val="161D36"/>
            </a:solidFill>
            <a:prstDash val="solid"/>
          </a:ln>
        </p:spPr>
      </p:sp>
      <p:sp>
        <p:nvSpPr>
          <p:cNvPr id="13" name="Text 11"/>
          <p:cNvSpPr/>
          <p:nvPr/>
        </p:nvSpPr>
        <p:spPr>
          <a:xfrm>
            <a:off x="594360" y="2715768"/>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Weather + distance</a:t>
            </a:r>
            <a:endParaRPr lang="en-US" sz="1400" dirty="0"/>
          </a:p>
        </p:txBody>
      </p:sp>
      <p:sp>
        <p:nvSpPr>
          <p:cNvPr id="14" name="Text 12"/>
          <p:cNvSpPr/>
          <p:nvPr/>
        </p:nvSpPr>
        <p:spPr>
          <a:xfrm>
            <a:off x="3429000" y="2715768"/>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4</a:t>
            </a:r>
            <a:endParaRPr lang="en-US" sz="1400" dirty="0"/>
          </a:p>
        </p:txBody>
      </p:sp>
      <p:sp>
        <p:nvSpPr>
          <p:cNvPr id="15" name="Text 13"/>
          <p:cNvSpPr/>
          <p:nvPr/>
        </p:nvSpPr>
        <p:spPr>
          <a:xfrm>
            <a:off x="4389120" y="2715768"/>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Score bounds; missing night data; date-line crossing</a:t>
            </a:r>
            <a:endParaRPr lang="en-US" sz="1400" dirty="0"/>
          </a:p>
        </p:txBody>
      </p:sp>
      <p:sp>
        <p:nvSpPr>
          <p:cNvPr id="16" name="Text 14"/>
          <p:cNvSpPr/>
          <p:nvPr/>
        </p:nvSpPr>
        <p:spPr>
          <a:xfrm>
            <a:off x="594360" y="3108960"/>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Moon + reminders</a:t>
            </a:r>
            <a:endParaRPr lang="en-US" sz="1400" dirty="0"/>
          </a:p>
        </p:txBody>
      </p:sp>
      <p:sp>
        <p:nvSpPr>
          <p:cNvPr id="17" name="Text 15"/>
          <p:cNvSpPr/>
          <p:nvPr/>
        </p:nvSpPr>
        <p:spPr>
          <a:xfrm>
            <a:off x="3429000" y="3108960"/>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3</a:t>
            </a:r>
            <a:endParaRPr lang="en-US" sz="1400" dirty="0"/>
          </a:p>
        </p:txBody>
      </p:sp>
      <p:sp>
        <p:nvSpPr>
          <p:cNvPr id="18" name="Text 16"/>
          <p:cNvSpPr/>
          <p:nvPr/>
        </p:nvSpPr>
        <p:spPr>
          <a:xfrm>
            <a:off x="4389120" y="3108960"/>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Polar null rise/set; UTC and observer timezone</a:t>
            </a:r>
            <a:endParaRPr lang="en-US" sz="1400" dirty="0"/>
          </a:p>
        </p:txBody>
      </p:sp>
      <p:sp>
        <p:nvSpPr>
          <p:cNvPr id="19" name="Shape 17"/>
          <p:cNvSpPr/>
          <p:nvPr/>
        </p:nvSpPr>
        <p:spPr>
          <a:xfrm>
            <a:off x="530352" y="3470148"/>
            <a:ext cx="11109960" cy="384048"/>
          </a:xfrm>
          <a:prstGeom prst="rect">
            <a:avLst/>
          </a:prstGeom>
          <a:solidFill>
            <a:srgbClr val="161D36"/>
          </a:solidFill>
          <a:ln w="7620">
            <a:solidFill>
              <a:srgbClr val="161D36"/>
            </a:solidFill>
            <a:prstDash val="solid"/>
          </a:ln>
        </p:spPr>
      </p:sp>
      <p:sp>
        <p:nvSpPr>
          <p:cNvPr id="20" name="Text 18"/>
          <p:cNvSpPr/>
          <p:nvPr/>
        </p:nvSpPr>
        <p:spPr>
          <a:xfrm>
            <a:off x="594360" y="3502152"/>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Event providers / export</a:t>
            </a:r>
            <a:endParaRPr lang="en-US" sz="1400" dirty="0"/>
          </a:p>
        </p:txBody>
      </p:sp>
      <p:sp>
        <p:nvSpPr>
          <p:cNvPr id="21" name="Text 19"/>
          <p:cNvSpPr/>
          <p:nvPr/>
        </p:nvSpPr>
        <p:spPr>
          <a:xfrm>
            <a:off x="3429000" y="3502152"/>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4</a:t>
            </a:r>
            <a:endParaRPr lang="en-US" sz="1400" dirty="0"/>
          </a:p>
        </p:txBody>
      </p:sp>
      <p:sp>
        <p:nvSpPr>
          <p:cNvPr id="22" name="Text 20"/>
          <p:cNvSpPr/>
          <p:nvPr/>
        </p:nvSpPr>
        <p:spPr>
          <a:xfrm>
            <a:off x="4389120" y="3502152"/>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Leap February; source IDs; ICS injection / Unicode</a:t>
            </a:r>
            <a:endParaRPr lang="en-US" sz="1400" dirty="0"/>
          </a:p>
        </p:txBody>
      </p:sp>
      <p:sp>
        <p:nvSpPr>
          <p:cNvPr id="23" name="Text 21"/>
          <p:cNvSpPr/>
          <p:nvPr/>
        </p:nvSpPr>
        <p:spPr>
          <a:xfrm>
            <a:off x="594360" y="3895344"/>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Eclipses / lunar / ISS</a:t>
            </a:r>
            <a:endParaRPr lang="en-US" sz="1400" dirty="0"/>
          </a:p>
        </p:txBody>
      </p:sp>
      <p:sp>
        <p:nvSpPr>
          <p:cNvPr id="24" name="Text 22"/>
          <p:cNvSpPr/>
          <p:nvPr/>
        </p:nvSpPr>
        <p:spPr>
          <a:xfrm>
            <a:off x="3429000" y="3895344"/>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5</a:t>
            </a:r>
            <a:endParaRPr lang="en-US" sz="1400" dirty="0"/>
          </a:p>
        </p:txBody>
      </p:sp>
      <p:sp>
        <p:nvSpPr>
          <p:cNvPr id="25" name="Text 23"/>
          <p:cNvSpPr/>
          <p:nvPr/>
        </p:nvSpPr>
        <p:spPr>
          <a:xfrm>
            <a:off x="4389120" y="3895344"/>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Known eclipse; leap lunar month; invalid orbital data</a:t>
            </a:r>
            <a:endParaRPr lang="en-US" sz="1400" dirty="0"/>
          </a:p>
        </p:txBody>
      </p:sp>
      <p:sp>
        <p:nvSpPr>
          <p:cNvPr id="26" name="Shape 24"/>
          <p:cNvSpPr/>
          <p:nvPr/>
        </p:nvSpPr>
        <p:spPr>
          <a:xfrm>
            <a:off x="530352" y="4256532"/>
            <a:ext cx="11109960" cy="384048"/>
          </a:xfrm>
          <a:prstGeom prst="rect">
            <a:avLst/>
          </a:prstGeom>
          <a:solidFill>
            <a:srgbClr val="161D36"/>
          </a:solidFill>
          <a:ln w="7620">
            <a:solidFill>
              <a:srgbClr val="161D36"/>
            </a:solidFill>
            <a:prstDash val="solid"/>
          </a:ln>
        </p:spPr>
      </p:sp>
      <p:sp>
        <p:nvSpPr>
          <p:cNvPr id="27" name="Text 25"/>
          <p:cNvSpPr/>
          <p:nvPr/>
        </p:nvSpPr>
        <p:spPr>
          <a:xfrm>
            <a:off x="594360" y="4288536"/>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Push security</a:t>
            </a:r>
            <a:endParaRPr lang="en-US" sz="1400" dirty="0"/>
          </a:p>
        </p:txBody>
      </p:sp>
      <p:sp>
        <p:nvSpPr>
          <p:cNvPr id="28" name="Text 26"/>
          <p:cNvSpPr/>
          <p:nvPr/>
        </p:nvSpPr>
        <p:spPr>
          <a:xfrm>
            <a:off x="3429000" y="4288536"/>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2</a:t>
            </a:r>
            <a:endParaRPr lang="en-US" sz="1400" dirty="0"/>
          </a:p>
        </p:txBody>
      </p:sp>
      <p:sp>
        <p:nvSpPr>
          <p:cNvPr id="29" name="Text 27"/>
          <p:cNvSpPr/>
          <p:nvPr/>
        </p:nvSpPr>
        <p:spPr>
          <a:xfrm>
            <a:off x="4389120" y="4288536"/>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SSRF endpoint rejection; invalid scheduler credentials</a:t>
            </a:r>
            <a:endParaRPr lang="en-US" sz="1400" dirty="0"/>
          </a:p>
        </p:txBody>
      </p:sp>
      <p:sp>
        <p:nvSpPr>
          <p:cNvPr id="30" name="Text 28"/>
          <p:cNvSpPr/>
          <p:nvPr/>
        </p:nvSpPr>
        <p:spPr>
          <a:xfrm>
            <a:off x="594360" y="4681728"/>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Lens analysis / deblur</a:t>
            </a:r>
            <a:endParaRPr lang="en-US" sz="1400" dirty="0"/>
          </a:p>
        </p:txBody>
      </p:sp>
      <p:sp>
        <p:nvSpPr>
          <p:cNvPr id="31" name="Text 29"/>
          <p:cNvSpPr/>
          <p:nvPr/>
        </p:nvSpPr>
        <p:spPr>
          <a:xfrm>
            <a:off x="3429000" y="4681728"/>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6</a:t>
            </a:r>
            <a:endParaRPr lang="en-US" sz="1400" dirty="0"/>
          </a:p>
        </p:txBody>
      </p:sp>
      <p:sp>
        <p:nvSpPr>
          <p:cNvPr id="32" name="Text 30"/>
          <p:cNvSpPr/>
          <p:nvPr/>
        </p:nvSpPr>
        <p:spPr>
          <a:xfrm>
            <a:off x="4389120" y="4681728"/>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RGB/alpha bounds; flat sky; image limits; blur fixture</a:t>
            </a:r>
            <a:endParaRPr lang="en-US" sz="1400" dirty="0"/>
          </a:p>
        </p:txBody>
      </p:sp>
      <p:sp>
        <p:nvSpPr>
          <p:cNvPr id="33" name="Shape 31"/>
          <p:cNvSpPr/>
          <p:nvPr/>
        </p:nvSpPr>
        <p:spPr>
          <a:xfrm>
            <a:off x="530352" y="5042916"/>
            <a:ext cx="11109960" cy="384048"/>
          </a:xfrm>
          <a:prstGeom prst="rect">
            <a:avLst/>
          </a:prstGeom>
          <a:solidFill>
            <a:srgbClr val="161D36"/>
          </a:solidFill>
          <a:ln w="7620">
            <a:solidFill>
              <a:srgbClr val="161D36"/>
            </a:solidFill>
            <a:prstDash val="solid"/>
          </a:ln>
        </p:spPr>
      </p:sp>
      <p:sp>
        <p:nvSpPr>
          <p:cNvPr id="34" name="Text 32"/>
          <p:cNvSpPr/>
          <p:nvPr/>
        </p:nvSpPr>
        <p:spPr>
          <a:xfrm>
            <a:off x="594360" y="5074920"/>
            <a:ext cx="269748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Signals + Honor</a:t>
            </a:r>
            <a:endParaRPr lang="en-US" sz="1400" dirty="0"/>
          </a:p>
        </p:txBody>
      </p:sp>
      <p:sp>
        <p:nvSpPr>
          <p:cNvPr id="35" name="Text 33"/>
          <p:cNvSpPr/>
          <p:nvPr/>
        </p:nvSpPr>
        <p:spPr>
          <a:xfrm>
            <a:off x="3429000" y="5074920"/>
            <a:ext cx="82296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4</a:t>
            </a:r>
            <a:endParaRPr lang="en-US" sz="1400" dirty="0"/>
          </a:p>
        </p:txBody>
      </p:sp>
      <p:sp>
        <p:nvSpPr>
          <p:cNvPr id="36" name="Text 34"/>
          <p:cNvSpPr/>
          <p:nvPr/>
        </p:nvSpPr>
        <p:spPr>
          <a:xfrm>
            <a:off x="4389120" y="5074920"/>
            <a:ext cx="6903720" cy="310896"/>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Zero scatter; bad CSV; duplicate / future observations</a:t>
            </a:r>
            <a:endParaRPr lang="en-US" sz="1400" dirty="0"/>
          </a:p>
        </p:txBody>
      </p:sp>
      <p:sp>
        <p:nvSpPr>
          <p:cNvPr id="37" name="Shape 35"/>
          <p:cNvSpPr/>
          <p:nvPr/>
        </p:nvSpPr>
        <p:spPr>
          <a:xfrm>
            <a:off x="594360" y="5806440"/>
            <a:ext cx="10991088" cy="320040"/>
          </a:xfrm>
          <a:prstGeom prst="rect">
            <a:avLst/>
          </a:prstGeom>
          <a:solidFill>
            <a:srgbClr val="212A46"/>
          </a:solidFill>
          <a:ln w="7620">
            <a:solidFill>
              <a:srgbClr val="212A46"/>
            </a:solidFill>
            <a:prstDash val="solid"/>
          </a:ln>
        </p:spPr>
      </p:sp>
      <p:sp>
        <p:nvSpPr>
          <p:cNvPr id="38" name="Text 36"/>
          <p:cNvSpPr/>
          <p:nvPr/>
        </p:nvSpPr>
        <p:spPr>
          <a:xfrm>
            <a:off x="685800" y="5843016"/>
            <a:ext cx="10808208" cy="228600"/>
          </a:xfrm>
          <a:prstGeom prst="rect">
            <a:avLst/>
          </a:prstGeom>
          <a:noFill/>
          <a:ln/>
        </p:spPr>
        <p:txBody>
          <a:bodyPr wrap="square" lIns="0" tIns="0" rIns="0" bIns="0" rtlCol="0" anchor="ctr"/>
          <a:lstStyle/>
          <a:p>
            <a:pPr indent="0" marL="0">
              <a:buNone/>
            </a:pPr>
            <a:r>
              <a:rPr lang="en-US" sz="1100" dirty="0">
                <a:solidFill>
                  <a:srgbClr val="81CAB0"/>
                </a:solidFill>
                <a:latin typeface="Aptos" pitchFamily="34" charset="0"/>
                <a:ea typeface="Aptos" pitchFamily="34" charset="-122"/>
                <a:cs typeface="Aptos" pitchFamily="34" charset="-120"/>
              </a:rPr>
              <a:t>Production builds: Next.js frontend PASS  •  tsup API PASS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11</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IMPACT AND FEASIBILITY • 15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A useful student-scale platform, live today</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Deployed on Vercel + Render + Neon, with public APIs and browser-side inference.</a:t>
            </a:r>
            <a:endParaRPr lang="en-US" sz="1400" dirty="0"/>
          </a:p>
        </p:txBody>
      </p:sp>
      <p:sp>
        <p:nvSpPr>
          <p:cNvPr id="9" name="Shape 7"/>
          <p:cNvSpPr/>
          <p:nvPr/>
        </p:nvSpPr>
        <p:spPr>
          <a:xfrm>
            <a:off x="594360" y="2194560"/>
            <a:ext cx="3529584" cy="3383280"/>
          </a:xfrm>
          <a:prstGeom prst="rect">
            <a:avLst/>
          </a:prstGeom>
          <a:solidFill>
            <a:srgbClr val="161D36"/>
          </a:solidFill>
          <a:ln w="7620">
            <a:solidFill>
              <a:srgbClr val="161D36"/>
            </a:solidFill>
            <a:prstDash val="solid"/>
          </a:ln>
        </p:spPr>
      </p:sp>
      <p:sp>
        <p:nvSpPr>
          <p:cNvPr id="10" name="Shape 8"/>
          <p:cNvSpPr/>
          <p:nvPr/>
        </p:nvSpPr>
        <p:spPr>
          <a:xfrm>
            <a:off x="594360" y="2194560"/>
            <a:ext cx="41148" cy="3383280"/>
          </a:xfrm>
          <a:prstGeom prst="rect">
            <a:avLst/>
          </a:prstGeom>
          <a:solidFill>
            <a:srgbClr val="EFBD73"/>
          </a:solidFill>
          <a:ln w="7620">
            <a:solidFill>
              <a:srgbClr val="EFBD73"/>
            </a:solidFill>
            <a:prstDash val="solid"/>
          </a:ln>
        </p:spPr>
      </p:sp>
      <p:sp>
        <p:nvSpPr>
          <p:cNvPr id="11" name="Text 9"/>
          <p:cNvSpPr/>
          <p:nvPr/>
        </p:nvSpPr>
        <p:spPr>
          <a:xfrm>
            <a:off x="777240"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USER VALUE</a:t>
            </a:r>
            <a:endParaRPr lang="en-US" sz="1100" dirty="0"/>
          </a:p>
        </p:txBody>
      </p:sp>
      <p:sp>
        <p:nvSpPr>
          <p:cNvPr id="12" name="Text 10"/>
          <p:cNvSpPr/>
          <p:nvPr/>
        </p:nvSpPr>
        <p:spPr>
          <a:xfrm>
            <a:off x="777240"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Fewer disconnected steps</a:t>
            </a:r>
            <a:endParaRPr lang="en-US" sz="2200" dirty="0"/>
          </a:p>
        </p:txBody>
      </p:sp>
      <p:sp>
        <p:nvSpPr>
          <p:cNvPr id="13" name="Text 11"/>
          <p:cNvSpPr/>
          <p:nvPr/>
        </p:nvSpPr>
        <p:spPr>
          <a:xfrm>
            <a:off x="777240" y="3547872"/>
            <a:ext cx="3163824" cy="187452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Compare places, plan around events and inspect a restored image without switching between separate tools.</a:t>
            </a:r>
            <a:endParaRPr lang="en-US" sz="1700" dirty="0"/>
          </a:p>
        </p:txBody>
      </p:sp>
      <p:sp>
        <p:nvSpPr>
          <p:cNvPr id="14" name="Shape 12"/>
          <p:cNvSpPr/>
          <p:nvPr/>
        </p:nvSpPr>
        <p:spPr>
          <a:xfrm>
            <a:off x="4325112" y="2194560"/>
            <a:ext cx="3529584" cy="3383280"/>
          </a:xfrm>
          <a:prstGeom prst="rect">
            <a:avLst/>
          </a:prstGeom>
          <a:solidFill>
            <a:srgbClr val="161D36"/>
          </a:solidFill>
          <a:ln w="7620">
            <a:solidFill>
              <a:srgbClr val="161D36"/>
            </a:solidFill>
            <a:prstDash val="solid"/>
          </a:ln>
        </p:spPr>
      </p:sp>
      <p:sp>
        <p:nvSpPr>
          <p:cNvPr id="15" name="Shape 13"/>
          <p:cNvSpPr/>
          <p:nvPr/>
        </p:nvSpPr>
        <p:spPr>
          <a:xfrm>
            <a:off x="4325112" y="2194560"/>
            <a:ext cx="41148" cy="3383280"/>
          </a:xfrm>
          <a:prstGeom prst="rect">
            <a:avLst/>
          </a:prstGeom>
          <a:solidFill>
            <a:srgbClr val="EFBD73"/>
          </a:solidFill>
          <a:ln w="7620">
            <a:solidFill>
              <a:srgbClr val="EFBD73"/>
            </a:solidFill>
            <a:prstDash val="solid"/>
          </a:ln>
        </p:spPr>
      </p:sp>
      <p:sp>
        <p:nvSpPr>
          <p:cNvPr id="16" name="Text 14"/>
          <p:cNvSpPr/>
          <p:nvPr/>
        </p:nvSpPr>
        <p:spPr>
          <a:xfrm>
            <a:off x="4507992"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PRACTICAL DELIVERY</a:t>
            </a:r>
            <a:endParaRPr lang="en-US" sz="1100" dirty="0"/>
          </a:p>
        </p:txBody>
      </p:sp>
      <p:sp>
        <p:nvSpPr>
          <p:cNvPr id="17" name="Text 15"/>
          <p:cNvSpPr/>
          <p:nvPr/>
        </p:nvSpPr>
        <p:spPr>
          <a:xfrm>
            <a:off x="4507992"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A working public demo</a:t>
            </a:r>
            <a:endParaRPr lang="en-US" sz="2200" dirty="0"/>
          </a:p>
        </p:txBody>
      </p:sp>
      <p:sp>
        <p:nvSpPr>
          <p:cNvPr id="18" name="Text 16"/>
          <p:cNvSpPr/>
          <p:nvPr/>
        </p:nvSpPr>
        <p:spPr>
          <a:xfrm>
            <a:off x="4507992" y="3547872"/>
            <a:ext cx="3163824" cy="187452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Local AI avoids an inference server. Provider adapters, caching and bounded inputs keep the prototype feasible.</a:t>
            </a:r>
            <a:endParaRPr lang="en-US" sz="1700" dirty="0"/>
          </a:p>
        </p:txBody>
      </p:sp>
      <p:sp>
        <p:nvSpPr>
          <p:cNvPr id="19" name="Shape 17"/>
          <p:cNvSpPr/>
          <p:nvPr/>
        </p:nvSpPr>
        <p:spPr>
          <a:xfrm>
            <a:off x="8055864" y="2194560"/>
            <a:ext cx="3529584" cy="3383280"/>
          </a:xfrm>
          <a:prstGeom prst="rect">
            <a:avLst/>
          </a:prstGeom>
          <a:solidFill>
            <a:srgbClr val="161D36"/>
          </a:solidFill>
          <a:ln w="7620">
            <a:solidFill>
              <a:srgbClr val="161D36"/>
            </a:solidFill>
            <a:prstDash val="solid"/>
          </a:ln>
        </p:spPr>
      </p:sp>
      <p:sp>
        <p:nvSpPr>
          <p:cNvPr id="20" name="Shape 18"/>
          <p:cNvSpPr/>
          <p:nvPr/>
        </p:nvSpPr>
        <p:spPr>
          <a:xfrm>
            <a:off x="8055864" y="2194560"/>
            <a:ext cx="41148" cy="3383280"/>
          </a:xfrm>
          <a:prstGeom prst="rect">
            <a:avLst/>
          </a:prstGeom>
          <a:solidFill>
            <a:srgbClr val="EFBD73"/>
          </a:solidFill>
          <a:ln w="7620">
            <a:solidFill>
              <a:srgbClr val="EFBD73"/>
            </a:solidFill>
            <a:prstDash val="solid"/>
          </a:ln>
        </p:spPr>
      </p:sp>
      <p:sp>
        <p:nvSpPr>
          <p:cNvPr id="21" name="Text 19"/>
          <p:cNvSpPr/>
          <p:nvPr/>
        </p:nvSpPr>
        <p:spPr>
          <a:xfrm>
            <a:off x="8238744" y="2377440"/>
            <a:ext cx="3163824"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VALIDATE NEXT</a:t>
            </a:r>
            <a:endParaRPr lang="en-US" sz="1100" dirty="0"/>
          </a:p>
        </p:txBody>
      </p:sp>
      <p:sp>
        <p:nvSpPr>
          <p:cNvPr id="22" name="Text 20"/>
          <p:cNvSpPr/>
          <p:nvPr/>
        </p:nvSpPr>
        <p:spPr>
          <a:xfrm>
            <a:off x="8238744" y="2788920"/>
            <a:ext cx="3163824"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Measure real benefit</a:t>
            </a:r>
            <a:endParaRPr lang="en-US" sz="2200" dirty="0"/>
          </a:p>
        </p:txBody>
      </p:sp>
      <p:sp>
        <p:nvSpPr>
          <p:cNvPr id="23" name="Text 21"/>
          <p:cNvSpPr/>
          <p:nvPr/>
        </p:nvSpPr>
        <p:spPr>
          <a:xfrm>
            <a:off x="8238744" y="3547872"/>
            <a:ext cx="3163824" cy="187452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Pilot with an astronomy club. Measure planning time, successful observing trips and faint-source preservation.</a:t>
            </a:r>
            <a:endParaRPr lang="en-US" sz="1700" dirty="0"/>
          </a:p>
        </p:txBody>
      </p:sp>
      <p:sp>
        <p:nvSpPr>
          <p:cNvPr id="24" name="Text 22"/>
          <p:cNvSpPr/>
          <p:nvPr/>
        </p:nvSpPr>
        <p:spPr>
          <a:xfrm>
            <a:off x="621792" y="5815584"/>
            <a:ext cx="10972800" cy="320040"/>
          </a:xfrm>
          <a:prstGeom prst="rect">
            <a:avLst/>
          </a:prstGeom>
          <a:noFill/>
          <a:ln/>
        </p:spPr>
        <p:txBody>
          <a:bodyPr wrap="square" lIns="0" tIns="0" rIns="0" bIns="0" rtlCol="0" anchor="ctr"/>
          <a:lstStyle/>
          <a:p>
            <a:pPr indent="0" marL="0">
              <a:buNone/>
            </a:pPr>
            <a:r>
              <a:rPr lang="en-US" sz="1500" dirty="0">
                <a:solidFill>
                  <a:srgbClr val="EFBD73"/>
                </a:solidFill>
                <a:latin typeface="Aptos" pitchFamily="34" charset="0"/>
                <a:ea typeface="Aptos" pitchFamily="34" charset="-122"/>
                <a:cs typeface="Aptos" pitchFamily="34" charset="-120"/>
              </a:rPr>
              <a:t>No fabricated adoption or accuracy claims. Free hosting can sleep; third-party APIs can be unavailable.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12</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READINESS AUDIT • 100-MARK RUBRIC</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Ready for a controlled hackathon demonstration</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The implementation is substantial; a maximum score or production-grade reliability is not established.</a:t>
            </a:r>
            <a:endParaRPr lang="en-US" sz="1400" dirty="0"/>
          </a:p>
        </p:txBody>
      </p:sp>
      <p:sp>
        <p:nvSpPr>
          <p:cNvPr id="9" name="Text 7"/>
          <p:cNvSpPr/>
          <p:nvPr/>
        </p:nvSpPr>
        <p:spPr>
          <a:xfrm>
            <a:off x="594360" y="2176272"/>
            <a:ext cx="310896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CRITERION</a:t>
            </a:r>
            <a:endParaRPr lang="en-US" sz="1400" dirty="0"/>
          </a:p>
        </p:txBody>
      </p:sp>
      <p:sp>
        <p:nvSpPr>
          <p:cNvPr id="10" name="Text 8"/>
          <p:cNvSpPr/>
          <p:nvPr/>
        </p:nvSpPr>
        <p:spPr>
          <a:xfrm>
            <a:off x="3840480" y="2176272"/>
            <a:ext cx="73152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MARKS</a:t>
            </a:r>
            <a:endParaRPr lang="en-US" sz="1400" dirty="0"/>
          </a:p>
        </p:txBody>
      </p:sp>
      <p:sp>
        <p:nvSpPr>
          <p:cNvPr id="11" name="Text 9"/>
          <p:cNvSpPr/>
          <p:nvPr/>
        </p:nvSpPr>
        <p:spPr>
          <a:xfrm>
            <a:off x="4709160" y="2176272"/>
            <a:ext cx="6812280" cy="429768"/>
          </a:xfrm>
          <a:prstGeom prst="rect">
            <a:avLst/>
          </a:prstGeom>
          <a:noFill/>
          <a:ln/>
        </p:spPr>
        <p:txBody>
          <a:bodyPr wrap="square" lIns="0" tIns="0" rIns="0" bIns="0" rtlCol="0" anchor="t"/>
          <a:lstStyle/>
          <a:p>
            <a:pPr indent="0" marL="0">
              <a:buNone/>
            </a:pPr>
            <a:r>
              <a:rPr lang="en-US" sz="1400" dirty="0">
                <a:solidFill>
                  <a:srgbClr val="EFBD73"/>
                </a:solidFill>
                <a:latin typeface="Aptos" pitchFamily="34" charset="0"/>
                <a:ea typeface="Aptos" pitchFamily="34" charset="-122"/>
                <a:cs typeface="Aptos" pitchFamily="34" charset="-120"/>
              </a:rPr>
              <a:t>ASSESSMENT / PREPARATION</a:t>
            </a:r>
            <a:endParaRPr lang="en-US" sz="1400" dirty="0"/>
          </a:p>
        </p:txBody>
      </p:sp>
      <p:sp>
        <p:nvSpPr>
          <p:cNvPr id="12" name="Shape 10"/>
          <p:cNvSpPr/>
          <p:nvPr/>
        </p:nvSpPr>
        <p:spPr>
          <a:xfrm>
            <a:off x="530352" y="2683764"/>
            <a:ext cx="11109960" cy="411480"/>
          </a:xfrm>
          <a:prstGeom prst="rect">
            <a:avLst/>
          </a:prstGeom>
          <a:solidFill>
            <a:srgbClr val="161D36"/>
          </a:solidFill>
          <a:ln w="7620">
            <a:solidFill>
              <a:srgbClr val="161D36"/>
            </a:solidFill>
            <a:prstDash val="solid"/>
          </a:ln>
        </p:spPr>
      </p:sp>
      <p:sp>
        <p:nvSpPr>
          <p:cNvPr id="13" name="Text 11"/>
          <p:cNvSpPr/>
          <p:nvPr/>
        </p:nvSpPr>
        <p:spPr>
          <a:xfrm>
            <a:off x="594360" y="2715768"/>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Innovation</a:t>
            </a:r>
            <a:endParaRPr lang="en-US" sz="1400" dirty="0"/>
          </a:p>
        </p:txBody>
      </p:sp>
      <p:sp>
        <p:nvSpPr>
          <p:cNvPr id="14" name="Text 12"/>
          <p:cNvSpPr/>
          <p:nvPr/>
        </p:nvSpPr>
        <p:spPr>
          <a:xfrm>
            <a:off x="3840480" y="2715768"/>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15</a:t>
            </a:r>
            <a:endParaRPr lang="en-US" sz="1400" dirty="0"/>
          </a:p>
        </p:txBody>
      </p:sp>
      <p:sp>
        <p:nvSpPr>
          <p:cNvPr id="15" name="Text 13"/>
          <p:cNvSpPr/>
          <p:nvPr/>
        </p:nvSpPr>
        <p:spPr>
          <a:xfrm>
            <a:off x="4709160" y="2715768"/>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Strong integration story; distinguish it from new research.</a:t>
            </a:r>
            <a:endParaRPr lang="en-US" sz="1400" dirty="0"/>
          </a:p>
        </p:txBody>
      </p:sp>
      <p:sp>
        <p:nvSpPr>
          <p:cNvPr id="16" name="Text 14"/>
          <p:cNvSpPr/>
          <p:nvPr/>
        </p:nvSpPr>
        <p:spPr>
          <a:xfrm>
            <a:off x="594360" y="3154680"/>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System design / code</a:t>
            </a:r>
            <a:endParaRPr lang="en-US" sz="1400" dirty="0"/>
          </a:p>
        </p:txBody>
      </p:sp>
      <p:sp>
        <p:nvSpPr>
          <p:cNvPr id="17" name="Text 15"/>
          <p:cNvSpPr/>
          <p:nvPr/>
        </p:nvSpPr>
        <p:spPr>
          <a:xfrm>
            <a:off x="3840480" y="3154680"/>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20</a:t>
            </a:r>
            <a:endParaRPr lang="en-US" sz="1400" dirty="0"/>
          </a:p>
        </p:txBody>
      </p:sp>
      <p:sp>
        <p:nvSpPr>
          <p:cNvPr id="18" name="Text 16"/>
          <p:cNvSpPr/>
          <p:nvPr/>
        </p:nvSpPr>
        <p:spPr>
          <a:xfrm>
            <a:off x="4709160" y="3154680"/>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Clear layers and typed contracts; rehearse a request trace.</a:t>
            </a:r>
            <a:endParaRPr lang="en-US" sz="1400" dirty="0"/>
          </a:p>
        </p:txBody>
      </p:sp>
      <p:sp>
        <p:nvSpPr>
          <p:cNvPr id="19" name="Shape 17"/>
          <p:cNvSpPr/>
          <p:nvPr/>
        </p:nvSpPr>
        <p:spPr>
          <a:xfrm>
            <a:off x="530352" y="3561588"/>
            <a:ext cx="11109960" cy="411480"/>
          </a:xfrm>
          <a:prstGeom prst="rect">
            <a:avLst/>
          </a:prstGeom>
          <a:solidFill>
            <a:srgbClr val="161D36"/>
          </a:solidFill>
          <a:ln w="7620">
            <a:solidFill>
              <a:srgbClr val="161D36"/>
            </a:solidFill>
            <a:prstDash val="solid"/>
          </a:ln>
        </p:spPr>
      </p:sp>
      <p:sp>
        <p:nvSpPr>
          <p:cNvPr id="20" name="Text 18"/>
          <p:cNvSpPr/>
          <p:nvPr/>
        </p:nvSpPr>
        <p:spPr>
          <a:xfrm>
            <a:off x="594360" y="3593592"/>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Problem understanding</a:t>
            </a:r>
            <a:endParaRPr lang="en-US" sz="1400" dirty="0"/>
          </a:p>
        </p:txBody>
      </p:sp>
      <p:sp>
        <p:nvSpPr>
          <p:cNvPr id="21" name="Text 19"/>
          <p:cNvSpPr/>
          <p:nvPr/>
        </p:nvSpPr>
        <p:spPr>
          <a:xfrm>
            <a:off x="3840480" y="3593592"/>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15</a:t>
            </a:r>
            <a:endParaRPr lang="en-US" sz="1400" dirty="0"/>
          </a:p>
        </p:txBody>
      </p:sp>
      <p:sp>
        <p:nvSpPr>
          <p:cNvPr id="22" name="Text 20"/>
          <p:cNvSpPr/>
          <p:nvPr/>
        </p:nvSpPr>
        <p:spPr>
          <a:xfrm>
            <a:off x="4709160" y="3593592"/>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All four core modules; explain estimates and source limits.</a:t>
            </a:r>
            <a:endParaRPr lang="en-US" sz="1400" dirty="0"/>
          </a:p>
        </p:txBody>
      </p:sp>
      <p:sp>
        <p:nvSpPr>
          <p:cNvPr id="23" name="Text 21"/>
          <p:cNvSpPr/>
          <p:nvPr/>
        </p:nvSpPr>
        <p:spPr>
          <a:xfrm>
            <a:off x="594360" y="4032504"/>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Test cases</a:t>
            </a:r>
            <a:endParaRPr lang="en-US" sz="1400" dirty="0"/>
          </a:p>
        </p:txBody>
      </p:sp>
      <p:sp>
        <p:nvSpPr>
          <p:cNvPr id="24" name="Text 22"/>
          <p:cNvSpPr/>
          <p:nvPr/>
        </p:nvSpPr>
        <p:spPr>
          <a:xfrm>
            <a:off x="3840480" y="4032504"/>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20</a:t>
            </a:r>
            <a:endParaRPr lang="en-US" sz="1400" dirty="0"/>
          </a:p>
        </p:txBody>
      </p:sp>
      <p:sp>
        <p:nvSpPr>
          <p:cNvPr id="25" name="Text 23"/>
          <p:cNvSpPr/>
          <p:nvPr/>
        </p:nvSpPr>
        <p:spPr>
          <a:xfrm>
            <a:off x="4709160" y="4032504"/>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28 passing tests; CI, device push and broader E2E remain.</a:t>
            </a:r>
            <a:endParaRPr lang="en-US" sz="1400" dirty="0"/>
          </a:p>
        </p:txBody>
      </p:sp>
      <p:sp>
        <p:nvSpPr>
          <p:cNvPr id="26" name="Shape 24"/>
          <p:cNvSpPr/>
          <p:nvPr/>
        </p:nvSpPr>
        <p:spPr>
          <a:xfrm>
            <a:off x="530352" y="4439412"/>
            <a:ext cx="11109960" cy="411480"/>
          </a:xfrm>
          <a:prstGeom prst="rect">
            <a:avLst/>
          </a:prstGeom>
          <a:solidFill>
            <a:srgbClr val="161D36"/>
          </a:solidFill>
          <a:ln w="7620">
            <a:solidFill>
              <a:srgbClr val="161D36"/>
            </a:solidFill>
            <a:prstDash val="solid"/>
          </a:ln>
        </p:spPr>
      </p:sp>
      <p:sp>
        <p:nvSpPr>
          <p:cNvPr id="27" name="Text 25"/>
          <p:cNvSpPr/>
          <p:nvPr/>
        </p:nvSpPr>
        <p:spPr>
          <a:xfrm>
            <a:off x="594360" y="4471416"/>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Impact / feasibility</a:t>
            </a:r>
            <a:endParaRPr lang="en-US" sz="1400" dirty="0"/>
          </a:p>
        </p:txBody>
      </p:sp>
      <p:sp>
        <p:nvSpPr>
          <p:cNvPr id="28" name="Text 26"/>
          <p:cNvSpPr/>
          <p:nvPr/>
        </p:nvSpPr>
        <p:spPr>
          <a:xfrm>
            <a:off x="3840480" y="4471416"/>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15</a:t>
            </a:r>
            <a:endParaRPr lang="en-US" sz="1400" dirty="0"/>
          </a:p>
        </p:txBody>
      </p:sp>
      <p:sp>
        <p:nvSpPr>
          <p:cNvPr id="29" name="Text 27"/>
          <p:cNvSpPr/>
          <p:nvPr/>
        </p:nvSpPr>
        <p:spPr>
          <a:xfrm>
            <a:off x="4709160" y="4471416"/>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Live prototype; club pilot and scale evidence remain.</a:t>
            </a:r>
            <a:endParaRPr lang="en-US" sz="1400" dirty="0"/>
          </a:p>
        </p:txBody>
      </p:sp>
      <p:sp>
        <p:nvSpPr>
          <p:cNvPr id="30" name="Text 28"/>
          <p:cNvSpPr/>
          <p:nvPr/>
        </p:nvSpPr>
        <p:spPr>
          <a:xfrm>
            <a:off x="594360" y="4910328"/>
            <a:ext cx="310896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Presentation</a:t>
            </a:r>
            <a:endParaRPr lang="en-US" sz="1400" dirty="0"/>
          </a:p>
        </p:txBody>
      </p:sp>
      <p:sp>
        <p:nvSpPr>
          <p:cNvPr id="31" name="Text 29"/>
          <p:cNvSpPr/>
          <p:nvPr/>
        </p:nvSpPr>
        <p:spPr>
          <a:xfrm>
            <a:off x="3840480" y="4910328"/>
            <a:ext cx="73152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15</a:t>
            </a:r>
            <a:endParaRPr lang="en-US" sz="1400" dirty="0"/>
          </a:p>
        </p:txBody>
      </p:sp>
      <p:sp>
        <p:nvSpPr>
          <p:cNvPr id="32" name="Text 30"/>
          <p:cNvSpPr/>
          <p:nvPr/>
        </p:nvSpPr>
        <p:spPr>
          <a:xfrm>
            <a:off x="4709160" y="4910328"/>
            <a:ext cx="6812280" cy="365760"/>
          </a:xfrm>
          <a:prstGeom prst="rect">
            <a:avLst/>
          </a:prstGeom>
          <a:noFill/>
          <a:ln/>
        </p:spPr>
        <p:txBody>
          <a:bodyPr wrap="square" lIns="0" tIns="0" rIns="0" bIns="0" rtlCol="0" anchor="t"/>
          <a:lstStyle/>
          <a:p>
            <a:pPr indent="0" marL="0">
              <a:buNone/>
            </a:pPr>
            <a:r>
              <a:rPr lang="en-US" sz="1400" dirty="0">
                <a:solidFill>
                  <a:srgbClr val="F5EEE5"/>
                </a:solidFill>
                <a:latin typeface="Aptos" pitchFamily="34" charset="0"/>
                <a:ea typeface="Aptos" pitchFamily="34" charset="-122"/>
                <a:cs typeface="Aptos" pitchFamily="34" charset="-120"/>
              </a:rPr>
              <a:t>Editable deck, demo script and screenshot fallback ready.</a:t>
            </a:r>
            <a:endParaRPr lang="en-US" sz="1400" dirty="0"/>
          </a:p>
        </p:txBody>
      </p:sp>
      <p:sp>
        <p:nvSpPr>
          <p:cNvPr id="33" name="Text 31"/>
          <p:cNvSpPr/>
          <p:nvPr/>
        </p:nvSpPr>
        <p:spPr>
          <a:xfrm>
            <a:off x="621792" y="5833872"/>
            <a:ext cx="10972800" cy="320040"/>
          </a:xfrm>
          <a:prstGeom prst="rect">
            <a:avLst/>
          </a:prstGeom>
          <a:noFill/>
          <a:ln/>
        </p:spPr>
        <p:txBody>
          <a:bodyPr wrap="square" lIns="0" tIns="0" rIns="0" bIns="0" rtlCol="0" anchor="ctr"/>
          <a:lstStyle/>
          <a:p>
            <a:pPr indent="0" marL="0">
              <a:buNone/>
            </a:pPr>
            <a:r>
              <a:rPr lang="en-US" sz="1500" dirty="0">
                <a:solidFill>
                  <a:srgbClr val="EFBD73"/>
                </a:solidFill>
                <a:latin typeface="Aptos" pitchFamily="34" charset="0"/>
                <a:ea typeface="Aptos" pitchFamily="34" charset="-122"/>
                <a:cs typeface="Aptos" pitchFamily="34" charset="-120"/>
              </a:rPr>
              <a:t>Before judging: warm the API, rehearse the demo, keep local image/CSV inputs and explain push honestly.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13</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PRESENTATION • 15 MARKS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A five-minute demo with a reliable fallback</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Open the public URL before the pitch and keep the screenshot deck available.</a:t>
            </a:r>
            <a:endParaRPr lang="en-US" sz="1400" dirty="0"/>
          </a:p>
        </p:txBody>
      </p:sp>
      <p:sp>
        <p:nvSpPr>
          <p:cNvPr id="9" name="Text 7"/>
          <p:cNvSpPr/>
          <p:nvPr/>
        </p:nvSpPr>
        <p:spPr>
          <a:xfrm>
            <a:off x="621792" y="2221992"/>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0:00–0:30</a:t>
            </a:r>
            <a:endParaRPr lang="en-US" sz="1600" dirty="0"/>
          </a:p>
        </p:txBody>
      </p:sp>
      <p:sp>
        <p:nvSpPr>
          <p:cNvPr id="10" name="Text 8"/>
          <p:cNvSpPr/>
          <p:nvPr/>
        </p:nvSpPr>
        <p:spPr>
          <a:xfrm>
            <a:off x="2276856" y="2221992"/>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Problem + promise</a:t>
            </a:r>
            <a:endParaRPr lang="en-US" sz="1800" dirty="0"/>
          </a:p>
        </p:txBody>
      </p:sp>
      <p:sp>
        <p:nvSpPr>
          <p:cNvPr id="11" name="Text 9"/>
          <p:cNvSpPr/>
          <p:nvPr/>
        </p:nvSpPr>
        <p:spPr>
          <a:xfrm>
            <a:off x="4754880" y="2221992"/>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Choose a place, a moment and a trustworthy image workflow.</a:t>
            </a:r>
            <a:endParaRPr lang="en-US" sz="1600" dirty="0"/>
          </a:p>
        </p:txBody>
      </p:sp>
      <p:sp>
        <p:nvSpPr>
          <p:cNvPr id="12" name="Text 10"/>
          <p:cNvSpPr/>
          <p:nvPr/>
        </p:nvSpPr>
        <p:spPr>
          <a:xfrm>
            <a:off x="621792" y="2788920"/>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0:30–1:20</a:t>
            </a:r>
            <a:endParaRPr lang="en-US" sz="1600" dirty="0"/>
          </a:p>
        </p:txBody>
      </p:sp>
      <p:sp>
        <p:nvSpPr>
          <p:cNvPr id="13" name="Text 11"/>
          <p:cNvSpPr/>
          <p:nvPr/>
        </p:nvSpPr>
        <p:spPr>
          <a:xfrm>
            <a:off x="2276856" y="2788920"/>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Watchtower + Scroll</a:t>
            </a:r>
            <a:endParaRPr lang="en-US" sz="1800" dirty="0"/>
          </a:p>
        </p:txBody>
      </p:sp>
      <p:sp>
        <p:nvSpPr>
          <p:cNvPr id="14" name="Text 12"/>
          <p:cNvSpPr/>
          <p:nvPr/>
        </p:nvSpPr>
        <p:spPr>
          <a:xfrm>
            <a:off x="4754880" y="2788920"/>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Search / select a spot, inspect conditions, open an event.</a:t>
            </a:r>
            <a:endParaRPr lang="en-US" sz="1600" dirty="0"/>
          </a:p>
        </p:txBody>
      </p:sp>
      <p:sp>
        <p:nvSpPr>
          <p:cNvPr id="15" name="Text 13"/>
          <p:cNvSpPr/>
          <p:nvPr/>
        </p:nvSpPr>
        <p:spPr>
          <a:xfrm>
            <a:off x="621792" y="3355848"/>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1:20–2:30</a:t>
            </a:r>
            <a:endParaRPr lang="en-US" sz="1600" dirty="0"/>
          </a:p>
        </p:txBody>
      </p:sp>
      <p:sp>
        <p:nvSpPr>
          <p:cNvPr id="16" name="Text 14"/>
          <p:cNvSpPr/>
          <p:nvPr/>
        </p:nvSpPr>
        <p:spPr>
          <a:xfrm>
            <a:off x="2276856" y="3355848"/>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Spirit Lens</a:t>
            </a:r>
            <a:endParaRPr lang="en-US" sz="1800" dirty="0"/>
          </a:p>
        </p:txBody>
      </p:sp>
      <p:sp>
        <p:nvSpPr>
          <p:cNvPr id="17" name="Text 15"/>
          <p:cNvSpPr/>
          <p:nvPr/>
        </p:nvSpPr>
        <p:spPr>
          <a:xfrm>
            <a:off x="4754880" y="3355848"/>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Use the labelled demo, restore, drag slider, zoom and inspect.</a:t>
            </a:r>
            <a:endParaRPr lang="en-US" sz="1600" dirty="0"/>
          </a:p>
        </p:txBody>
      </p:sp>
      <p:sp>
        <p:nvSpPr>
          <p:cNvPr id="18" name="Text 16"/>
          <p:cNvSpPr/>
          <p:nvPr/>
        </p:nvSpPr>
        <p:spPr>
          <a:xfrm>
            <a:off x="621792" y="3922776"/>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2:30–3:10</a:t>
            </a:r>
            <a:endParaRPr lang="en-US" sz="1600" dirty="0"/>
          </a:p>
        </p:txBody>
      </p:sp>
      <p:sp>
        <p:nvSpPr>
          <p:cNvPr id="19" name="Text 17"/>
          <p:cNvSpPr/>
          <p:nvPr/>
        </p:nvSpPr>
        <p:spPr>
          <a:xfrm>
            <a:off x="2276856" y="3922776"/>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Bonus tools</a:t>
            </a:r>
            <a:endParaRPr lang="en-US" sz="1800" dirty="0"/>
          </a:p>
        </p:txBody>
      </p:sp>
      <p:sp>
        <p:nvSpPr>
          <p:cNvPr id="20" name="Text 18"/>
          <p:cNvSpPr/>
          <p:nvPr/>
        </p:nvSpPr>
        <p:spPr>
          <a:xfrm>
            <a:off x="4754880" y="3922776"/>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Show archive import, a synthetic CSV result and Honor journal.</a:t>
            </a:r>
            <a:endParaRPr lang="en-US" sz="1600" dirty="0"/>
          </a:p>
        </p:txBody>
      </p:sp>
      <p:sp>
        <p:nvSpPr>
          <p:cNvPr id="21" name="Text 19"/>
          <p:cNvSpPr/>
          <p:nvPr/>
        </p:nvSpPr>
        <p:spPr>
          <a:xfrm>
            <a:off x="621792" y="4489704"/>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3:10–4:20</a:t>
            </a:r>
            <a:endParaRPr lang="en-US" sz="1600" dirty="0"/>
          </a:p>
        </p:txBody>
      </p:sp>
      <p:sp>
        <p:nvSpPr>
          <p:cNvPr id="22" name="Text 20"/>
          <p:cNvSpPr/>
          <p:nvPr/>
        </p:nvSpPr>
        <p:spPr>
          <a:xfrm>
            <a:off x="2276856" y="4489704"/>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Architecture + tests</a:t>
            </a:r>
            <a:endParaRPr lang="en-US" sz="1800" dirty="0"/>
          </a:p>
        </p:txBody>
      </p:sp>
      <p:sp>
        <p:nvSpPr>
          <p:cNvPr id="23" name="Text 21"/>
          <p:cNvSpPr/>
          <p:nvPr/>
        </p:nvSpPr>
        <p:spPr>
          <a:xfrm>
            <a:off x="4754880" y="4489704"/>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Trace one request and show the 28-test evidence.</a:t>
            </a:r>
            <a:endParaRPr lang="en-US" sz="1600" dirty="0"/>
          </a:p>
        </p:txBody>
      </p:sp>
      <p:sp>
        <p:nvSpPr>
          <p:cNvPr id="24" name="Text 22"/>
          <p:cNvSpPr/>
          <p:nvPr/>
        </p:nvSpPr>
        <p:spPr>
          <a:xfrm>
            <a:off x="621792" y="5056632"/>
            <a:ext cx="1554480" cy="292608"/>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4:20–5:00</a:t>
            </a:r>
            <a:endParaRPr lang="en-US" sz="1600" dirty="0"/>
          </a:p>
        </p:txBody>
      </p:sp>
      <p:sp>
        <p:nvSpPr>
          <p:cNvPr id="25" name="Text 23"/>
          <p:cNvSpPr/>
          <p:nvPr/>
        </p:nvSpPr>
        <p:spPr>
          <a:xfrm>
            <a:off x="2276856" y="5056632"/>
            <a:ext cx="2286000" cy="320040"/>
          </a:xfrm>
          <a:prstGeom prst="rect">
            <a:avLst/>
          </a:prstGeom>
          <a:noFill/>
          <a:ln/>
        </p:spPr>
        <p:txBody>
          <a:bodyPr wrap="square" lIns="0" tIns="0" rIns="0" bIns="0" rtlCol="0" anchor="ctr"/>
          <a:lstStyle/>
          <a:p>
            <a:pPr indent="0" marL="0">
              <a:buNone/>
            </a:pPr>
            <a:r>
              <a:rPr lang="en-US" sz="1800" b="1" dirty="0">
                <a:solidFill>
                  <a:srgbClr val="F5EEE5"/>
                </a:solidFill>
                <a:latin typeface="Aptos" pitchFamily="34" charset="0"/>
                <a:ea typeface="Aptos" pitchFamily="34" charset="-122"/>
                <a:cs typeface="Aptos" pitchFamily="34" charset="-120"/>
              </a:rPr>
              <a:t>Impact + limits</a:t>
            </a:r>
            <a:endParaRPr lang="en-US" sz="1800" dirty="0"/>
          </a:p>
        </p:txBody>
      </p:sp>
      <p:sp>
        <p:nvSpPr>
          <p:cNvPr id="26" name="Text 24"/>
          <p:cNvSpPr/>
          <p:nvPr/>
        </p:nvSpPr>
        <p:spPr>
          <a:xfrm>
            <a:off x="4754880" y="5056632"/>
            <a:ext cx="6720840" cy="411480"/>
          </a:xfrm>
          <a:prstGeom prst="rect">
            <a:avLst/>
          </a:prstGeom>
          <a:noFill/>
          <a:ln/>
        </p:spPr>
        <p:txBody>
          <a:bodyPr wrap="square" lIns="0" tIns="0" rIns="0" bIns="0" rtlCol="0" anchor="ctr"/>
          <a:lstStyle/>
          <a:p>
            <a:pPr indent="0" marL="0">
              <a:buNone/>
            </a:pPr>
            <a:r>
              <a:rPr lang="en-US" sz="1600" dirty="0">
                <a:solidFill>
                  <a:srgbClr val="B5BED5"/>
                </a:solidFill>
                <a:latin typeface="Aptos" pitchFamily="34" charset="0"/>
                <a:ea typeface="Aptos" pitchFamily="34" charset="-122"/>
                <a:cs typeface="Aptos" pitchFamily="34" charset="-120"/>
              </a:rPr>
              <a:t>Explain the pilot plan, provider uncertainty and push setup.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14</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APPENDIX A • CODEBASE KNOWLEDGE</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Know where every responsibility lives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Use these paths to move from a judge’s question to the implementation.</a:t>
            </a:r>
            <a:endParaRPr lang="en-US" sz="1400" dirty="0"/>
          </a:p>
        </p:txBody>
      </p:sp>
      <p:sp>
        <p:nvSpPr>
          <p:cNvPr id="9" name="Shape 7"/>
          <p:cNvSpPr/>
          <p:nvPr/>
        </p:nvSpPr>
        <p:spPr>
          <a:xfrm>
            <a:off x="530352" y="2162556"/>
            <a:ext cx="11109960" cy="420624"/>
          </a:xfrm>
          <a:prstGeom prst="rect">
            <a:avLst/>
          </a:prstGeom>
          <a:solidFill>
            <a:srgbClr val="161D36"/>
          </a:solidFill>
          <a:ln w="7620">
            <a:solidFill>
              <a:srgbClr val="161D36"/>
            </a:solidFill>
            <a:prstDash val="solid"/>
          </a:ln>
        </p:spPr>
      </p:sp>
      <p:sp>
        <p:nvSpPr>
          <p:cNvPr id="10" name="Text 8"/>
          <p:cNvSpPr/>
          <p:nvPr/>
        </p:nvSpPr>
        <p:spPr>
          <a:xfrm>
            <a:off x="658368" y="2194560"/>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UI + feature pages</a:t>
            </a:r>
            <a:endParaRPr lang="en-US" sz="1600" dirty="0"/>
          </a:p>
        </p:txBody>
      </p:sp>
      <p:sp>
        <p:nvSpPr>
          <p:cNvPr id="11" name="Text 9"/>
          <p:cNvSpPr/>
          <p:nvPr/>
        </p:nvSpPr>
        <p:spPr>
          <a:xfrm>
            <a:off x="4242816" y="2194560"/>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apps/web/app; apps/web/components</a:t>
            </a:r>
            <a:endParaRPr lang="en-US" sz="1500" dirty="0"/>
          </a:p>
        </p:txBody>
      </p:sp>
      <p:sp>
        <p:nvSpPr>
          <p:cNvPr id="12" name="Text 10"/>
          <p:cNvSpPr/>
          <p:nvPr/>
        </p:nvSpPr>
        <p:spPr>
          <a:xfrm>
            <a:off x="658368" y="2642616"/>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Typed API contracts</a:t>
            </a:r>
            <a:endParaRPr lang="en-US" sz="1600" dirty="0"/>
          </a:p>
        </p:txBody>
      </p:sp>
      <p:sp>
        <p:nvSpPr>
          <p:cNvPr id="13" name="Text 11"/>
          <p:cNvSpPr/>
          <p:nvPr/>
        </p:nvSpPr>
        <p:spPr>
          <a:xfrm>
            <a:off x="4242816" y="2642616"/>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packages/trpc/server/routes; apps/api/src/server.ts</a:t>
            </a:r>
            <a:endParaRPr lang="en-US" sz="1500" dirty="0"/>
          </a:p>
        </p:txBody>
      </p:sp>
      <p:sp>
        <p:nvSpPr>
          <p:cNvPr id="14" name="Shape 12"/>
          <p:cNvSpPr/>
          <p:nvPr/>
        </p:nvSpPr>
        <p:spPr>
          <a:xfrm>
            <a:off x="530352" y="3058668"/>
            <a:ext cx="11109960" cy="420624"/>
          </a:xfrm>
          <a:prstGeom prst="rect">
            <a:avLst/>
          </a:prstGeom>
          <a:solidFill>
            <a:srgbClr val="161D36"/>
          </a:solidFill>
          <a:ln w="7620">
            <a:solidFill>
              <a:srgbClr val="161D36"/>
            </a:solidFill>
            <a:prstDash val="solid"/>
          </a:ln>
        </p:spPr>
      </p:sp>
      <p:sp>
        <p:nvSpPr>
          <p:cNvPr id="15" name="Text 13"/>
          <p:cNvSpPr/>
          <p:nvPr/>
        </p:nvSpPr>
        <p:spPr>
          <a:xfrm>
            <a:off x="658368" y="3090672"/>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Weather / ranking / moon</a:t>
            </a:r>
            <a:endParaRPr lang="en-US" sz="1600" dirty="0"/>
          </a:p>
        </p:txBody>
      </p:sp>
      <p:sp>
        <p:nvSpPr>
          <p:cNvPr id="16" name="Text 14"/>
          <p:cNvSpPr/>
          <p:nvPr/>
        </p:nvSpPr>
        <p:spPr>
          <a:xfrm>
            <a:off x="4242816" y="3090672"/>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packages/services/watchtower</a:t>
            </a:r>
            <a:endParaRPr lang="en-US" sz="1500" dirty="0"/>
          </a:p>
        </p:txBody>
      </p:sp>
      <p:sp>
        <p:nvSpPr>
          <p:cNvPr id="17" name="Text 15"/>
          <p:cNvSpPr/>
          <p:nvPr/>
        </p:nvSpPr>
        <p:spPr>
          <a:xfrm>
            <a:off x="658368" y="3538728"/>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Events / Kyūreki / ISS</a:t>
            </a:r>
            <a:endParaRPr lang="en-US" sz="1600" dirty="0"/>
          </a:p>
        </p:txBody>
      </p:sp>
      <p:sp>
        <p:nvSpPr>
          <p:cNvPr id="18" name="Text 16"/>
          <p:cNvSpPr/>
          <p:nvPr/>
        </p:nvSpPr>
        <p:spPr>
          <a:xfrm>
            <a:off x="4242816" y="3538728"/>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packages/services/celestial</a:t>
            </a:r>
            <a:endParaRPr lang="en-US" sz="1500" dirty="0"/>
          </a:p>
        </p:txBody>
      </p:sp>
      <p:sp>
        <p:nvSpPr>
          <p:cNvPr id="19" name="Shape 17"/>
          <p:cNvSpPr/>
          <p:nvPr/>
        </p:nvSpPr>
        <p:spPr>
          <a:xfrm>
            <a:off x="530352" y="3954780"/>
            <a:ext cx="11109960" cy="420624"/>
          </a:xfrm>
          <a:prstGeom prst="rect">
            <a:avLst/>
          </a:prstGeom>
          <a:solidFill>
            <a:srgbClr val="161D36"/>
          </a:solidFill>
          <a:ln w="7620">
            <a:solidFill>
              <a:srgbClr val="161D36"/>
            </a:solidFill>
            <a:prstDash val="solid"/>
          </a:ln>
        </p:spPr>
      </p:sp>
      <p:sp>
        <p:nvSpPr>
          <p:cNvPr id="20" name="Text 18"/>
          <p:cNvSpPr/>
          <p:nvPr/>
        </p:nvSpPr>
        <p:spPr>
          <a:xfrm>
            <a:off x="658368" y="3986784"/>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Persistent data / migrations</a:t>
            </a:r>
            <a:endParaRPr lang="en-US" sz="1600" dirty="0"/>
          </a:p>
        </p:txBody>
      </p:sp>
      <p:sp>
        <p:nvSpPr>
          <p:cNvPr id="21" name="Text 19"/>
          <p:cNvSpPr/>
          <p:nvPr/>
        </p:nvSpPr>
        <p:spPr>
          <a:xfrm>
            <a:off x="4242816" y="3986784"/>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packages/database/models; packages/database/drizzle</a:t>
            </a:r>
            <a:endParaRPr lang="en-US" sz="1500" dirty="0"/>
          </a:p>
        </p:txBody>
      </p:sp>
      <p:sp>
        <p:nvSpPr>
          <p:cNvPr id="22" name="Text 20"/>
          <p:cNvSpPr/>
          <p:nvPr/>
        </p:nvSpPr>
        <p:spPr>
          <a:xfrm>
            <a:off x="658368" y="4434840"/>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AI / object analysis / deblur</a:t>
            </a:r>
            <a:endParaRPr lang="en-US" sz="1600" dirty="0"/>
          </a:p>
        </p:txBody>
      </p:sp>
      <p:sp>
        <p:nvSpPr>
          <p:cNvPr id="23" name="Text 21"/>
          <p:cNvSpPr/>
          <p:nvPr/>
        </p:nvSpPr>
        <p:spPr>
          <a:xfrm>
            <a:off x="4242816" y="4434840"/>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apps/web/lib/spirit-lens</a:t>
            </a:r>
            <a:endParaRPr lang="en-US" sz="1500" dirty="0"/>
          </a:p>
        </p:txBody>
      </p:sp>
      <p:sp>
        <p:nvSpPr>
          <p:cNvPr id="24" name="Shape 22"/>
          <p:cNvSpPr/>
          <p:nvPr/>
        </p:nvSpPr>
        <p:spPr>
          <a:xfrm>
            <a:off x="530352" y="4850892"/>
            <a:ext cx="11109960" cy="420624"/>
          </a:xfrm>
          <a:prstGeom prst="rect">
            <a:avLst/>
          </a:prstGeom>
          <a:solidFill>
            <a:srgbClr val="161D36"/>
          </a:solidFill>
          <a:ln w="7620">
            <a:solidFill>
              <a:srgbClr val="161D36"/>
            </a:solidFill>
            <a:prstDash val="solid"/>
          </a:ln>
        </p:spPr>
      </p:sp>
      <p:sp>
        <p:nvSpPr>
          <p:cNvPr id="25" name="Text 23"/>
          <p:cNvSpPr/>
          <p:nvPr/>
        </p:nvSpPr>
        <p:spPr>
          <a:xfrm>
            <a:off x="658368" y="4882896"/>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Signals + local Honor</a:t>
            </a:r>
            <a:endParaRPr lang="en-US" sz="1600" dirty="0"/>
          </a:p>
        </p:txBody>
      </p:sp>
      <p:sp>
        <p:nvSpPr>
          <p:cNvPr id="26" name="Text 24"/>
          <p:cNvSpPr/>
          <p:nvPr/>
        </p:nvSpPr>
        <p:spPr>
          <a:xfrm>
            <a:off x="4242816" y="4882896"/>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apps/web/lib/transient-analysis.ts; honor-journal.ts</a:t>
            </a:r>
            <a:endParaRPr lang="en-US" sz="1500" dirty="0"/>
          </a:p>
        </p:txBody>
      </p:sp>
      <p:sp>
        <p:nvSpPr>
          <p:cNvPr id="27" name="Text 25"/>
          <p:cNvSpPr/>
          <p:nvPr/>
        </p:nvSpPr>
        <p:spPr>
          <a:xfrm>
            <a:off x="658368" y="5330952"/>
            <a:ext cx="3383280" cy="34747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Push delivery / scheduler</a:t>
            </a:r>
            <a:endParaRPr lang="en-US" sz="1600" dirty="0"/>
          </a:p>
        </p:txBody>
      </p:sp>
      <p:sp>
        <p:nvSpPr>
          <p:cNvPr id="28" name="Text 26"/>
          <p:cNvSpPr/>
          <p:nvPr/>
        </p:nvSpPr>
        <p:spPr>
          <a:xfrm>
            <a:off x="4242816" y="5330952"/>
            <a:ext cx="7132320" cy="347472"/>
          </a:xfrm>
          <a:prstGeom prst="rect">
            <a:avLst/>
          </a:prstGeom>
          <a:noFill/>
          <a:ln/>
        </p:spPr>
        <p:txBody>
          <a:bodyPr wrap="square" lIns="0" tIns="0" rIns="0" bIns="0" rtlCol="0" anchor="ctr"/>
          <a:lstStyle/>
          <a:p>
            <a:pPr indent="0" marL="0">
              <a:buNone/>
            </a:pPr>
            <a:r>
              <a:rPr lang="en-US" sz="1500" dirty="0">
                <a:solidFill>
                  <a:srgbClr val="F5EEE5"/>
                </a:solidFill>
                <a:latin typeface="Aptos" pitchFamily="34" charset="0"/>
                <a:ea typeface="Aptos" pitchFamily="34" charset="-122"/>
                <a:cs typeface="Aptos" pitchFamily="34" charset="-120"/>
              </a:rPr>
              <a:t>packages/services/alerts; ops/push-cron.mjs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15</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APPENDIX B • DEFENSIBLE CALCULATIONS</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Explain assumptions before giving a score</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Night Honor Score is a weather heuristic, not a scientific observability guarantee.</a:t>
            </a:r>
            <a:endParaRPr lang="en-US" sz="1400" dirty="0"/>
          </a:p>
        </p:txBody>
      </p:sp>
      <p:sp>
        <p:nvSpPr>
          <p:cNvPr id="9" name="Shape 7"/>
          <p:cNvSpPr/>
          <p:nvPr/>
        </p:nvSpPr>
        <p:spPr>
          <a:xfrm>
            <a:off x="594360" y="2194560"/>
            <a:ext cx="10991088" cy="1042416"/>
          </a:xfrm>
          <a:prstGeom prst="rect">
            <a:avLst/>
          </a:prstGeom>
          <a:solidFill>
            <a:srgbClr val="161D36"/>
          </a:solidFill>
          <a:ln w="7620">
            <a:solidFill>
              <a:srgbClr val="161D36"/>
            </a:solidFill>
            <a:prstDash val="solid"/>
          </a:ln>
        </p:spPr>
      </p:sp>
      <p:sp>
        <p:nvSpPr>
          <p:cNvPr id="10" name="Text 8"/>
          <p:cNvSpPr/>
          <p:nvPr/>
        </p:nvSpPr>
        <p:spPr>
          <a:xfrm>
            <a:off x="832104" y="2487168"/>
            <a:ext cx="10515600" cy="448056"/>
          </a:xfrm>
          <a:prstGeom prst="rect">
            <a:avLst/>
          </a:prstGeom>
          <a:noFill/>
          <a:ln/>
        </p:spPr>
        <p:txBody>
          <a:bodyPr wrap="square" lIns="0" tIns="0" rIns="0" bIns="0" rtlCol="0" anchor="ctr"/>
          <a:lstStyle/>
          <a:p>
            <a:pPr indent="0" marL="0">
              <a:buNone/>
            </a:pPr>
            <a:r>
              <a:rPr lang="en-US" sz="2100" dirty="0">
                <a:solidFill>
                  <a:srgbClr val="EFBD73"/>
                </a:solidFill>
                <a:latin typeface="Aptos" pitchFamily="34" charset="0"/>
                <a:ea typeface="Aptos" pitchFamily="34" charset="-122"/>
                <a:cs typeface="Aptos" pitchFamily="34" charset="-120"/>
              </a:rPr>
              <a:t>Score = round{100 × [40(1 − C/100) + 20 min(V/20, 1) + 15(1 − H/100)] / 75}</a:t>
            </a:r>
            <a:endParaRPr lang="en-US" sz="2100" dirty="0"/>
          </a:p>
        </p:txBody>
      </p:sp>
      <p:sp>
        <p:nvSpPr>
          <p:cNvPr id="11" name="Text 9"/>
          <p:cNvSpPr/>
          <p:nvPr/>
        </p:nvSpPr>
        <p:spPr>
          <a:xfrm>
            <a:off x="777240" y="3520440"/>
            <a:ext cx="10515600" cy="365760"/>
          </a:xfrm>
          <a:prstGeom prst="rect">
            <a:avLst/>
          </a:prstGeom>
          <a:noFill/>
          <a:ln/>
        </p:spPr>
        <p:txBody>
          <a:bodyPr wrap="square" lIns="0" tIns="0" rIns="0" bIns="0" rtlCol="0" anchor="ctr"/>
          <a:lstStyle/>
          <a:p>
            <a:pPr indent="0" marL="0">
              <a:buNone/>
            </a:pPr>
            <a:r>
              <a:rPr lang="en-US" sz="1800" dirty="0">
                <a:solidFill>
                  <a:srgbClr val="B5BED5"/>
                </a:solidFill>
                <a:latin typeface="Aptos" pitchFamily="34" charset="0"/>
                <a:ea typeface="Aptos" pitchFamily="34" charset="-122"/>
                <a:cs typeface="Aptos" pitchFamily="34" charset="-120"/>
              </a:rPr>
              <a:t>C = cloud cover %     V = visibility in km     H = relative humidity %</a:t>
            </a:r>
            <a:endParaRPr lang="en-US" sz="1800" dirty="0"/>
          </a:p>
        </p:txBody>
      </p:sp>
      <p:sp>
        <p:nvSpPr>
          <p:cNvPr id="12" name="Text 10"/>
          <p:cNvSpPr/>
          <p:nvPr/>
        </p:nvSpPr>
        <p:spPr>
          <a:xfrm>
            <a:off x="731520" y="4206240"/>
            <a:ext cx="182880" cy="402336"/>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13" name="Text 11"/>
          <p:cNvSpPr/>
          <p:nvPr/>
        </p:nvSpPr>
        <p:spPr>
          <a:xfrm>
            <a:off x="987552" y="4206240"/>
            <a:ext cx="10488168" cy="457200"/>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Bounds: 0–100; visibility gets full credit at 20 km.</a:t>
            </a:r>
            <a:endParaRPr lang="en-US" sz="1900" dirty="0"/>
          </a:p>
        </p:txBody>
      </p:sp>
      <p:sp>
        <p:nvSpPr>
          <p:cNvPr id="14" name="Text 12"/>
          <p:cNvSpPr/>
          <p:nvPr/>
        </p:nvSpPr>
        <p:spPr>
          <a:xfrm>
            <a:off x="731520" y="4700016"/>
            <a:ext cx="182880" cy="402336"/>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15" name="Text 13"/>
          <p:cNvSpPr/>
          <p:nvPr/>
        </p:nvSpPr>
        <p:spPr>
          <a:xfrm>
            <a:off x="987552" y="4700016"/>
            <a:ext cx="10488168" cy="457200"/>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Forecast uses the next future provider-night hour; null values are rejected.</a:t>
            </a:r>
            <a:endParaRPr lang="en-US" sz="1900" dirty="0"/>
          </a:p>
        </p:txBody>
      </p:sp>
      <p:sp>
        <p:nvSpPr>
          <p:cNvPr id="16" name="Text 14"/>
          <p:cNvSpPr/>
          <p:nvPr/>
        </p:nvSpPr>
        <p:spPr>
          <a:xfrm>
            <a:off x="731520" y="5193792"/>
            <a:ext cx="182880" cy="402336"/>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17" name="Text 15"/>
          <p:cNvSpPr/>
          <p:nvPr/>
        </p:nvSpPr>
        <p:spPr>
          <a:xfrm>
            <a:off x="987552" y="5193792"/>
            <a:ext cx="10488168" cy="457200"/>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Moon illumination and light pollution are currently excluded.</a:t>
            </a:r>
            <a:endParaRPr lang="en-US" sz="1900" dirty="0"/>
          </a:p>
        </p:txBody>
      </p:sp>
      <p:sp>
        <p:nvSpPr>
          <p:cNvPr id="18" name="Text 16"/>
          <p:cNvSpPr/>
          <p:nvPr/>
        </p:nvSpPr>
        <p:spPr>
          <a:xfrm>
            <a:off x="731520" y="5687568"/>
            <a:ext cx="182880" cy="402336"/>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19" name="Text 17"/>
          <p:cNvSpPr/>
          <p:nvPr/>
        </p:nvSpPr>
        <p:spPr>
          <a:xfrm>
            <a:off x="987552" y="5687568"/>
            <a:ext cx="10488168" cy="457200"/>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Meteor windows are approximate; eclipse maxima are global; ISS passes are predictions.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16</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APPENDIX C • TEST DEPTH AND REMAINING WORK</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What the evidence proves — and what remains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Passing tests establish selected behaviors; they do not establish exhaustive coverage.</a:t>
            </a:r>
            <a:endParaRPr lang="en-US" sz="1400" dirty="0"/>
          </a:p>
        </p:txBody>
      </p:sp>
      <p:sp>
        <p:nvSpPr>
          <p:cNvPr id="9" name="Shape 7"/>
          <p:cNvSpPr/>
          <p:nvPr/>
        </p:nvSpPr>
        <p:spPr>
          <a:xfrm>
            <a:off x="594360" y="2194560"/>
            <a:ext cx="5367528" cy="3474720"/>
          </a:xfrm>
          <a:prstGeom prst="rect">
            <a:avLst/>
          </a:prstGeom>
          <a:solidFill>
            <a:srgbClr val="161D36"/>
          </a:solidFill>
          <a:ln w="7620">
            <a:solidFill>
              <a:srgbClr val="161D36"/>
            </a:solidFill>
            <a:prstDash val="solid"/>
          </a:ln>
        </p:spPr>
      </p:sp>
      <p:sp>
        <p:nvSpPr>
          <p:cNvPr id="10" name="Shape 8"/>
          <p:cNvSpPr/>
          <p:nvPr/>
        </p:nvSpPr>
        <p:spPr>
          <a:xfrm>
            <a:off x="594360" y="2194560"/>
            <a:ext cx="41148" cy="3474720"/>
          </a:xfrm>
          <a:prstGeom prst="rect">
            <a:avLst/>
          </a:prstGeom>
          <a:solidFill>
            <a:srgbClr val="EFBD73"/>
          </a:solidFill>
          <a:ln w="7620">
            <a:solidFill>
              <a:srgbClr val="EFBD73"/>
            </a:solidFill>
            <a:prstDash val="solid"/>
          </a:ln>
        </p:spPr>
      </p:sp>
      <p:sp>
        <p:nvSpPr>
          <p:cNvPr id="11" name="Text 9"/>
          <p:cNvSpPr/>
          <p:nvPr/>
        </p:nvSpPr>
        <p:spPr>
          <a:xfrm>
            <a:off x="777240" y="2377440"/>
            <a:ext cx="5001768" cy="246888"/>
          </a:xfrm>
          <a:prstGeom prst="rect">
            <a:avLst/>
          </a:prstGeom>
          <a:noFill/>
          <a:ln/>
        </p:spPr>
        <p:txBody>
          <a:bodyPr wrap="square" lIns="0" tIns="0" rIns="0" bIns="0" rtlCol="0" anchor="ctr"/>
          <a:lstStyle/>
          <a:p>
            <a:pPr indent="0" marL="0">
              <a:buNone/>
            </a:pPr>
            <a:r>
              <a:rPr lang="en-US" sz="1100" spc="130" kern="0" dirty="0">
                <a:solidFill>
                  <a:srgbClr val="EFBD73"/>
                </a:solidFill>
                <a:latin typeface="Aptos" pitchFamily="34" charset="0"/>
                <a:ea typeface="Aptos" pitchFamily="34" charset="-122"/>
                <a:cs typeface="Aptos" pitchFamily="34" charset="-120"/>
              </a:rPr>
              <a:t>VERIFIED IN THIS AUDIT</a:t>
            </a:r>
            <a:endParaRPr lang="en-US" sz="1100" dirty="0"/>
          </a:p>
        </p:txBody>
      </p:sp>
      <p:sp>
        <p:nvSpPr>
          <p:cNvPr id="12" name="Text 10"/>
          <p:cNvSpPr/>
          <p:nvPr/>
        </p:nvSpPr>
        <p:spPr>
          <a:xfrm>
            <a:off x="777240" y="2788920"/>
            <a:ext cx="5001768"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Repeatable evidence</a:t>
            </a:r>
            <a:endParaRPr lang="en-US" sz="2200" dirty="0"/>
          </a:p>
        </p:txBody>
      </p:sp>
      <p:sp>
        <p:nvSpPr>
          <p:cNvPr id="13" name="Text 11"/>
          <p:cNvSpPr/>
          <p:nvPr/>
        </p:nvSpPr>
        <p:spPr>
          <a:xfrm>
            <a:off x="777240" y="3547872"/>
            <a:ext cx="5001768" cy="196596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28 / 28 automated test cases pass.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Frontend and API builds pass.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Production map and calendar render.</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Browser AI completes with exported metrics.</a:t>
            </a:r>
            <a:endParaRPr lang="en-US" sz="1700" dirty="0"/>
          </a:p>
        </p:txBody>
      </p:sp>
      <p:sp>
        <p:nvSpPr>
          <p:cNvPr id="14" name="Shape 12"/>
          <p:cNvSpPr/>
          <p:nvPr/>
        </p:nvSpPr>
        <p:spPr>
          <a:xfrm>
            <a:off x="6172200" y="2194560"/>
            <a:ext cx="5394960" cy="3474720"/>
          </a:xfrm>
          <a:prstGeom prst="rect">
            <a:avLst/>
          </a:prstGeom>
          <a:solidFill>
            <a:srgbClr val="161D36"/>
          </a:solidFill>
          <a:ln w="7620">
            <a:solidFill>
              <a:srgbClr val="161D36"/>
            </a:solidFill>
            <a:prstDash val="solid"/>
          </a:ln>
        </p:spPr>
      </p:sp>
      <p:sp>
        <p:nvSpPr>
          <p:cNvPr id="15" name="Shape 13"/>
          <p:cNvSpPr/>
          <p:nvPr/>
        </p:nvSpPr>
        <p:spPr>
          <a:xfrm>
            <a:off x="6172200" y="2194560"/>
            <a:ext cx="41148" cy="3474720"/>
          </a:xfrm>
          <a:prstGeom prst="rect">
            <a:avLst/>
          </a:prstGeom>
          <a:solidFill>
            <a:srgbClr val="C94B55"/>
          </a:solidFill>
          <a:ln w="7620">
            <a:solidFill>
              <a:srgbClr val="C94B55"/>
            </a:solidFill>
            <a:prstDash val="solid"/>
          </a:ln>
        </p:spPr>
      </p:sp>
      <p:sp>
        <p:nvSpPr>
          <p:cNvPr id="16" name="Text 14"/>
          <p:cNvSpPr/>
          <p:nvPr/>
        </p:nvSpPr>
        <p:spPr>
          <a:xfrm>
            <a:off x="6355080" y="2377440"/>
            <a:ext cx="5029200" cy="246888"/>
          </a:xfrm>
          <a:prstGeom prst="rect">
            <a:avLst/>
          </a:prstGeom>
          <a:noFill/>
          <a:ln/>
        </p:spPr>
        <p:txBody>
          <a:bodyPr wrap="square" lIns="0" tIns="0" rIns="0" bIns="0" rtlCol="0" anchor="ctr"/>
          <a:lstStyle/>
          <a:p>
            <a:pPr indent="0" marL="0">
              <a:buNone/>
            </a:pPr>
            <a:r>
              <a:rPr lang="en-US" sz="1100" spc="130" kern="0" dirty="0">
                <a:solidFill>
                  <a:srgbClr val="C94B55"/>
                </a:solidFill>
                <a:latin typeface="Aptos" pitchFamily="34" charset="0"/>
                <a:ea typeface="Aptos" pitchFamily="34" charset="-122"/>
                <a:cs typeface="Aptos" pitchFamily="34" charset="-120"/>
              </a:rPr>
              <a:t>PRIORITY NEXT</a:t>
            </a:r>
            <a:endParaRPr lang="en-US" sz="1100" dirty="0"/>
          </a:p>
        </p:txBody>
      </p:sp>
      <p:sp>
        <p:nvSpPr>
          <p:cNvPr id="17" name="Text 15"/>
          <p:cNvSpPr/>
          <p:nvPr/>
        </p:nvSpPr>
        <p:spPr>
          <a:xfrm>
            <a:off x="6355080" y="2788920"/>
            <a:ext cx="5029200" cy="594360"/>
          </a:xfrm>
          <a:prstGeom prst="rect">
            <a:avLst/>
          </a:prstGeom>
          <a:noFill/>
          <a:ln/>
        </p:spPr>
        <p:txBody>
          <a:bodyPr wrap="square" lIns="0" tIns="0" rIns="0" bIns="0" rtlCol="0" anchor="ctr"/>
          <a:lstStyle/>
          <a:p>
            <a:pPr indent="0" marL="0">
              <a:buNone/>
            </a:pPr>
            <a:r>
              <a:rPr lang="en-US" sz="2200" dirty="0">
                <a:solidFill>
                  <a:srgbClr val="F5EEE5"/>
                </a:solidFill>
                <a:latin typeface="Georgia" pitchFamily="34" charset="0"/>
                <a:ea typeface="Georgia" pitchFamily="34" charset="-122"/>
                <a:cs typeface="Georgia" pitchFamily="34" charset="-120"/>
              </a:rPr>
              <a:t>Close the evidence gaps</a:t>
            </a:r>
            <a:endParaRPr lang="en-US" sz="2200" dirty="0"/>
          </a:p>
        </p:txBody>
      </p:sp>
      <p:sp>
        <p:nvSpPr>
          <p:cNvPr id="18" name="Text 16"/>
          <p:cNvSpPr/>
          <p:nvPr/>
        </p:nvSpPr>
        <p:spPr>
          <a:xfrm>
            <a:off x="6355080" y="3547872"/>
            <a:ext cx="5029200" cy="196596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CI for tests and builds.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Permission / offline / mobile E2E.</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Physical closed-app push receipt.</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Real astronomy and load benchmarks.</a:t>
            </a:r>
            <a:endParaRPr lang="en-US" sz="1700" dirty="0"/>
          </a:p>
        </p:txBody>
      </p:sp>
      <p:sp>
        <p:nvSpPr>
          <p:cNvPr id="19" name="Text 17"/>
          <p:cNvSpPr/>
          <p:nvPr/>
        </p:nvSpPr>
        <p:spPr>
          <a:xfrm>
            <a:off x="621792" y="5852160"/>
            <a:ext cx="10972800" cy="274320"/>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Earlier PostgreSQL ownership integration is separate evidence; it was not rerun in this audit.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7620">
            <a:solidFill>
              <a:srgbClr val="C94B55"/>
            </a:solidFill>
            <a:prstDash val="solid"/>
          </a:ln>
        </p:spPr>
      </p:sp>
      <p:sp>
        <p:nvSpPr>
          <p:cNvPr id="3" name="Shape 1"/>
          <p:cNvSpPr/>
          <p:nvPr/>
        </p:nvSpPr>
        <p:spPr>
          <a:xfrm>
            <a:off x="502920" y="6382512"/>
            <a:ext cx="11183112" cy="0"/>
          </a:xfrm>
          <a:prstGeom prst="line">
            <a:avLst/>
          </a:prstGeom>
          <a:noFill/>
          <a:ln w="12700">
            <a:solidFill>
              <a:srgbClr val="212A46"/>
            </a:solidFill>
            <a:prstDash val="solid"/>
          </a:ln>
        </p:spPr>
      </p:sp>
      <p:sp>
        <p:nvSpPr>
          <p:cNvPr id="4" name="Text 2"/>
          <p:cNvSpPr/>
          <p:nvPr/>
        </p:nvSpPr>
        <p:spPr>
          <a:xfrm>
            <a:off x="530352" y="6510528"/>
            <a:ext cx="8229600" cy="137160"/>
          </a:xfrm>
          <a:prstGeom prst="rect">
            <a:avLst/>
          </a:prstGeom>
          <a:noFill/>
          <a:ln/>
        </p:spPr>
        <p:txBody>
          <a:bodyPr wrap="square" lIns="0" tIns="0" rIns="0" bIns="0" rtlCol="0" anchor="ctr"/>
          <a:lstStyle/>
          <a:p>
            <a:pPr indent="0" marL="0">
              <a:buNone/>
            </a:pPr>
            <a:r>
              <a:rPr lang="en-US" sz="900" spc="130" kern="0" dirty="0">
                <a:solidFill>
                  <a:srgbClr val="B5BED5"/>
                </a:solidFill>
                <a:latin typeface="Aptos" pitchFamily="34" charset="0"/>
                <a:ea typeface="Aptos" pitchFamily="34" charset="-122"/>
                <a:cs typeface="Aptos" pitchFamily="34" charset="-120"/>
              </a:rPr>
              <a:t>TSUKUYOMI WATCH  /  PS-002</a:t>
            </a:r>
            <a:endParaRPr lang="en-US" sz="900" dirty="0"/>
          </a:p>
        </p:txBody>
      </p:sp>
      <p:sp>
        <p:nvSpPr>
          <p:cNvPr id="5" name="Text 3"/>
          <p:cNvSpPr/>
          <p:nvPr/>
        </p:nvSpPr>
        <p:spPr>
          <a:xfrm>
            <a:off x="11082528" y="6483096"/>
            <a:ext cx="594360" cy="182880"/>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17</a:t>
            </a:r>
            <a:endParaRPr lang="en-US" sz="1000" dirty="0"/>
          </a:p>
        </p:txBody>
      </p:sp>
      <p:sp>
        <p:nvSpPr>
          <p:cNvPr id="6" name="Text 4"/>
          <p:cNvSpPr/>
          <p:nvPr/>
        </p:nvSpPr>
        <p:spPr>
          <a:xfrm>
            <a:off x="548640" y="320040"/>
            <a:ext cx="10058400" cy="228600"/>
          </a:xfrm>
          <a:prstGeom prst="rect">
            <a:avLst/>
          </a:prstGeom>
          <a:noFill/>
          <a:ln/>
        </p:spPr>
        <p:txBody>
          <a:bodyPr wrap="square" lIns="0" tIns="0" rIns="0" bIns="0" rtlCol="0" anchor="ctr"/>
          <a:lstStyle/>
          <a:p>
            <a:pPr indent="0" marL="0">
              <a:buNone/>
            </a:pPr>
            <a:r>
              <a:rPr lang="en-US" sz="1000" spc="220" kern="0" dirty="0">
                <a:solidFill>
                  <a:srgbClr val="EFBD73"/>
                </a:solidFill>
                <a:latin typeface="Aptos" pitchFamily="34" charset="0"/>
                <a:ea typeface="Aptos" pitchFamily="34" charset="-122"/>
                <a:cs typeface="Aptos" pitchFamily="34" charset="-120"/>
              </a:rPr>
              <a:t>APPENDIX D • BONUS CHALLENGES AND HONEST SCOPE</a:t>
            </a:r>
            <a:endParaRPr lang="en-US" sz="1000" dirty="0"/>
          </a:p>
        </p:txBody>
      </p:sp>
      <p:sp>
        <p:nvSpPr>
          <p:cNvPr id="7" name="Text 5"/>
          <p:cNvSpPr/>
          <p:nvPr/>
        </p:nvSpPr>
        <p:spPr>
          <a:xfrm>
            <a:off x="548640" y="822960"/>
            <a:ext cx="11064240" cy="585216"/>
          </a:xfrm>
          <a:prstGeom prst="rect">
            <a:avLst/>
          </a:prstGeom>
          <a:noFill/>
          <a:ln/>
        </p:spPr>
        <p:txBody>
          <a:bodyPr wrap="square" lIns="0" tIns="0" rIns="0" bIns="0" rtlCol="0" anchor="ctr"/>
          <a:lstStyle/>
          <a:p>
            <a:pPr indent="0" marL="0">
              <a:buNone/>
            </a:pPr>
            <a:r>
              <a:rPr lang="en-US" sz="3000" dirty="0">
                <a:solidFill>
                  <a:srgbClr val="F5EEE5"/>
                </a:solidFill>
                <a:latin typeface="Georgia" pitchFamily="34" charset="0"/>
                <a:ea typeface="Georgia" pitchFamily="34" charset="-122"/>
                <a:cs typeface="Georgia" pitchFamily="34" charset="-120"/>
              </a:rPr>
              <a:t>Useful extras, with explicit boundaries</a:t>
            </a:r>
            <a:endParaRPr lang="en-US" sz="3000" dirty="0"/>
          </a:p>
        </p:txBody>
      </p:sp>
      <p:sp>
        <p:nvSpPr>
          <p:cNvPr id="8" name="Text 6"/>
          <p:cNvSpPr/>
          <p:nvPr/>
        </p:nvSpPr>
        <p:spPr>
          <a:xfrm>
            <a:off x="566928" y="1517904"/>
            <a:ext cx="10972800" cy="429768"/>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These features are implemented as prototype tools, not confirmed scientific discovery services.</a:t>
            </a:r>
            <a:endParaRPr lang="en-US" sz="1400" dirty="0"/>
          </a:p>
        </p:txBody>
      </p:sp>
      <p:pic>
        <p:nvPicPr>
          <p:cNvPr id="9" name="Image 0" descr="C:\Users\Aalam\Desktop\trpc-monorepo\pecathon\docs\presentation\assets\signals.png">    </p:cNvPr>
          <p:cNvPicPr>
            <a:picLocks noChangeAspect="1"/>
          </p:cNvPicPr>
          <p:nvPr/>
        </p:nvPicPr>
        <p:blipFill>
          <a:blip r:embed="rId1"/>
          <a:stretch>
            <a:fillRect/>
          </a:stretch>
        </p:blipFill>
        <p:spPr>
          <a:xfrm>
            <a:off x="594360" y="2390333"/>
            <a:ext cx="6309360" cy="2031614"/>
          </a:xfrm>
          <a:prstGeom prst="rect">
            <a:avLst/>
          </a:prstGeom>
        </p:spPr>
      </p:pic>
      <p:sp>
        <p:nvSpPr>
          <p:cNvPr id="10" name="Text 7"/>
          <p:cNvSpPr/>
          <p:nvPr/>
        </p:nvSpPr>
        <p:spPr>
          <a:xfrm>
            <a:off x="658368" y="4709160"/>
            <a:ext cx="6080760" cy="329184"/>
          </a:xfrm>
          <a:prstGeom prst="rect">
            <a:avLst/>
          </a:prstGeom>
          <a:noFill/>
          <a:ln/>
        </p:spPr>
        <p:txBody>
          <a:bodyPr wrap="square" lIns="0" tIns="0" rIns="0" bIns="0" rtlCol="0" anchor="ctr"/>
          <a:lstStyle/>
          <a:p>
            <a:pPr indent="0" marL="0">
              <a:buNone/>
            </a:pPr>
            <a:r>
              <a:rPr lang="en-US" sz="1400" dirty="0">
                <a:solidFill>
                  <a:srgbClr val="B5BED5"/>
                </a:solidFill>
                <a:latin typeface="Aptos" pitchFamily="34" charset="0"/>
                <a:ea typeface="Aptos" pitchFamily="34" charset="-122"/>
                <a:cs typeface="Aptos" pitchFamily="34" charset="-120"/>
              </a:rPr>
              <a:t>Synthetic light-curve screening output</a:t>
            </a:r>
            <a:endParaRPr lang="en-US" sz="1400" dirty="0"/>
          </a:p>
        </p:txBody>
      </p:sp>
      <p:sp>
        <p:nvSpPr>
          <p:cNvPr id="11" name="Text 8"/>
          <p:cNvSpPr/>
          <p:nvPr/>
        </p:nvSpPr>
        <p:spPr>
          <a:xfrm>
            <a:off x="7159752" y="2221992"/>
            <a:ext cx="182880" cy="402336"/>
          </a:xfrm>
          <a:prstGeom prst="rect">
            <a:avLst/>
          </a:prstGeom>
          <a:noFill/>
          <a:ln/>
        </p:spPr>
        <p:txBody>
          <a:bodyPr wrap="square" lIns="0" tIns="0" rIns="0" bIns="0" rtlCol="0" anchor="ctr"/>
          <a:lstStyle/>
          <a:p>
            <a:pPr indent="0" marL="0">
              <a:buNone/>
            </a:pPr>
            <a:r>
              <a:rPr lang="en-US" sz="1700" dirty="0">
                <a:solidFill>
                  <a:srgbClr val="EFBD73"/>
                </a:solidFill>
                <a:latin typeface="Aptos" pitchFamily="34" charset="0"/>
                <a:ea typeface="Aptos" pitchFamily="34" charset="-122"/>
                <a:cs typeface="Aptos" pitchFamily="34" charset="-120"/>
              </a:rPr>
              <a:t>•</a:t>
            </a:r>
            <a:endParaRPr lang="en-US" sz="1700" dirty="0"/>
          </a:p>
        </p:txBody>
      </p:sp>
      <p:sp>
        <p:nvSpPr>
          <p:cNvPr id="12" name="Text 9"/>
          <p:cNvSpPr/>
          <p:nvPr/>
        </p:nvSpPr>
        <p:spPr>
          <a:xfrm>
            <a:off x="7415784" y="2221992"/>
            <a:ext cx="4197096" cy="457200"/>
          </a:xfrm>
          <a:prstGeom prst="rect">
            <a:avLst/>
          </a:prstGeom>
          <a:noFill/>
          <a:ln/>
        </p:spPr>
        <p:txBody>
          <a:bodyPr wrap="square" lIns="0" tIns="0" rIns="0" bIns="0" rtlCol="0" anchor="t"/>
          <a:lstStyle/>
          <a:p>
            <a:pPr indent="0" marL="0">
              <a:buNone/>
            </a:pPr>
            <a:r>
              <a:rPr lang="en-US" sz="1700" dirty="0">
                <a:solidFill>
                  <a:srgbClr val="F5EEE5"/>
                </a:solidFill>
                <a:latin typeface="Aptos" pitchFamily="34" charset="0"/>
                <a:ea typeface="Aptos" pitchFamily="34" charset="-122"/>
                <a:cs typeface="Aptos" pitchFamily="34" charset="-120"/>
              </a:rPr>
              <a:t>SkyView: on-demand archival survey JPEGs, not live telescope video.</a:t>
            </a:r>
            <a:endParaRPr lang="en-US" sz="1700" dirty="0"/>
          </a:p>
        </p:txBody>
      </p:sp>
      <p:sp>
        <p:nvSpPr>
          <p:cNvPr id="13" name="Text 10"/>
          <p:cNvSpPr/>
          <p:nvPr/>
        </p:nvSpPr>
        <p:spPr>
          <a:xfrm>
            <a:off x="7159752" y="3108960"/>
            <a:ext cx="182880" cy="402336"/>
          </a:xfrm>
          <a:prstGeom prst="rect">
            <a:avLst/>
          </a:prstGeom>
          <a:noFill/>
          <a:ln/>
        </p:spPr>
        <p:txBody>
          <a:bodyPr wrap="square" lIns="0" tIns="0" rIns="0" bIns="0" rtlCol="0" anchor="ctr"/>
          <a:lstStyle/>
          <a:p>
            <a:pPr indent="0" marL="0">
              <a:buNone/>
            </a:pPr>
            <a:r>
              <a:rPr lang="en-US" sz="1700" dirty="0">
                <a:solidFill>
                  <a:srgbClr val="EFBD73"/>
                </a:solidFill>
                <a:latin typeface="Aptos" pitchFamily="34" charset="0"/>
                <a:ea typeface="Aptos" pitchFamily="34" charset="-122"/>
                <a:cs typeface="Aptos" pitchFamily="34" charset="-120"/>
              </a:rPr>
              <a:t>•</a:t>
            </a:r>
            <a:endParaRPr lang="en-US" sz="1700" dirty="0"/>
          </a:p>
        </p:txBody>
      </p:sp>
      <p:sp>
        <p:nvSpPr>
          <p:cNvPr id="14" name="Text 11"/>
          <p:cNvSpPr/>
          <p:nvPr/>
        </p:nvSpPr>
        <p:spPr>
          <a:xfrm>
            <a:off x="7415784" y="3108960"/>
            <a:ext cx="4197096" cy="457200"/>
          </a:xfrm>
          <a:prstGeom prst="rect">
            <a:avLst/>
          </a:prstGeom>
          <a:noFill/>
          <a:ln/>
        </p:spPr>
        <p:txBody>
          <a:bodyPr wrap="square" lIns="0" tIns="0" rIns="0" bIns="0" rtlCol="0" anchor="t"/>
          <a:lstStyle/>
          <a:p>
            <a:pPr indent="0" marL="0">
              <a:buNone/>
            </a:pPr>
            <a:r>
              <a:rPr lang="en-US" sz="1700" dirty="0">
                <a:solidFill>
                  <a:srgbClr val="F5EEE5"/>
                </a:solidFill>
                <a:latin typeface="Aptos" pitchFamily="34" charset="0"/>
                <a:ea typeface="Aptos" pitchFamily="34" charset="-122"/>
                <a:cs typeface="Aptos" pitchFamily="34" charset="-120"/>
              </a:rPr>
              <a:t>Signals: CSV median / MAD screening, not confirmed transient discovery.</a:t>
            </a:r>
            <a:endParaRPr lang="en-US" sz="1700" dirty="0"/>
          </a:p>
        </p:txBody>
      </p:sp>
      <p:sp>
        <p:nvSpPr>
          <p:cNvPr id="15" name="Text 12"/>
          <p:cNvSpPr/>
          <p:nvPr/>
        </p:nvSpPr>
        <p:spPr>
          <a:xfrm>
            <a:off x="7159752" y="3995928"/>
            <a:ext cx="182880" cy="402336"/>
          </a:xfrm>
          <a:prstGeom prst="rect">
            <a:avLst/>
          </a:prstGeom>
          <a:noFill/>
          <a:ln/>
        </p:spPr>
        <p:txBody>
          <a:bodyPr wrap="square" lIns="0" tIns="0" rIns="0" bIns="0" rtlCol="0" anchor="ctr"/>
          <a:lstStyle/>
          <a:p>
            <a:pPr indent="0" marL="0">
              <a:buNone/>
            </a:pPr>
            <a:r>
              <a:rPr lang="en-US" sz="1700" dirty="0">
                <a:solidFill>
                  <a:srgbClr val="EFBD73"/>
                </a:solidFill>
                <a:latin typeface="Aptos" pitchFamily="34" charset="0"/>
                <a:ea typeface="Aptos" pitchFamily="34" charset="-122"/>
                <a:cs typeface="Aptos" pitchFamily="34" charset="-120"/>
              </a:rPr>
              <a:t>•</a:t>
            </a:r>
            <a:endParaRPr lang="en-US" sz="1700" dirty="0"/>
          </a:p>
        </p:txBody>
      </p:sp>
      <p:sp>
        <p:nvSpPr>
          <p:cNvPr id="16" name="Text 13"/>
          <p:cNvSpPr/>
          <p:nvPr/>
        </p:nvSpPr>
        <p:spPr>
          <a:xfrm>
            <a:off x="7415784" y="3995928"/>
            <a:ext cx="4197096" cy="457200"/>
          </a:xfrm>
          <a:prstGeom prst="rect">
            <a:avLst/>
          </a:prstGeom>
          <a:noFill/>
          <a:ln/>
        </p:spPr>
        <p:txBody>
          <a:bodyPr wrap="square" lIns="0" tIns="0" rIns="0" bIns="0" rtlCol="0" anchor="t"/>
          <a:lstStyle/>
          <a:p>
            <a:pPr indent="0" marL="0">
              <a:buNone/>
            </a:pPr>
            <a:r>
              <a:rPr lang="en-US" sz="1700" dirty="0">
                <a:solidFill>
                  <a:srgbClr val="F5EEE5"/>
                </a:solidFill>
                <a:latin typeface="Aptos" pitchFamily="34" charset="0"/>
                <a:ea typeface="Aptos" pitchFamily="34" charset="-122"/>
                <a:cs typeface="Aptos" pitchFamily="34" charset="-120"/>
              </a:rPr>
              <a:t>Honor: 25 points per unique observation, stored on this device.</a:t>
            </a:r>
            <a:endParaRPr lang="en-US" sz="1700" dirty="0"/>
          </a:p>
        </p:txBody>
      </p:sp>
      <p:sp>
        <p:nvSpPr>
          <p:cNvPr id="17" name="Text 14"/>
          <p:cNvSpPr/>
          <p:nvPr/>
        </p:nvSpPr>
        <p:spPr>
          <a:xfrm>
            <a:off x="7159752" y="4882896"/>
            <a:ext cx="182880" cy="402336"/>
          </a:xfrm>
          <a:prstGeom prst="rect">
            <a:avLst/>
          </a:prstGeom>
          <a:noFill/>
          <a:ln/>
        </p:spPr>
        <p:txBody>
          <a:bodyPr wrap="square" lIns="0" tIns="0" rIns="0" bIns="0" rtlCol="0" anchor="ctr"/>
          <a:lstStyle/>
          <a:p>
            <a:pPr indent="0" marL="0">
              <a:buNone/>
            </a:pPr>
            <a:r>
              <a:rPr lang="en-US" sz="1700" dirty="0">
                <a:solidFill>
                  <a:srgbClr val="EFBD73"/>
                </a:solidFill>
                <a:latin typeface="Aptos" pitchFamily="34" charset="0"/>
                <a:ea typeface="Aptos" pitchFamily="34" charset="-122"/>
                <a:cs typeface="Aptos" pitchFamily="34" charset="-120"/>
              </a:rPr>
              <a:t>•</a:t>
            </a:r>
            <a:endParaRPr lang="en-US" sz="1700" dirty="0"/>
          </a:p>
        </p:txBody>
      </p:sp>
      <p:sp>
        <p:nvSpPr>
          <p:cNvPr id="18" name="Text 15"/>
          <p:cNvSpPr/>
          <p:nvPr/>
        </p:nvSpPr>
        <p:spPr>
          <a:xfrm>
            <a:off x="7415784" y="4882896"/>
            <a:ext cx="4197096" cy="457200"/>
          </a:xfrm>
          <a:prstGeom prst="rect">
            <a:avLst/>
          </a:prstGeom>
          <a:noFill/>
          <a:ln/>
        </p:spPr>
        <p:txBody>
          <a:bodyPr wrap="square" lIns="0" tIns="0" rIns="0" bIns="0" rtlCol="0" anchor="t"/>
          <a:lstStyle/>
          <a:p>
            <a:pPr indent="0" marL="0">
              <a:buNone/>
            </a:pPr>
            <a:r>
              <a:rPr lang="en-US" sz="1700" dirty="0">
                <a:solidFill>
                  <a:srgbClr val="F5EEE5"/>
                </a:solidFill>
                <a:latin typeface="Aptos" pitchFamily="34" charset="0"/>
                <a:ea typeface="Aptos" pitchFamily="34" charset="-122"/>
                <a:cs typeface="Aptos" pitchFamily="34" charset="-120"/>
              </a:rPr>
              <a:t>Push: persistent jobs exist; closed-app delivery needs an active scheduler.</a:t>
            </a:r>
            <a:endParaRPr lang="en-US" sz="1700" dirty="0"/>
          </a:p>
        </p:txBody>
      </p:sp>
      <p:sp>
        <p:nvSpPr>
          <p:cNvPr id="19" name="Shape 16"/>
          <p:cNvSpPr/>
          <p:nvPr/>
        </p:nvSpPr>
        <p:spPr>
          <a:xfrm>
            <a:off x="594360" y="5815584"/>
            <a:ext cx="10991088" cy="320040"/>
          </a:xfrm>
          <a:prstGeom prst="rect">
            <a:avLst/>
          </a:prstGeom>
          <a:solidFill>
            <a:srgbClr val="212A46"/>
          </a:solidFill>
          <a:ln w="7620">
            <a:solidFill>
              <a:srgbClr val="212A46"/>
            </a:solidFill>
            <a:prstDash val="solid"/>
          </a:ln>
        </p:spPr>
      </p:sp>
      <p:sp>
        <p:nvSpPr>
          <p:cNvPr id="20" name="Text 17"/>
          <p:cNvSpPr/>
          <p:nvPr/>
        </p:nvSpPr>
        <p:spPr>
          <a:xfrm>
            <a:off x="685800" y="5852160"/>
            <a:ext cx="10808208" cy="228600"/>
          </a:xfrm>
          <a:prstGeom prst="rect">
            <a:avLst/>
          </a:prstGeom>
          <a:noFill/>
          <a:ln/>
        </p:spPr>
        <p:txBody>
          <a:bodyPr wrap="square" lIns="0" tIns="0" rIns="0" bIns="0" rtlCol="0" anchor="ctr"/>
          <a:lstStyle/>
          <a:p>
            <a:pPr indent="0" marL="0">
              <a:buNone/>
            </a:pPr>
            <a:r>
              <a:rPr lang="en-US" sz="1100" dirty="0">
                <a:solidFill>
                  <a:srgbClr val="EFBD73"/>
                </a:solidFill>
                <a:latin typeface="Aptos" pitchFamily="34" charset="0"/>
                <a:ea typeface="Aptos" pitchFamily="34" charset="-122"/>
                <a:cs typeface="Aptos" pitchFamily="34" charset="-120"/>
              </a:rPr>
              <a:t>NEXT: more destinations • calibrated validation • authenticated sync • reliable scheduling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PECathon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Tsukuyomi Watch — The Samurai’s Celestial Guide</dc:title>
  <dc:subject>PS-002 hackathon demonstration and evidence-based readiness review</dc:subject>
  <dc:creator>Team PF-K96JPZ</dc:creator>
  <cp:lastModifiedBy>Team PF-K96JPZ</cp:lastModifiedBy>
  <cp:revision>1</cp:revision>
  <dcterms:created xsi:type="dcterms:W3CDTF">2026-10-29T23:44:43Z</dcterms:created>
  <dcterms:modified xsi:type="dcterms:W3CDTF">2026-10-29T23:44:43Z</dcterms:modified>
</cp:coreProperties>
</file>