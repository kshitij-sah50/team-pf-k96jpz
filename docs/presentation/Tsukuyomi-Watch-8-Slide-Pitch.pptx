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We built Tsukuyomi Watch for PS-002. Our goal is to connect the decisions an observer makes: where to go, when to look and how to inspect a noisy image. The Japanese-inspired theme gives the journey a coherent identity. Team PF-K96JPZ. Live app: https://tsukuyomi-watch.vercel.app. Repository: https://github.com/PECathon-2026/Team-PF-K96JPZ. This is a working prototype, with explicit scientific and operational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Explain the shared user problem rather than reciting APIs. A student planning an observing night has to assemble location, weather and event information, then understand the resulting images. Our intended users are clubs, students and hobbyists; we are not claiming measured adoption or completed user research. PS-002 asks for four core modules, and we join them into a single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Watchtower is the location finder. Worldwide city suggestions are separate from the current six Indian observing destinations. A selected city becomes a search origin; not every city has a curated spot nearby. Weather is the next future nighttime forecast, not a live sensor. Night Honor Score uses cloud/humidity/visibility only, excluding light pollution and moonlight. Celestial Scroll uses a Japanese Kyureki month view with leap months and Gregorian labels. Eclipses are global maxima, meteors are approximate windows, launches can change, and ISS predictions require fresh elements. Reminders include local toasts, calendar export and persistent browser-push infrastructure, with scheduler and permission prerequisites. Screenshot is actual production UI captured 30 October 2026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Users can upload PNG/JPEG/WebP. A bounded RGB preview of at most 768px is processed locally with hash-verified DnCNN ONNX WASM. Detected source regions and conservative blend limits reduce change. Optional Richardson–Lucy deblur is conventional and assumes a Gaussian PSF. The Dojo visualization is inside Spirit Lens: slider, zoom/pan, overlays and exports. The displayed screenshot uses an explicitly synthetic fixture, not a real telescope photograph or independent scientific benchmark. Galaxy labels are tentative; brightness is uncalibrated pixel data. SSIM/PSNR compare output with noisy input, not clean truth. We do not claim guaranteed faint-feature preservation, full-resolution FITS/RAW or 16-bit science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Trace the boundary, not just framework names. UI calls the typed tRPC API through the same web origin. Zod validates incoming values; services own provider calls and business rules; Drizzle accesses Neon. Vercel hosts the frontend and fixed-host city/SkyView routes; Render hosts Express. City suggestions do not depend on the destination database. Local user-selected image pixels stay in the browser worker. Model assets are verified before inference; credentials remain server-side. Alerts use persisted anonymous-device jobs and a separate periodic scheduler. Some account/Honor schema is foundation work; current Honor journal remains device-local.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NASA SkyView is on-demand archival retrieval, not a live telescope stream. CSV signals use robust median/MAD screening, not confirmed discoveries. Honor is self-reported and local, not a verified leaderboard. Themes are four motif palettes with independent light/dark mode, Japanese meanings, hover/focus navigation explanations and motion controls. Our contribution is integration, privacy-conscious local inspection and the cultural interaction design; we did not invent DnCNN, SGP4 or the astronomy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Updated suite: 31 test cases across nine files, zero failures. Three city-geocoding cases were added to the historical 28-case baseline. See test-results-current.txt; this count is not a measured coverage percentage. Frontend Next.js and backend tsup builds pass. The live app has demonstrated map/calendar and synthetic AI flows. Existing database ownership integration is separate historical evidence and not included in 31. Missing evidence includes CI, broader E2E, physical closed-app push receipt, load/accessibility review and labelled astronomy benchmarks. No measured adoption or accuracy benefits are claimed. Free hosting can sleep and providers can be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Close on the user outcome. We want to help clubs and students plan a first observing night and inspect the light they capture. The next step is a club pilot: measure planning effort, observing success and trust in image inspection, then expand destinations. We need astronomy benchmarks and dependable scheduling before stronger claims. Invite the panel to try the live app. Do not imply that future authentication/sync, a paid scheduler or a larger catalogue already exists. Total talk track is about 4 minutes 20 seconds; allow the remaining time for a short live interaction 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tsukuyomi-watch.vercel.app"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tsukuyomi-watch.vercel.app" TargetMode="External"/><Relationship Id="rId2" Type="http://schemas.openxmlformats.org/officeDocument/2006/relationships/hyperlink" Target="https://github.com/PECathon-2026/Team-PF-K96JPZ"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12700">
            <a:solidFill>
              <a:srgbClr val="C94B55"/>
            </a:solidFill>
            <a:prstDash val="solid"/>
          </a:ln>
        </p:spPr>
      </p:sp>
      <p:sp>
        <p:nvSpPr>
          <p:cNvPr id="3" name="Text 1"/>
          <p:cNvSpPr/>
          <p:nvPr/>
        </p:nvSpPr>
        <p:spPr>
          <a:xfrm>
            <a:off x="548640" y="320040"/>
            <a:ext cx="10972800" cy="228600"/>
          </a:xfrm>
          <a:prstGeom prst="rect">
            <a:avLst/>
          </a:prstGeom>
          <a:noFill/>
          <a:ln/>
        </p:spPr>
        <p:txBody>
          <a:bodyPr wrap="square" lIns="0" tIns="0" rIns="0" bIns="0" rtlCol="0" anchor="ctr"/>
          <a:lstStyle/>
          <a:p>
            <a:pPr indent="0" marL="0">
              <a:buNone/>
            </a:pPr>
            <a:r>
              <a:rPr lang="en-US" sz="1000" spc="200" kern="0" dirty="0">
                <a:solidFill>
                  <a:srgbClr val="EFBD73"/>
                </a:solidFill>
                <a:latin typeface="Aptos" pitchFamily="34" charset="0"/>
                <a:ea typeface="Aptos" pitchFamily="34" charset="-122"/>
                <a:cs typeface="Aptos" pitchFamily="34" charset="-120"/>
              </a:rPr>
              <a:t>THE SAMURAI’S CELESTIAL GUIDE</a:t>
            </a:r>
            <a:endParaRPr lang="en-US" sz="1000" dirty="0"/>
          </a:p>
        </p:txBody>
      </p:sp>
      <p:sp>
        <p:nvSpPr>
          <p:cNvPr id="4" name="Text 2"/>
          <p:cNvSpPr/>
          <p:nvPr/>
        </p:nvSpPr>
        <p:spPr>
          <a:xfrm>
            <a:off x="548640" y="841248"/>
            <a:ext cx="11064240" cy="640080"/>
          </a:xfrm>
          <a:prstGeom prst="rect">
            <a:avLst/>
          </a:prstGeom>
          <a:noFill/>
          <a:ln/>
        </p:spPr>
        <p:txBody>
          <a:bodyPr wrap="square" lIns="0" tIns="0" rIns="0" bIns="0" rtlCol="0" anchor="ctr"/>
          <a:lstStyle/>
          <a:p>
            <a:pPr indent="0" marL="0">
              <a:buNone/>
            </a:pPr>
            <a:r>
              <a:rPr lang="en-US" sz="3100" dirty="0">
                <a:solidFill>
                  <a:srgbClr val="F5EEE5"/>
                </a:solidFill>
                <a:latin typeface="Georgia" pitchFamily="34" charset="0"/>
                <a:ea typeface="Georgia" pitchFamily="34" charset="-122"/>
                <a:cs typeface="Georgia" pitchFamily="34" charset="-120"/>
              </a:rPr>
              <a:t>Tsukuyomi Watch</a:t>
            </a:r>
            <a:endParaRPr lang="en-US" sz="3100" dirty="0"/>
          </a:p>
        </p:txBody>
      </p:sp>
      <p:sp>
        <p:nvSpPr>
          <p:cNvPr id="5" name="Text 3"/>
          <p:cNvSpPr/>
          <p:nvPr/>
        </p:nvSpPr>
        <p:spPr>
          <a:xfrm>
            <a:off x="566928" y="1618488"/>
            <a:ext cx="10972800" cy="457200"/>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A Japanese-inspired guide from observing plans to astronomical image inspection.</a:t>
            </a:r>
            <a:endParaRPr lang="en-US" sz="1500" dirty="0"/>
          </a:p>
        </p:txBody>
      </p:sp>
      <p:sp>
        <p:nvSpPr>
          <p:cNvPr id="6" name="Shape 4"/>
          <p:cNvSpPr/>
          <p:nvPr/>
        </p:nvSpPr>
        <p:spPr>
          <a:xfrm>
            <a:off x="502920" y="6382512"/>
            <a:ext cx="11183112" cy="0"/>
          </a:xfrm>
          <a:prstGeom prst="line">
            <a:avLst/>
          </a:prstGeom>
          <a:noFill/>
          <a:ln w="12700">
            <a:solidFill>
              <a:srgbClr val="2D3651"/>
            </a:solidFill>
            <a:prstDash val="solid"/>
          </a:ln>
        </p:spPr>
      </p:sp>
      <p:sp>
        <p:nvSpPr>
          <p:cNvPr id="7" name="Text 5"/>
          <p:cNvSpPr/>
          <p:nvPr/>
        </p:nvSpPr>
        <p:spPr>
          <a:xfrm>
            <a:off x="548640" y="6519672"/>
            <a:ext cx="10058400" cy="137160"/>
          </a:xfrm>
          <a:prstGeom prst="rect">
            <a:avLst/>
          </a:prstGeom>
          <a:noFill/>
          <a:ln/>
        </p:spPr>
        <p:txBody>
          <a:bodyPr wrap="square" lIns="0" tIns="0" rIns="0" bIns="0" rtlCol="0" anchor="ctr"/>
          <a:lstStyle/>
          <a:p>
            <a:pPr indent="0" marL="0">
              <a:buNone/>
            </a:pPr>
            <a:r>
              <a:rPr lang="en-US" sz="900" spc="100" kern="0" dirty="0">
                <a:solidFill>
                  <a:srgbClr val="B5BED5"/>
                </a:solidFill>
                <a:latin typeface="Aptos" pitchFamily="34" charset="0"/>
                <a:ea typeface="Aptos" pitchFamily="34" charset="-122"/>
                <a:cs typeface="Aptos" pitchFamily="34" charset="-120"/>
              </a:rPr>
              <a:t>TEAM PF-K96JPZ  /  PS-002  /  PECATHON 2026</a:t>
            </a:r>
            <a:endParaRPr lang="en-US" sz="900" dirty="0"/>
          </a:p>
        </p:txBody>
      </p:sp>
      <p:sp>
        <p:nvSpPr>
          <p:cNvPr id="8" name="Text 6"/>
          <p:cNvSpPr/>
          <p:nvPr/>
        </p:nvSpPr>
        <p:spPr>
          <a:xfrm>
            <a:off x="10972800" y="6483096"/>
            <a:ext cx="685800" cy="219456"/>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1 / 8</a:t>
            </a:r>
            <a:endParaRPr lang="en-US" sz="1000" dirty="0"/>
          </a:p>
        </p:txBody>
      </p:sp>
      <p:sp>
        <p:nvSpPr>
          <p:cNvPr id="9" name="Text 7"/>
          <p:cNvSpPr/>
          <p:nvPr/>
        </p:nvSpPr>
        <p:spPr>
          <a:xfrm>
            <a:off x="621792" y="2286000"/>
            <a:ext cx="7315200" cy="1920240"/>
          </a:xfrm>
          <a:prstGeom prst="rect">
            <a:avLst/>
          </a:prstGeom>
          <a:noFill/>
          <a:ln/>
        </p:spPr>
        <p:txBody>
          <a:bodyPr wrap="square" lIns="0" tIns="0" rIns="0" bIns="0" rtlCol="0" anchor="ctr"/>
          <a:lstStyle/>
          <a:p>
            <a:pPr indent="0" marL="0">
              <a:buNone/>
            </a:pPr>
            <a:r>
              <a:rPr lang="en-US" sz="3600" dirty="0">
                <a:solidFill>
                  <a:srgbClr val="F5EEE5"/>
                </a:solidFill>
                <a:latin typeface="Georgia" pitchFamily="34" charset="0"/>
                <a:ea typeface="Georgia" pitchFamily="34" charset="-122"/>
                <a:cs typeface="Georgia" pitchFamily="34" charset="-120"/>
              </a:rPr>
              <a:t>Choose your place.</a:t>
            </a:r>
            <a:endParaRPr lang="en-US" sz="3600" dirty="0"/>
          </a:p>
          <a:p>
            <a:pPr indent="0" marL="0">
              <a:buNone/>
            </a:pPr>
            <a:r>
              <a:rPr lang="en-US" sz="3600" dirty="0">
                <a:solidFill>
                  <a:srgbClr val="F5EEE5"/>
                </a:solidFill>
                <a:latin typeface="Georgia" pitchFamily="34" charset="0"/>
                <a:ea typeface="Georgia" pitchFamily="34" charset="-122"/>
                <a:cs typeface="Georgia" pitchFamily="34" charset="-120"/>
              </a:rPr>
              <a:t>Find your moment.</a:t>
            </a:r>
            <a:endParaRPr lang="en-US" sz="3600" dirty="0"/>
          </a:p>
          <a:p>
            <a:pPr indent="0" marL="0">
              <a:buNone/>
            </a:pPr>
            <a:r>
              <a:rPr lang="en-US" sz="3600" dirty="0">
                <a:solidFill>
                  <a:srgbClr val="F5EEE5"/>
                </a:solidFill>
                <a:latin typeface="Georgia" pitchFamily="34" charset="0"/>
                <a:ea typeface="Georgia" pitchFamily="34" charset="-122"/>
                <a:cs typeface="Georgia" pitchFamily="34" charset="-120"/>
              </a:rPr>
              <a:t>Explore the faint light.</a:t>
            </a:r>
            <a:endParaRPr lang="en-US" sz="3600" dirty="0"/>
          </a:p>
        </p:txBody>
      </p:sp>
      <p:sp>
        <p:nvSpPr>
          <p:cNvPr id="10" name="Text 8"/>
          <p:cNvSpPr/>
          <p:nvPr/>
        </p:nvSpPr>
        <p:spPr>
          <a:xfrm>
            <a:off x="640080" y="4645152"/>
            <a:ext cx="7680960" cy="530352"/>
          </a:xfrm>
          <a:prstGeom prst="rect">
            <a:avLst/>
          </a:prstGeom>
          <a:noFill/>
          <a:ln/>
        </p:spPr>
        <p:txBody>
          <a:bodyPr wrap="square" lIns="0" tIns="0" rIns="0" bIns="0" rtlCol="0" anchor="ctr"/>
          <a:lstStyle/>
          <a:p>
            <a:pPr indent="0" marL="0">
              <a:buNone/>
            </a:pPr>
            <a:r>
              <a:rPr lang="en-US" sz="2000" dirty="0">
                <a:solidFill>
                  <a:srgbClr val="B5BED5"/>
                </a:solidFill>
                <a:latin typeface="Aptos" pitchFamily="34" charset="0"/>
                <a:ea typeface="Aptos" pitchFamily="34" charset="-122"/>
                <a:cs typeface="Aptos" pitchFamily="34" charset="-120"/>
              </a:rPr>
              <a:t>Nighttime weather • cosmic events • local AI restoration</a:t>
            </a:r>
            <a:endParaRPr lang="en-US" sz="2000" dirty="0"/>
          </a:p>
        </p:txBody>
      </p:sp>
      <p:sp>
        <p:nvSpPr>
          <p:cNvPr id="11" name="Shape 9"/>
          <p:cNvSpPr/>
          <p:nvPr/>
        </p:nvSpPr>
        <p:spPr>
          <a:xfrm>
            <a:off x="8933688" y="2331720"/>
            <a:ext cx="1920240" cy="1920240"/>
          </a:xfrm>
          <a:prstGeom prst="ellipse">
            <a:avLst/>
          </a:prstGeom>
          <a:solidFill>
            <a:srgbClr val="EFBD73"/>
          </a:solidFill>
          <a:ln w="12700">
            <a:solidFill>
              <a:srgbClr val="EFBD73"/>
            </a:solidFill>
            <a:prstDash val="solid"/>
          </a:ln>
        </p:spPr>
      </p:sp>
      <p:sp>
        <p:nvSpPr>
          <p:cNvPr id="12" name="Shape 10"/>
          <p:cNvSpPr/>
          <p:nvPr/>
        </p:nvSpPr>
        <p:spPr>
          <a:xfrm>
            <a:off x="9354312" y="2103120"/>
            <a:ext cx="1920240" cy="1920240"/>
          </a:xfrm>
          <a:prstGeom prst="ellipse">
            <a:avLst/>
          </a:prstGeom>
          <a:solidFill>
            <a:srgbClr val="0C1024"/>
          </a:solidFill>
          <a:ln w="12700">
            <a:solidFill>
              <a:srgbClr val="0C1024"/>
            </a:solidFill>
            <a:prstDash val="solid"/>
          </a:ln>
        </p:spPr>
      </p:sp>
      <p:sp>
        <p:nvSpPr>
          <p:cNvPr id="13" name="Shape 11"/>
          <p:cNvSpPr/>
          <p:nvPr/>
        </p:nvSpPr>
        <p:spPr>
          <a:xfrm>
            <a:off x="8357616" y="4754880"/>
            <a:ext cx="2926080" cy="0"/>
          </a:xfrm>
          <a:prstGeom prst="line">
            <a:avLst/>
          </a:prstGeom>
          <a:noFill/>
          <a:ln w="63500">
            <a:solidFill>
              <a:srgbClr val="C94B55"/>
            </a:solidFill>
            <a:prstDash val="solid"/>
          </a:ln>
        </p:spPr>
      </p:sp>
      <p:sp>
        <p:nvSpPr>
          <p:cNvPr id="14" name="Shape 12"/>
          <p:cNvSpPr/>
          <p:nvPr/>
        </p:nvSpPr>
        <p:spPr>
          <a:xfrm>
            <a:off x="8577072" y="5010912"/>
            <a:ext cx="2487168" cy="0"/>
          </a:xfrm>
          <a:prstGeom prst="line">
            <a:avLst/>
          </a:prstGeom>
          <a:noFill/>
          <a:ln w="25400">
            <a:solidFill>
              <a:srgbClr val="EFBD73"/>
            </a:solidFill>
            <a:prstDash val="solid"/>
          </a:ln>
        </p:spPr>
      </p:sp>
      <p:sp>
        <p:nvSpPr>
          <p:cNvPr id="15" name="Shape 13"/>
          <p:cNvSpPr/>
          <p:nvPr/>
        </p:nvSpPr>
        <p:spPr>
          <a:xfrm>
            <a:off x="8842248" y="4754880"/>
            <a:ext cx="0" cy="868680"/>
          </a:xfrm>
          <a:prstGeom prst="line">
            <a:avLst/>
          </a:prstGeom>
          <a:noFill/>
          <a:ln w="63500">
            <a:solidFill>
              <a:srgbClr val="C94B55"/>
            </a:solidFill>
            <a:prstDash val="solid"/>
          </a:ln>
        </p:spPr>
      </p:sp>
      <p:sp>
        <p:nvSpPr>
          <p:cNvPr id="16" name="Shape 14"/>
          <p:cNvSpPr/>
          <p:nvPr/>
        </p:nvSpPr>
        <p:spPr>
          <a:xfrm>
            <a:off x="10799064" y="4754880"/>
            <a:ext cx="0" cy="868680"/>
          </a:xfrm>
          <a:prstGeom prst="line">
            <a:avLst/>
          </a:prstGeom>
          <a:noFill/>
          <a:ln w="63500">
            <a:solidFill>
              <a:srgbClr val="C94B55"/>
            </a:solidFill>
            <a:prstDash val="solid"/>
          </a:ln>
        </p:spPr>
      </p:sp>
      <p:sp>
        <p:nvSpPr>
          <p:cNvPr id="17" name="Text 15">
            <a:hlinkClick r:id="rId1" tooltip=""/>
          </p:cNvPr>
          <p:cNvSpPr/>
          <p:nvPr/>
        </p:nvSpPr>
        <p:spPr>
          <a:xfrm>
            <a:off x="640080" y="5715000"/>
            <a:ext cx="7315200" cy="320040"/>
          </a:xfrm>
          <a:prstGeom prst="rect">
            <a:avLst/>
          </a:prstGeom>
          <a:noFill/>
          <a:ln/>
        </p:spPr>
        <p:txBody>
          <a:bodyPr wrap="square" lIns="0" tIns="0" rIns="0" bIns="0" rtlCol="0" anchor="ctr"/>
          <a:lstStyle/>
          <a:p>
            <a:pPr indent="0" marL="0">
              <a:buNone/>
            </a:pPr>
            <a:r>
              <a:rPr lang="en-US" sz="1800" u="sng" dirty="0">
                <a:solidFill>
                  <a:srgbClr val="EFBD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LIVE  tsukuyomi-watch.vercel.app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12700">
            <a:solidFill>
              <a:srgbClr val="C94B55"/>
            </a:solidFill>
            <a:prstDash val="solid"/>
          </a:ln>
        </p:spPr>
      </p:sp>
      <p:sp>
        <p:nvSpPr>
          <p:cNvPr id="3" name="Text 1"/>
          <p:cNvSpPr/>
          <p:nvPr/>
        </p:nvSpPr>
        <p:spPr>
          <a:xfrm>
            <a:off x="548640" y="320040"/>
            <a:ext cx="10972800" cy="228600"/>
          </a:xfrm>
          <a:prstGeom prst="rect">
            <a:avLst/>
          </a:prstGeom>
          <a:noFill/>
          <a:ln/>
        </p:spPr>
        <p:txBody>
          <a:bodyPr wrap="square" lIns="0" tIns="0" rIns="0" bIns="0" rtlCol="0" anchor="ctr"/>
          <a:lstStyle/>
          <a:p>
            <a:pPr indent="0" marL="0">
              <a:buNone/>
            </a:pPr>
            <a:r>
              <a:rPr lang="en-US" sz="1000" spc="200" kern="0" dirty="0">
                <a:solidFill>
                  <a:srgbClr val="EFBD73"/>
                </a:solidFill>
                <a:latin typeface="Aptos" pitchFamily="34" charset="0"/>
                <a:ea typeface="Aptos" pitchFamily="34" charset="-122"/>
                <a:cs typeface="Aptos" pitchFamily="34" charset="-120"/>
              </a:rPr>
              <a:t>THE PROBLEM</a:t>
            </a:r>
            <a:endParaRPr lang="en-US" sz="1000" dirty="0"/>
          </a:p>
        </p:txBody>
      </p:sp>
      <p:sp>
        <p:nvSpPr>
          <p:cNvPr id="4" name="Text 2"/>
          <p:cNvSpPr/>
          <p:nvPr/>
        </p:nvSpPr>
        <p:spPr>
          <a:xfrm>
            <a:off x="548640" y="841248"/>
            <a:ext cx="11064240" cy="640080"/>
          </a:xfrm>
          <a:prstGeom prst="rect">
            <a:avLst/>
          </a:prstGeom>
          <a:noFill/>
          <a:ln/>
        </p:spPr>
        <p:txBody>
          <a:bodyPr wrap="square" lIns="0" tIns="0" rIns="0" bIns="0" rtlCol="0" anchor="ctr"/>
          <a:lstStyle/>
          <a:p>
            <a:pPr indent="0" marL="0">
              <a:buNone/>
            </a:pPr>
            <a:r>
              <a:rPr lang="en-US" sz="3100" dirty="0">
                <a:solidFill>
                  <a:srgbClr val="F5EEE5"/>
                </a:solidFill>
                <a:latin typeface="Georgia" pitchFamily="34" charset="0"/>
                <a:ea typeface="Georgia" pitchFamily="34" charset="-122"/>
                <a:cs typeface="Georgia" pitchFamily="34" charset="-120"/>
              </a:rPr>
              <a:t>A sky full of possibilities. A fragmented workflow.</a:t>
            </a:r>
            <a:endParaRPr lang="en-US" sz="3100" dirty="0"/>
          </a:p>
        </p:txBody>
      </p:sp>
      <p:sp>
        <p:nvSpPr>
          <p:cNvPr id="5" name="Text 3"/>
          <p:cNvSpPr/>
          <p:nvPr/>
        </p:nvSpPr>
        <p:spPr>
          <a:xfrm>
            <a:off x="566928" y="1618488"/>
            <a:ext cx="10972800" cy="457200"/>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Students and hobby observers must combine several tools before they can begin.</a:t>
            </a:r>
            <a:endParaRPr lang="en-US" sz="1500" dirty="0"/>
          </a:p>
        </p:txBody>
      </p:sp>
      <p:sp>
        <p:nvSpPr>
          <p:cNvPr id="6" name="Shape 4"/>
          <p:cNvSpPr/>
          <p:nvPr/>
        </p:nvSpPr>
        <p:spPr>
          <a:xfrm>
            <a:off x="502920" y="6382512"/>
            <a:ext cx="11183112" cy="0"/>
          </a:xfrm>
          <a:prstGeom prst="line">
            <a:avLst/>
          </a:prstGeom>
          <a:noFill/>
          <a:ln w="12700">
            <a:solidFill>
              <a:srgbClr val="2D3651"/>
            </a:solidFill>
            <a:prstDash val="solid"/>
          </a:ln>
        </p:spPr>
      </p:sp>
      <p:sp>
        <p:nvSpPr>
          <p:cNvPr id="7" name="Text 5"/>
          <p:cNvSpPr/>
          <p:nvPr/>
        </p:nvSpPr>
        <p:spPr>
          <a:xfrm>
            <a:off x="548640" y="6519672"/>
            <a:ext cx="10058400" cy="137160"/>
          </a:xfrm>
          <a:prstGeom prst="rect">
            <a:avLst/>
          </a:prstGeom>
          <a:noFill/>
          <a:ln/>
        </p:spPr>
        <p:txBody>
          <a:bodyPr wrap="square" lIns="0" tIns="0" rIns="0" bIns="0" rtlCol="0" anchor="ctr"/>
          <a:lstStyle/>
          <a:p>
            <a:pPr indent="0" marL="0">
              <a:buNone/>
            </a:pPr>
            <a:r>
              <a:rPr lang="en-US" sz="900" spc="100" kern="0" dirty="0">
                <a:solidFill>
                  <a:srgbClr val="B5BED5"/>
                </a:solidFill>
                <a:latin typeface="Aptos" pitchFamily="34" charset="0"/>
                <a:ea typeface="Aptos" pitchFamily="34" charset="-122"/>
                <a:cs typeface="Aptos" pitchFamily="34" charset="-120"/>
              </a:rPr>
              <a:t>TEAM PF-K96JPZ  /  PS-002  /  PECATHON 2026</a:t>
            </a:r>
            <a:endParaRPr lang="en-US" sz="900" dirty="0"/>
          </a:p>
        </p:txBody>
      </p:sp>
      <p:sp>
        <p:nvSpPr>
          <p:cNvPr id="8" name="Text 6"/>
          <p:cNvSpPr/>
          <p:nvPr/>
        </p:nvSpPr>
        <p:spPr>
          <a:xfrm>
            <a:off x="10972800" y="6483096"/>
            <a:ext cx="685800" cy="219456"/>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2 / 8</a:t>
            </a:r>
            <a:endParaRPr lang="en-US" sz="1000" dirty="0"/>
          </a:p>
        </p:txBody>
      </p:sp>
      <p:sp>
        <p:nvSpPr>
          <p:cNvPr id="9" name="Shape 7"/>
          <p:cNvSpPr/>
          <p:nvPr/>
        </p:nvSpPr>
        <p:spPr>
          <a:xfrm>
            <a:off x="594360" y="2286000"/>
            <a:ext cx="3529584" cy="3429000"/>
          </a:xfrm>
          <a:prstGeom prst="rect">
            <a:avLst/>
          </a:prstGeom>
          <a:solidFill>
            <a:srgbClr val="161D36"/>
          </a:solidFill>
          <a:ln w="12700">
            <a:solidFill>
              <a:srgbClr val="161D36"/>
            </a:solidFill>
            <a:prstDash val="solid"/>
          </a:ln>
        </p:spPr>
      </p:sp>
      <p:sp>
        <p:nvSpPr>
          <p:cNvPr id="10" name="Shape 8"/>
          <p:cNvSpPr/>
          <p:nvPr/>
        </p:nvSpPr>
        <p:spPr>
          <a:xfrm>
            <a:off x="594360" y="2286000"/>
            <a:ext cx="41148" cy="3429000"/>
          </a:xfrm>
          <a:prstGeom prst="rect">
            <a:avLst/>
          </a:prstGeom>
          <a:solidFill>
            <a:srgbClr val="EFBD73"/>
          </a:solidFill>
          <a:ln w="12700">
            <a:solidFill>
              <a:srgbClr val="EFBD73"/>
            </a:solidFill>
            <a:prstDash val="solid"/>
          </a:ln>
        </p:spPr>
      </p:sp>
      <p:sp>
        <p:nvSpPr>
          <p:cNvPr id="11" name="Text 9"/>
          <p:cNvSpPr/>
          <p:nvPr/>
        </p:nvSpPr>
        <p:spPr>
          <a:xfrm>
            <a:off x="777240" y="2487168"/>
            <a:ext cx="3163824" cy="256032"/>
          </a:xfrm>
          <a:prstGeom prst="rect">
            <a:avLst/>
          </a:prstGeom>
          <a:noFill/>
          <a:ln/>
        </p:spPr>
        <p:txBody>
          <a:bodyPr wrap="square" lIns="0" tIns="0" rIns="0" bIns="0" rtlCol="0" anchor="ctr"/>
          <a:lstStyle/>
          <a:p>
            <a:pPr indent="0" marL="0">
              <a:buNone/>
            </a:pPr>
            <a:r>
              <a:rPr lang="en-US" sz="1100" spc="100" kern="0" dirty="0">
                <a:solidFill>
                  <a:srgbClr val="EFBD73"/>
                </a:solidFill>
                <a:latin typeface="Aptos" pitchFamily="34" charset="0"/>
                <a:ea typeface="Aptos" pitchFamily="34" charset="-122"/>
                <a:cs typeface="Aptos" pitchFamily="34" charset="-120"/>
              </a:rPr>
              <a:t>WHERE TO GO</a:t>
            </a:r>
            <a:endParaRPr lang="en-US" sz="1100" dirty="0"/>
          </a:p>
        </p:txBody>
      </p:sp>
      <p:sp>
        <p:nvSpPr>
          <p:cNvPr id="12" name="Text 10"/>
          <p:cNvSpPr/>
          <p:nvPr/>
        </p:nvSpPr>
        <p:spPr>
          <a:xfrm>
            <a:off x="777240" y="2980944"/>
            <a:ext cx="3163824" cy="713232"/>
          </a:xfrm>
          <a:prstGeom prst="rect">
            <a:avLst/>
          </a:prstGeom>
          <a:noFill/>
          <a:ln/>
        </p:spPr>
        <p:txBody>
          <a:bodyPr wrap="square" lIns="0" tIns="0" rIns="0" bIns="0" rtlCol="0" anchor="ctr"/>
          <a:lstStyle/>
          <a:p>
            <a:pPr indent="0" marL="0">
              <a:buNone/>
            </a:pPr>
            <a:r>
              <a:rPr lang="en-US" sz="2400" dirty="0">
                <a:solidFill>
                  <a:srgbClr val="F5EEE5"/>
                </a:solidFill>
                <a:latin typeface="Georgia" pitchFamily="34" charset="0"/>
                <a:ea typeface="Georgia" pitchFamily="34" charset="-122"/>
                <a:cs typeface="Georgia" pitchFamily="34" charset="-120"/>
              </a:rPr>
              <a:t>Conditions change</a:t>
            </a:r>
            <a:endParaRPr lang="en-US" sz="2400" dirty="0"/>
          </a:p>
        </p:txBody>
      </p:sp>
      <p:sp>
        <p:nvSpPr>
          <p:cNvPr id="13" name="Text 11"/>
          <p:cNvSpPr/>
          <p:nvPr/>
        </p:nvSpPr>
        <p:spPr>
          <a:xfrm>
            <a:off x="777240" y="3886200"/>
            <a:ext cx="3163824" cy="1645920"/>
          </a:xfrm>
          <a:prstGeom prst="rect">
            <a:avLst/>
          </a:prstGeom>
          <a:noFill/>
          <a:ln/>
        </p:spPr>
        <p:txBody>
          <a:bodyPr wrap="square" lIns="0" tIns="0" rIns="0" bIns="0" rtlCol="0" anchor="t"/>
          <a:lstStyle/>
          <a:p>
            <a:pPr indent="0" marL="0">
              <a:buNone/>
            </a:pPr>
            <a:r>
              <a:rPr lang="en-US" sz="1800" dirty="0">
                <a:solidFill>
                  <a:srgbClr val="B5BED5"/>
                </a:solidFill>
                <a:latin typeface="Aptos" pitchFamily="34" charset="0"/>
                <a:ea typeface="Aptos" pitchFamily="34" charset="-122"/>
                <a:cs typeface="Aptos" pitchFamily="34" charset="-120"/>
              </a:rPr>
              <a:t>Cloud cover, humidity and visibility vary across places and observing hours.</a:t>
            </a:r>
            <a:endParaRPr lang="en-US" sz="1800" dirty="0"/>
          </a:p>
        </p:txBody>
      </p:sp>
      <p:sp>
        <p:nvSpPr>
          <p:cNvPr id="14" name="Shape 12"/>
          <p:cNvSpPr/>
          <p:nvPr/>
        </p:nvSpPr>
        <p:spPr>
          <a:xfrm>
            <a:off x="4325112" y="2286000"/>
            <a:ext cx="3529584" cy="3429000"/>
          </a:xfrm>
          <a:prstGeom prst="rect">
            <a:avLst/>
          </a:prstGeom>
          <a:solidFill>
            <a:srgbClr val="161D36"/>
          </a:solidFill>
          <a:ln w="12700">
            <a:solidFill>
              <a:srgbClr val="161D36"/>
            </a:solidFill>
            <a:prstDash val="solid"/>
          </a:ln>
        </p:spPr>
      </p:sp>
      <p:sp>
        <p:nvSpPr>
          <p:cNvPr id="15" name="Shape 13"/>
          <p:cNvSpPr/>
          <p:nvPr/>
        </p:nvSpPr>
        <p:spPr>
          <a:xfrm>
            <a:off x="4325112" y="2286000"/>
            <a:ext cx="41148" cy="3429000"/>
          </a:xfrm>
          <a:prstGeom prst="rect">
            <a:avLst/>
          </a:prstGeom>
          <a:solidFill>
            <a:srgbClr val="EFBD73"/>
          </a:solidFill>
          <a:ln w="12700">
            <a:solidFill>
              <a:srgbClr val="EFBD73"/>
            </a:solidFill>
            <a:prstDash val="solid"/>
          </a:ln>
        </p:spPr>
      </p:sp>
      <p:sp>
        <p:nvSpPr>
          <p:cNvPr id="16" name="Text 14"/>
          <p:cNvSpPr/>
          <p:nvPr/>
        </p:nvSpPr>
        <p:spPr>
          <a:xfrm>
            <a:off x="4507992" y="2487168"/>
            <a:ext cx="3163824" cy="256032"/>
          </a:xfrm>
          <a:prstGeom prst="rect">
            <a:avLst/>
          </a:prstGeom>
          <a:noFill/>
          <a:ln/>
        </p:spPr>
        <p:txBody>
          <a:bodyPr wrap="square" lIns="0" tIns="0" rIns="0" bIns="0" rtlCol="0" anchor="ctr"/>
          <a:lstStyle/>
          <a:p>
            <a:pPr indent="0" marL="0">
              <a:buNone/>
            </a:pPr>
            <a:r>
              <a:rPr lang="en-US" sz="1100" spc="100" kern="0" dirty="0">
                <a:solidFill>
                  <a:srgbClr val="EFBD73"/>
                </a:solidFill>
                <a:latin typeface="Aptos" pitchFamily="34" charset="0"/>
                <a:ea typeface="Aptos" pitchFamily="34" charset="-122"/>
                <a:cs typeface="Aptos" pitchFamily="34" charset="-120"/>
              </a:rPr>
              <a:t>WHEN TO LOOK</a:t>
            </a:r>
            <a:endParaRPr lang="en-US" sz="1100" dirty="0"/>
          </a:p>
        </p:txBody>
      </p:sp>
      <p:sp>
        <p:nvSpPr>
          <p:cNvPr id="17" name="Text 15"/>
          <p:cNvSpPr/>
          <p:nvPr/>
        </p:nvSpPr>
        <p:spPr>
          <a:xfrm>
            <a:off x="4507992" y="2980944"/>
            <a:ext cx="3163824" cy="713232"/>
          </a:xfrm>
          <a:prstGeom prst="rect">
            <a:avLst/>
          </a:prstGeom>
          <a:noFill/>
          <a:ln/>
        </p:spPr>
        <p:txBody>
          <a:bodyPr wrap="square" lIns="0" tIns="0" rIns="0" bIns="0" rtlCol="0" anchor="ctr"/>
          <a:lstStyle/>
          <a:p>
            <a:pPr indent="0" marL="0">
              <a:buNone/>
            </a:pPr>
            <a:r>
              <a:rPr lang="en-US" sz="2400" dirty="0">
                <a:solidFill>
                  <a:srgbClr val="F5EEE5"/>
                </a:solidFill>
                <a:latin typeface="Georgia" pitchFamily="34" charset="0"/>
                <a:ea typeface="Georgia" pitchFamily="34" charset="-122"/>
                <a:cs typeface="Georgia" pitchFamily="34" charset="-120"/>
              </a:rPr>
              <a:t>Events are scattered</a:t>
            </a:r>
            <a:endParaRPr lang="en-US" sz="2400" dirty="0"/>
          </a:p>
        </p:txBody>
      </p:sp>
      <p:sp>
        <p:nvSpPr>
          <p:cNvPr id="18" name="Text 16"/>
          <p:cNvSpPr/>
          <p:nvPr/>
        </p:nvSpPr>
        <p:spPr>
          <a:xfrm>
            <a:off x="4507992" y="3886200"/>
            <a:ext cx="3163824" cy="1645920"/>
          </a:xfrm>
          <a:prstGeom prst="rect">
            <a:avLst/>
          </a:prstGeom>
          <a:noFill/>
          <a:ln/>
        </p:spPr>
        <p:txBody>
          <a:bodyPr wrap="square" lIns="0" tIns="0" rIns="0" bIns="0" rtlCol="0" anchor="t"/>
          <a:lstStyle/>
          <a:p>
            <a:pPr indent="0" marL="0">
              <a:buNone/>
            </a:pPr>
            <a:r>
              <a:rPr lang="en-US" sz="1800" dirty="0">
                <a:solidFill>
                  <a:srgbClr val="B5BED5"/>
                </a:solidFill>
                <a:latin typeface="Aptos" pitchFamily="34" charset="0"/>
                <a:ea typeface="Aptos" pitchFamily="34" charset="-122"/>
                <a:cs typeface="Aptos" pitchFamily="34" charset="-120"/>
              </a:rPr>
              <a:t>Moon phases, eclipses, meteor windows, launches and ISS predictions need different sources.</a:t>
            </a:r>
            <a:endParaRPr lang="en-US" sz="1800" dirty="0"/>
          </a:p>
        </p:txBody>
      </p:sp>
      <p:sp>
        <p:nvSpPr>
          <p:cNvPr id="19" name="Shape 17"/>
          <p:cNvSpPr/>
          <p:nvPr/>
        </p:nvSpPr>
        <p:spPr>
          <a:xfrm>
            <a:off x="8055864" y="2286000"/>
            <a:ext cx="3529584" cy="3429000"/>
          </a:xfrm>
          <a:prstGeom prst="rect">
            <a:avLst/>
          </a:prstGeom>
          <a:solidFill>
            <a:srgbClr val="161D36"/>
          </a:solidFill>
          <a:ln w="12700">
            <a:solidFill>
              <a:srgbClr val="161D36"/>
            </a:solidFill>
            <a:prstDash val="solid"/>
          </a:ln>
        </p:spPr>
      </p:sp>
      <p:sp>
        <p:nvSpPr>
          <p:cNvPr id="20" name="Shape 18"/>
          <p:cNvSpPr/>
          <p:nvPr/>
        </p:nvSpPr>
        <p:spPr>
          <a:xfrm>
            <a:off x="8055864" y="2286000"/>
            <a:ext cx="41148" cy="3429000"/>
          </a:xfrm>
          <a:prstGeom prst="rect">
            <a:avLst/>
          </a:prstGeom>
          <a:solidFill>
            <a:srgbClr val="EFBD73"/>
          </a:solidFill>
          <a:ln w="12700">
            <a:solidFill>
              <a:srgbClr val="EFBD73"/>
            </a:solidFill>
            <a:prstDash val="solid"/>
          </a:ln>
        </p:spPr>
      </p:sp>
      <p:sp>
        <p:nvSpPr>
          <p:cNvPr id="21" name="Text 19"/>
          <p:cNvSpPr/>
          <p:nvPr/>
        </p:nvSpPr>
        <p:spPr>
          <a:xfrm>
            <a:off x="8238744" y="2487168"/>
            <a:ext cx="3163824" cy="256032"/>
          </a:xfrm>
          <a:prstGeom prst="rect">
            <a:avLst/>
          </a:prstGeom>
          <a:noFill/>
          <a:ln/>
        </p:spPr>
        <p:txBody>
          <a:bodyPr wrap="square" lIns="0" tIns="0" rIns="0" bIns="0" rtlCol="0" anchor="ctr"/>
          <a:lstStyle/>
          <a:p>
            <a:pPr indent="0" marL="0">
              <a:buNone/>
            </a:pPr>
            <a:r>
              <a:rPr lang="en-US" sz="1100" spc="100" kern="0" dirty="0">
                <a:solidFill>
                  <a:srgbClr val="EFBD73"/>
                </a:solidFill>
                <a:latin typeface="Aptos" pitchFamily="34" charset="0"/>
                <a:ea typeface="Aptos" pitchFamily="34" charset="-122"/>
                <a:cs typeface="Aptos" pitchFamily="34" charset="-120"/>
              </a:rPr>
              <a:t>WHAT TO TRUST</a:t>
            </a:r>
            <a:endParaRPr lang="en-US" sz="1100" dirty="0"/>
          </a:p>
        </p:txBody>
      </p:sp>
      <p:sp>
        <p:nvSpPr>
          <p:cNvPr id="22" name="Text 20"/>
          <p:cNvSpPr/>
          <p:nvPr/>
        </p:nvSpPr>
        <p:spPr>
          <a:xfrm>
            <a:off x="8238744" y="2980944"/>
            <a:ext cx="3163824" cy="713232"/>
          </a:xfrm>
          <a:prstGeom prst="rect">
            <a:avLst/>
          </a:prstGeom>
          <a:noFill/>
          <a:ln/>
        </p:spPr>
        <p:txBody>
          <a:bodyPr wrap="square" lIns="0" tIns="0" rIns="0" bIns="0" rtlCol="0" anchor="ctr"/>
          <a:lstStyle/>
          <a:p>
            <a:pPr indent="0" marL="0">
              <a:buNone/>
            </a:pPr>
            <a:r>
              <a:rPr lang="en-US" sz="2400" dirty="0">
                <a:solidFill>
                  <a:srgbClr val="F5EEE5"/>
                </a:solidFill>
                <a:latin typeface="Georgia" pitchFamily="34" charset="0"/>
                <a:ea typeface="Georgia" pitchFamily="34" charset="-122"/>
                <a:cs typeface="Georgia" pitchFamily="34" charset="-120"/>
              </a:rPr>
              <a:t>Images need inspection</a:t>
            </a:r>
            <a:endParaRPr lang="en-US" sz="2400" dirty="0"/>
          </a:p>
        </p:txBody>
      </p:sp>
      <p:sp>
        <p:nvSpPr>
          <p:cNvPr id="23" name="Text 21"/>
          <p:cNvSpPr/>
          <p:nvPr/>
        </p:nvSpPr>
        <p:spPr>
          <a:xfrm>
            <a:off x="8238744" y="3886200"/>
            <a:ext cx="3163824" cy="1645920"/>
          </a:xfrm>
          <a:prstGeom prst="rect">
            <a:avLst/>
          </a:prstGeom>
          <a:noFill/>
          <a:ln/>
        </p:spPr>
        <p:txBody>
          <a:bodyPr wrap="square" lIns="0" tIns="0" rIns="0" bIns="0" rtlCol="0" anchor="t"/>
          <a:lstStyle/>
          <a:p>
            <a:pPr indent="0" marL="0">
              <a:buNone/>
            </a:pPr>
            <a:r>
              <a:rPr lang="en-US" sz="1800" dirty="0">
                <a:solidFill>
                  <a:srgbClr val="B5BED5"/>
                </a:solidFill>
                <a:latin typeface="Aptos" pitchFamily="34" charset="0"/>
                <a:ea typeface="Aptos" pitchFamily="34" charset="-122"/>
                <a:cs typeface="Aptos" pitchFamily="34" charset="-120"/>
              </a:rPr>
              <a:t>Noise and blur obscure faint sources. Cleanup needs conservative edits and a clear comparison.</a:t>
            </a:r>
            <a:endParaRPr lang="en-US" sz="1800" dirty="0"/>
          </a:p>
        </p:txBody>
      </p:sp>
      <p:sp>
        <p:nvSpPr>
          <p:cNvPr id="24" name="Text 22"/>
          <p:cNvSpPr/>
          <p:nvPr/>
        </p:nvSpPr>
        <p:spPr>
          <a:xfrm>
            <a:off x="640080" y="5907024"/>
            <a:ext cx="10972800" cy="25603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Designed for astronomy clubs, curious students and hobby astrophotographers.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12700">
            <a:solidFill>
              <a:srgbClr val="C94B55"/>
            </a:solidFill>
            <a:prstDash val="solid"/>
          </a:ln>
        </p:spPr>
      </p:sp>
      <p:sp>
        <p:nvSpPr>
          <p:cNvPr id="3" name="Text 1"/>
          <p:cNvSpPr/>
          <p:nvPr/>
        </p:nvSpPr>
        <p:spPr>
          <a:xfrm>
            <a:off x="548640" y="320040"/>
            <a:ext cx="10972800" cy="228600"/>
          </a:xfrm>
          <a:prstGeom prst="rect">
            <a:avLst/>
          </a:prstGeom>
          <a:noFill/>
          <a:ln/>
        </p:spPr>
        <p:txBody>
          <a:bodyPr wrap="square" lIns="0" tIns="0" rIns="0" bIns="0" rtlCol="0" anchor="ctr"/>
          <a:lstStyle/>
          <a:p>
            <a:pPr indent="0" marL="0">
              <a:buNone/>
            </a:pPr>
            <a:r>
              <a:rPr lang="en-US" sz="1000" spc="200" kern="0" dirty="0">
                <a:solidFill>
                  <a:srgbClr val="EFBD73"/>
                </a:solidFill>
                <a:latin typeface="Aptos" pitchFamily="34" charset="0"/>
                <a:ea typeface="Aptos" pitchFamily="34" charset="-122"/>
                <a:cs typeface="Aptos" pitchFamily="34" charset="-120"/>
              </a:rPr>
              <a:t>THE SOLUTION • PLAN THE NIGHT</a:t>
            </a:r>
            <a:endParaRPr lang="en-US" sz="1000" dirty="0"/>
          </a:p>
        </p:txBody>
      </p:sp>
      <p:sp>
        <p:nvSpPr>
          <p:cNvPr id="4" name="Text 2"/>
          <p:cNvSpPr/>
          <p:nvPr/>
        </p:nvSpPr>
        <p:spPr>
          <a:xfrm>
            <a:off x="548640" y="841248"/>
            <a:ext cx="11064240" cy="640080"/>
          </a:xfrm>
          <a:prstGeom prst="rect">
            <a:avLst/>
          </a:prstGeom>
          <a:noFill/>
          <a:ln/>
        </p:spPr>
        <p:txBody>
          <a:bodyPr wrap="square" lIns="0" tIns="0" rIns="0" bIns="0" rtlCol="0" anchor="ctr"/>
          <a:lstStyle/>
          <a:p>
            <a:pPr indent="0" marL="0">
              <a:buNone/>
            </a:pPr>
            <a:r>
              <a:rPr lang="en-US" sz="3100" dirty="0">
                <a:solidFill>
                  <a:srgbClr val="F5EEE5"/>
                </a:solidFill>
                <a:latin typeface="Georgia" pitchFamily="34" charset="0"/>
                <a:ea typeface="Georgia" pitchFamily="34" charset="-122"/>
                <a:cs typeface="Georgia" pitchFamily="34" charset="-120"/>
              </a:rPr>
              <a:t>The Watchtower + The Celestial Scroll</a:t>
            </a:r>
            <a:endParaRPr lang="en-US" sz="3100" dirty="0"/>
          </a:p>
        </p:txBody>
      </p:sp>
      <p:sp>
        <p:nvSpPr>
          <p:cNvPr id="5" name="Text 3"/>
          <p:cNvSpPr/>
          <p:nvPr/>
        </p:nvSpPr>
        <p:spPr>
          <a:xfrm>
            <a:off x="566928" y="1618488"/>
            <a:ext cx="10972800" cy="457200"/>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Choose a place and a moment through a scroll-style map and lunar calendar.</a:t>
            </a:r>
            <a:endParaRPr lang="en-US" sz="1500" dirty="0"/>
          </a:p>
        </p:txBody>
      </p:sp>
      <p:sp>
        <p:nvSpPr>
          <p:cNvPr id="6" name="Shape 4"/>
          <p:cNvSpPr/>
          <p:nvPr/>
        </p:nvSpPr>
        <p:spPr>
          <a:xfrm>
            <a:off x="502920" y="6382512"/>
            <a:ext cx="11183112" cy="0"/>
          </a:xfrm>
          <a:prstGeom prst="line">
            <a:avLst/>
          </a:prstGeom>
          <a:noFill/>
          <a:ln w="12700">
            <a:solidFill>
              <a:srgbClr val="2D3651"/>
            </a:solidFill>
            <a:prstDash val="solid"/>
          </a:ln>
        </p:spPr>
      </p:sp>
      <p:sp>
        <p:nvSpPr>
          <p:cNvPr id="7" name="Text 5"/>
          <p:cNvSpPr/>
          <p:nvPr/>
        </p:nvSpPr>
        <p:spPr>
          <a:xfrm>
            <a:off x="548640" y="6519672"/>
            <a:ext cx="10058400" cy="137160"/>
          </a:xfrm>
          <a:prstGeom prst="rect">
            <a:avLst/>
          </a:prstGeom>
          <a:noFill/>
          <a:ln/>
        </p:spPr>
        <p:txBody>
          <a:bodyPr wrap="square" lIns="0" tIns="0" rIns="0" bIns="0" rtlCol="0" anchor="ctr"/>
          <a:lstStyle/>
          <a:p>
            <a:pPr indent="0" marL="0">
              <a:buNone/>
            </a:pPr>
            <a:r>
              <a:rPr lang="en-US" sz="900" spc="100" kern="0" dirty="0">
                <a:solidFill>
                  <a:srgbClr val="B5BED5"/>
                </a:solidFill>
                <a:latin typeface="Aptos" pitchFamily="34" charset="0"/>
                <a:ea typeface="Aptos" pitchFamily="34" charset="-122"/>
                <a:cs typeface="Aptos" pitchFamily="34" charset="-120"/>
              </a:rPr>
              <a:t>TEAM PF-K96JPZ  /  PS-002  /  PECATHON 2026</a:t>
            </a:r>
            <a:endParaRPr lang="en-US" sz="900" dirty="0"/>
          </a:p>
        </p:txBody>
      </p:sp>
      <p:sp>
        <p:nvSpPr>
          <p:cNvPr id="8" name="Text 6"/>
          <p:cNvSpPr/>
          <p:nvPr/>
        </p:nvSpPr>
        <p:spPr>
          <a:xfrm>
            <a:off x="10972800" y="6483096"/>
            <a:ext cx="685800" cy="219456"/>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3 / 8</a:t>
            </a:r>
            <a:endParaRPr lang="en-US" sz="1000" dirty="0"/>
          </a:p>
        </p:txBody>
      </p:sp>
      <p:pic>
        <p:nvPicPr>
          <p:cNvPr id="9" name="Image 0" descr="C:\Users\Aalam\Desktop\trpc-monorepo\pecathon\docs\presentation\assets\watchtower.png">    </p:cNvPr>
          <p:cNvPicPr>
            <a:picLocks noChangeAspect="1"/>
          </p:cNvPicPr>
          <p:nvPr/>
        </p:nvPicPr>
        <p:blipFill>
          <a:blip r:embed="rId1"/>
          <a:stretch>
            <a:fillRect/>
          </a:stretch>
        </p:blipFill>
        <p:spPr>
          <a:xfrm>
            <a:off x="594360" y="2244112"/>
            <a:ext cx="6400800" cy="3759665"/>
          </a:xfrm>
          <a:prstGeom prst="rect">
            <a:avLst/>
          </a:prstGeom>
        </p:spPr>
      </p:pic>
      <p:sp>
        <p:nvSpPr>
          <p:cNvPr id="10" name="Text 7"/>
          <p:cNvSpPr/>
          <p:nvPr/>
        </p:nvSpPr>
        <p:spPr>
          <a:xfrm>
            <a:off x="7296912" y="2313432"/>
            <a:ext cx="164592" cy="36576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1" name="Text 8"/>
          <p:cNvSpPr/>
          <p:nvPr/>
        </p:nvSpPr>
        <p:spPr>
          <a:xfrm>
            <a:off x="7552944" y="2313432"/>
            <a:ext cx="3995928" cy="603504"/>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Search worldwide cities; explore nearby curated observing spots.</a:t>
            </a:r>
            <a:endParaRPr lang="en-US" sz="1800" dirty="0"/>
          </a:p>
        </p:txBody>
      </p:sp>
      <p:sp>
        <p:nvSpPr>
          <p:cNvPr id="12" name="Text 9"/>
          <p:cNvSpPr/>
          <p:nvPr/>
        </p:nvSpPr>
        <p:spPr>
          <a:xfrm>
            <a:off x="7296912" y="3136392"/>
            <a:ext cx="164592" cy="36576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3" name="Text 10"/>
          <p:cNvSpPr/>
          <p:nvPr/>
        </p:nvSpPr>
        <p:spPr>
          <a:xfrm>
            <a:off x="7552944" y="3136392"/>
            <a:ext cx="3995928" cy="603504"/>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Compare nighttime cloud cover, humidity, visibility and a weather score.</a:t>
            </a:r>
            <a:endParaRPr lang="en-US" sz="1800" dirty="0"/>
          </a:p>
        </p:txBody>
      </p:sp>
      <p:sp>
        <p:nvSpPr>
          <p:cNvPr id="14" name="Text 11"/>
          <p:cNvSpPr/>
          <p:nvPr/>
        </p:nvSpPr>
        <p:spPr>
          <a:xfrm>
            <a:off x="7296912" y="3959352"/>
            <a:ext cx="164592" cy="36576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5" name="Text 12"/>
          <p:cNvSpPr/>
          <p:nvPr/>
        </p:nvSpPr>
        <p:spPr>
          <a:xfrm>
            <a:off x="7552944" y="3959352"/>
            <a:ext cx="3995928" cy="603504"/>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Browse lunar phases, launches, eclipses and meteor windows.</a:t>
            </a:r>
            <a:endParaRPr lang="en-US" sz="1800" dirty="0"/>
          </a:p>
        </p:txBody>
      </p:sp>
      <p:sp>
        <p:nvSpPr>
          <p:cNvPr id="16" name="Text 13"/>
          <p:cNvSpPr/>
          <p:nvPr/>
        </p:nvSpPr>
        <p:spPr>
          <a:xfrm>
            <a:off x="7296912" y="4782312"/>
            <a:ext cx="164592" cy="36576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7" name="Text 14"/>
          <p:cNvSpPr/>
          <p:nvPr/>
        </p:nvSpPr>
        <p:spPr>
          <a:xfrm>
            <a:off x="7552944" y="4782312"/>
            <a:ext cx="3995928" cy="603504"/>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Open event details, view ISS predictions and prepare reminders.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12700">
            <a:solidFill>
              <a:srgbClr val="C94B55"/>
            </a:solidFill>
            <a:prstDash val="solid"/>
          </a:ln>
        </p:spPr>
      </p:sp>
      <p:sp>
        <p:nvSpPr>
          <p:cNvPr id="3" name="Text 1"/>
          <p:cNvSpPr/>
          <p:nvPr/>
        </p:nvSpPr>
        <p:spPr>
          <a:xfrm>
            <a:off x="548640" y="320040"/>
            <a:ext cx="10972800" cy="228600"/>
          </a:xfrm>
          <a:prstGeom prst="rect">
            <a:avLst/>
          </a:prstGeom>
          <a:noFill/>
          <a:ln/>
        </p:spPr>
        <p:txBody>
          <a:bodyPr wrap="square" lIns="0" tIns="0" rIns="0" bIns="0" rtlCol="0" anchor="ctr"/>
          <a:lstStyle/>
          <a:p>
            <a:pPr indent="0" marL="0">
              <a:buNone/>
            </a:pPr>
            <a:r>
              <a:rPr lang="en-US" sz="1000" spc="200" kern="0" dirty="0">
                <a:solidFill>
                  <a:srgbClr val="EFBD73"/>
                </a:solidFill>
                <a:latin typeface="Aptos" pitchFamily="34" charset="0"/>
                <a:ea typeface="Aptos" pitchFamily="34" charset="-122"/>
                <a:cs typeface="Aptos" pitchFamily="34" charset="-120"/>
              </a:rPr>
              <a:t>THE SOLUTION • INSPECT THE LIGHT</a:t>
            </a:r>
            <a:endParaRPr lang="en-US" sz="1000" dirty="0"/>
          </a:p>
        </p:txBody>
      </p:sp>
      <p:sp>
        <p:nvSpPr>
          <p:cNvPr id="4" name="Text 2"/>
          <p:cNvSpPr/>
          <p:nvPr/>
        </p:nvSpPr>
        <p:spPr>
          <a:xfrm>
            <a:off x="548640" y="841248"/>
            <a:ext cx="11064240" cy="640080"/>
          </a:xfrm>
          <a:prstGeom prst="rect">
            <a:avLst/>
          </a:prstGeom>
          <a:noFill/>
          <a:ln/>
        </p:spPr>
        <p:txBody>
          <a:bodyPr wrap="square" lIns="0" tIns="0" rIns="0" bIns="0" rtlCol="0" anchor="ctr"/>
          <a:lstStyle/>
          <a:p>
            <a:pPr indent="0" marL="0">
              <a:buNone/>
            </a:pPr>
            <a:r>
              <a:rPr lang="en-US" sz="3100" dirty="0">
                <a:solidFill>
                  <a:srgbClr val="F5EEE5"/>
                </a:solidFill>
                <a:latin typeface="Georgia" pitchFamily="34" charset="0"/>
                <a:ea typeface="Georgia" pitchFamily="34" charset="-122"/>
                <a:cs typeface="Georgia" pitchFamily="34" charset="-120"/>
              </a:rPr>
              <a:t>Spirit Lens + Dojo visualization</a:t>
            </a:r>
            <a:endParaRPr lang="en-US" sz="3100" dirty="0"/>
          </a:p>
        </p:txBody>
      </p:sp>
      <p:sp>
        <p:nvSpPr>
          <p:cNvPr id="5" name="Text 3"/>
          <p:cNvSpPr/>
          <p:nvPr/>
        </p:nvSpPr>
        <p:spPr>
          <a:xfrm>
            <a:off x="566928" y="1618488"/>
            <a:ext cx="10972800" cy="457200"/>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Local AI cleanup, a before/after slider, zoom and object-candidate overlays.</a:t>
            </a:r>
            <a:endParaRPr lang="en-US" sz="1500" dirty="0"/>
          </a:p>
        </p:txBody>
      </p:sp>
      <p:sp>
        <p:nvSpPr>
          <p:cNvPr id="6" name="Shape 4"/>
          <p:cNvSpPr/>
          <p:nvPr/>
        </p:nvSpPr>
        <p:spPr>
          <a:xfrm>
            <a:off x="502920" y="6382512"/>
            <a:ext cx="11183112" cy="0"/>
          </a:xfrm>
          <a:prstGeom prst="line">
            <a:avLst/>
          </a:prstGeom>
          <a:noFill/>
          <a:ln w="12700">
            <a:solidFill>
              <a:srgbClr val="2D3651"/>
            </a:solidFill>
            <a:prstDash val="solid"/>
          </a:ln>
        </p:spPr>
      </p:sp>
      <p:sp>
        <p:nvSpPr>
          <p:cNvPr id="7" name="Text 5"/>
          <p:cNvSpPr/>
          <p:nvPr/>
        </p:nvSpPr>
        <p:spPr>
          <a:xfrm>
            <a:off x="548640" y="6519672"/>
            <a:ext cx="10058400" cy="137160"/>
          </a:xfrm>
          <a:prstGeom prst="rect">
            <a:avLst/>
          </a:prstGeom>
          <a:noFill/>
          <a:ln/>
        </p:spPr>
        <p:txBody>
          <a:bodyPr wrap="square" lIns="0" tIns="0" rIns="0" bIns="0" rtlCol="0" anchor="ctr"/>
          <a:lstStyle/>
          <a:p>
            <a:pPr indent="0" marL="0">
              <a:buNone/>
            </a:pPr>
            <a:r>
              <a:rPr lang="en-US" sz="900" spc="100" kern="0" dirty="0">
                <a:solidFill>
                  <a:srgbClr val="B5BED5"/>
                </a:solidFill>
                <a:latin typeface="Aptos" pitchFamily="34" charset="0"/>
                <a:ea typeface="Aptos" pitchFamily="34" charset="-122"/>
                <a:cs typeface="Aptos" pitchFamily="34" charset="-120"/>
              </a:rPr>
              <a:t>TEAM PF-K96JPZ  /  PS-002  /  PECATHON 2026</a:t>
            </a:r>
            <a:endParaRPr lang="en-US" sz="900" dirty="0"/>
          </a:p>
        </p:txBody>
      </p:sp>
      <p:sp>
        <p:nvSpPr>
          <p:cNvPr id="8" name="Text 6"/>
          <p:cNvSpPr/>
          <p:nvPr/>
        </p:nvSpPr>
        <p:spPr>
          <a:xfrm>
            <a:off x="10972800" y="6483096"/>
            <a:ext cx="685800" cy="219456"/>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4 / 8</a:t>
            </a:r>
            <a:endParaRPr lang="en-US" sz="1000" dirty="0"/>
          </a:p>
        </p:txBody>
      </p:sp>
      <p:pic>
        <p:nvPicPr>
          <p:cNvPr id="9" name="Image 0" descr="C:\Users\Aalam\Desktop\trpc-monorepo\pecathon\docs\presentation\assets\lens.png">    </p:cNvPr>
          <p:cNvPicPr>
            <a:picLocks noChangeAspect="1"/>
          </p:cNvPicPr>
          <p:nvPr/>
        </p:nvPicPr>
        <p:blipFill>
          <a:blip r:embed="rId1"/>
          <a:stretch>
            <a:fillRect/>
          </a:stretch>
        </p:blipFill>
        <p:spPr>
          <a:xfrm>
            <a:off x="813141" y="2212848"/>
            <a:ext cx="6283277" cy="3840480"/>
          </a:xfrm>
          <a:prstGeom prst="rect">
            <a:avLst/>
          </a:prstGeom>
        </p:spPr>
      </p:pic>
      <p:sp>
        <p:nvSpPr>
          <p:cNvPr id="10" name="Text 7"/>
          <p:cNvSpPr/>
          <p:nvPr/>
        </p:nvSpPr>
        <p:spPr>
          <a:xfrm>
            <a:off x="7571232" y="2331720"/>
            <a:ext cx="164592" cy="36576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1" name="Text 8"/>
          <p:cNvSpPr/>
          <p:nvPr/>
        </p:nvSpPr>
        <p:spPr>
          <a:xfrm>
            <a:off x="7827264" y="2331720"/>
            <a:ext cx="3721608" cy="603504"/>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Pretrained DnCNN runs in a browser worker.</a:t>
            </a:r>
            <a:endParaRPr lang="en-US" sz="1800" dirty="0"/>
          </a:p>
        </p:txBody>
      </p:sp>
      <p:sp>
        <p:nvSpPr>
          <p:cNvPr id="12" name="Text 9"/>
          <p:cNvSpPr/>
          <p:nvPr/>
        </p:nvSpPr>
        <p:spPr>
          <a:xfrm>
            <a:off x="7571232" y="3127248"/>
            <a:ext cx="164592" cy="36576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3" name="Text 10"/>
          <p:cNvSpPr/>
          <p:nvPr/>
        </p:nvSpPr>
        <p:spPr>
          <a:xfrm>
            <a:off x="7827264" y="3127248"/>
            <a:ext cx="3721608" cy="603504"/>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Gentle bounded edits; optional conventional deblur.</a:t>
            </a:r>
            <a:endParaRPr lang="en-US" sz="1800" dirty="0"/>
          </a:p>
        </p:txBody>
      </p:sp>
      <p:sp>
        <p:nvSpPr>
          <p:cNvPr id="14" name="Text 11"/>
          <p:cNvSpPr/>
          <p:nvPr/>
        </p:nvSpPr>
        <p:spPr>
          <a:xfrm>
            <a:off x="7571232" y="3922776"/>
            <a:ext cx="164592" cy="36576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5" name="Text 12"/>
          <p:cNvSpPr/>
          <p:nvPr/>
        </p:nvSpPr>
        <p:spPr>
          <a:xfrm>
            <a:off x="7827264" y="3922776"/>
            <a:ext cx="3721608" cy="603504"/>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Inspect source size, brightness and tentative morphology.</a:t>
            </a:r>
            <a:endParaRPr lang="en-US" sz="1800" dirty="0"/>
          </a:p>
        </p:txBody>
      </p:sp>
      <p:sp>
        <p:nvSpPr>
          <p:cNvPr id="16" name="Text 13"/>
          <p:cNvSpPr/>
          <p:nvPr/>
        </p:nvSpPr>
        <p:spPr>
          <a:xfrm>
            <a:off x="7571232" y="4718304"/>
            <a:ext cx="164592" cy="365760"/>
          </a:xfrm>
          <a:prstGeom prst="rect">
            <a:avLst/>
          </a:prstGeom>
          <a:noFill/>
          <a:ln/>
        </p:spPr>
        <p:txBody>
          <a:bodyPr wrap="square" lIns="0" tIns="0" rIns="0" bIns="0" rtlCol="0" anchor="ctr"/>
          <a:lstStyle/>
          <a:p>
            <a:pPr indent="0" marL="0">
              <a:buNone/>
            </a:pPr>
            <a:r>
              <a:rPr lang="en-US" sz="1800" dirty="0">
                <a:solidFill>
                  <a:srgbClr val="EFBD73"/>
                </a:solidFill>
                <a:latin typeface="Aptos" pitchFamily="34" charset="0"/>
                <a:ea typeface="Aptos" pitchFamily="34" charset="-122"/>
                <a:cs typeface="Aptos" pitchFamily="34" charset="-120"/>
              </a:rPr>
              <a:t>•</a:t>
            </a:r>
            <a:endParaRPr lang="en-US" sz="1800" dirty="0"/>
          </a:p>
        </p:txBody>
      </p:sp>
      <p:sp>
        <p:nvSpPr>
          <p:cNvPr id="17" name="Text 14"/>
          <p:cNvSpPr/>
          <p:nvPr/>
        </p:nvSpPr>
        <p:spPr>
          <a:xfrm>
            <a:off x="7827264" y="4718304"/>
            <a:ext cx="3721608" cy="603504"/>
          </a:xfrm>
          <a:prstGeom prst="rect">
            <a:avLst/>
          </a:prstGeom>
          <a:noFill/>
          <a:ln/>
        </p:spPr>
        <p:txBody>
          <a:bodyPr wrap="square" lIns="0" tIns="0" rIns="0" bIns="0" rtlCol="0" anchor="t"/>
          <a:lstStyle/>
          <a:p>
            <a:pPr indent="0" marL="0">
              <a:buNone/>
            </a:pPr>
            <a:r>
              <a:rPr lang="en-US" sz="1800" dirty="0">
                <a:solidFill>
                  <a:srgbClr val="F5EEE5"/>
                </a:solidFill>
                <a:latin typeface="Aptos" pitchFamily="34" charset="0"/>
                <a:ea typeface="Aptos" pitchFamily="34" charset="-122"/>
                <a:cs typeface="Aptos" pitchFamily="34" charset="-120"/>
              </a:rPr>
              <a:t>Download the restored preview and analysis report.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12700">
            <a:solidFill>
              <a:srgbClr val="C94B55"/>
            </a:solidFill>
            <a:prstDash val="solid"/>
          </a:ln>
        </p:spPr>
      </p:sp>
      <p:sp>
        <p:nvSpPr>
          <p:cNvPr id="3" name="Text 1"/>
          <p:cNvSpPr/>
          <p:nvPr/>
        </p:nvSpPr>
        <p:spPr>
          <a:xfrm>
            <a:off x="548640" y="320040"/>
            <a:ext cx="10972800" cy="228600"/>
          </a:xfrm>
          <a:prstGeom prst="rect">
            <a:avLst/>
          </a:prstGeom>
          <a:noFill/>
          <a:ln/>
        </p:spPr>
        <p:txBody>
          <a:bodyPr wrap="square" lIns="0" tIns="0" rIns="0" bIns="0" rtlCol="0" anchor="ctr"/>
          <a:lstStyle/>
          <a:p>
            <a:pPr indent="0" marL="0">
              <a:buNone/>
            </a:pPr>
            <a:r>
              <a:rPr lang="en-US" sz="1000" spc="200" kern="0" dirty="0">
                <a:solidFill>
                  <a:srgbClr val="EFBD73"/>
                </a:solidFill>
                <a:latin typeface="Aptos" pitchFamily="34" charset="0"/>
                <a:ea typeface="Aptos" pitchFamily="34" charset="-122"/>
                <a:cs typeface="Aptos" pitchFamily="34" charset="-120"/>
              </a:rPr>
              <a:t>HOW IT WORKS</a:t>
            </a:r>
            <a:endParaRPr lang="en-US" sz="1000" dirty="0"/>
          </a:p>
        </p:txBody>
      </p:sp>
      <p:sp>
        <p:nvSpPr>
          <p:cNvPr id="4" name="Text 2"/>
          <p:cNvSpPr/>
          <p:nvPr/>
        </p:nvSpPr>
        <p:spPr>
          <a:xfrm>
            <a:off x="548640" y="841248"/>
            <a:ext cx="11064240" cy="640080"/>
          </a:xfrm>
          <a:prstGeom prst="rect">
            <a:avLst/>
          </a:prstGeom>
          <a:noFill/>
          <a:ln/>
        </p:spPr>
        <p:txBody>
          <a:bodyPr wrap="square" lIns="0" tIns="0" rIns="0" bIns="0" rtlCol="0" anchor="ctr"/>
          <a:lstStyle/>
          <a:p>
            <a:pPr indent="0" marL="0">
              <a:buNone/>
            </a:pPr>
            <a:r>
              <a:rPr lang="en-US" sz="3100" dirty="0">
                <a:solidFill>
                  <a:srgbClr val="F5EEE5"/>
                </a:solidFill>
                <a:latin typeface="Georgia" pitchFamily="34" charset="0"/>
                <a:ea typeface="Georgia" pitchFamily="34" charset="-122"/>
                <a:cs typeface="Georgia" pitchFamily="34" charset="-120"/>
              </a:rPr>
              <a:t>A typed backend. A private local image pipeline.</a:t>
            </a:r>
            <a:endParaRPr lang="en-US" sz="3100" dirty="0"/>
          </a:p>
        </p:txBody>
      </p:sp>
      <p:sp>
        <p:nvSpPr>
          <p:cNvPr id="5" name="Text 3"/>
          <p:cNvSpPr/>
          <p:nvPr/>
        </p:nvSpPr>
        <p:spPr>
          <a:xfrm>
            <a:off x="566928" y="1618488"/>
            <a:ext cx="10972800" cy="457200"/>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Next.js / React • Express / tRPC • Zod • Drizzle / PostgreSQL • ONNX WASM</a:t>
            </a:r>
            <a:endParaRPr lang="en-US" sz="1500" dirty="0"/>
          </a:p>
        </p:txBody>
      </p:sp>
      <p:sp>
        <p:nvSpPr>
          <p:cNvPr id="6" name="Shape 4"/>
          <p:cNvSpPr/>
          <p:nvPr/>
        </p:nvSpPr>
        <p:spPr>
          <a:xfrm>
            <a:off x="502920" y="6382512"/>
            <a:ext cx="11183112" cy="0"/>
          </a:xfrm>
          <a:prstGeom prst="line">
            <a:avLst/>
          </a:prstGeom>
          <a:noFill/>
          <a:ln w="12700">
            <a:solidFill>
              <a:srgbClr val="2D3651"/>
            </a:solidFill>
            <a:prstDash val="solid"/>
          </a:ln>
        </p:spPr>
      </p:sp>
      <p:sp>
        <p:nvSpPr>
          <p:cNvPr id="7" name="Text 5"/>
          <p:cNvSpPr/>
          <p:nvPr/>
        </p:nvSpPr>
        <p:spPr>
          <a:xfrm>
            <a:off x="548640" y="6519672"/>
            <a:ext cx="10058400" cy="137160"/>
          </a:xfrm>
          <a:prstGeom prst="rect">
            <a:avLst/>
          </a:prstGeom>
          <a:noFill/>
          <a:ln/>
        </p:spPr>
        <p:txBody>
          <a:bodyPr wrap="square" lIns="0" tIns="0" rIns="0" bIns="0" rtlCol="0" anchor="ctr"/>
          <a:lstStyle/>
          <a:p>
            <a:pPr indent="0" marL="0">
              <a:buNone/>
            </a:pPr>
            <a:r>
              <a:rPr lang="en-US" sz="900" spc="100" kern="0" dirty="0">
                <a:solidFill>
                  <a:srgbClr val="B5BED5"/>
                </a:solidFill>
                <a:latin typeface="Aptos" pitchFamily="34" charset="0"/>
                <a:ea typeface="Aptos" pitchFamily="34" charset="-122"/>
                <a:cs typeface="Aptos" pitchFamily="34" charset="-120"/>
              </a:rPr>
              <a:t>TEAM PF-K96JPZ  /  PS-002  /  PECATHON 2026</a:t>
            </a:r>
            <a:endParaRPr lang="en-US" sz="900" dirty="0"/>
          </a:p>
        </p:txBody>
      </p:sp>
      <p:sp>
        <p:nvSpPr>
          <p:cNvPr id="8" name="Text 6"/>
          <p:cNvSpPr/>
          <p:nvPr/>
        </p:nvSpPr>
        <p:spPr>
          <a:xfrm>
            <a:off x="10972800" y="6483096"/>
            <a:ext cx="685800" cy="219456"/>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5 / 8</a:t>
            </a:r>
            <a:endParaRPr lang="en-US" sz="1000" dirty="0"/>
          </a:p>
        </p:txBody>
      </p:sp>
      <p:sp>
        <p:nvSpPr>
          <p:cNvPr id="9" name="Shape 7"/>
          <p:cNvSpPr/>
          <p:nvPr/>
        </p:nvSpPr>
        <p:spPr>
          <a:xfrm>
            <a:off x="594360" y="2286000"/>
            <a:ext cx="3355848" cy="1600200"/>
          </a:xfrm>
          <a:prstGeom prst="rect">
            <a:avLst/>
          </a:prstGeom>
          <a:solidFill>
            <a:srgbClr val="161D36"/>
          </a:solidFill>
          <a:ln w="12700">
            <a:solidFill>
              <a:srgbClr val="161D36"/>
            </a:solidFill>
            <a:prstDash val="solid"/>
          </a:ln>
        </p:spPr>
      </p:sp>
      <p:sp>
        <p:nvSpPr>
          <p:cNvPr id="10" name="Text 8"/>
          <p:cNvSpPr/>
          <p:nvPr/>
        </p:nvSpPr>
        <p:spPr>
          <a:xfrm>
            <a:off x="777240" y="2450592"/>
            <a:ext cx="2990088" cy="438912"/>
          </a:xfrm>
          <a:prstGeom prst="rect">
            <a:avLst/>
          </a:prstGeom>
          <a:noFill/>
          <a:ln/>
        </p:spPr>
        <p:txBody>
          <a:bodyPr wrap="square" lIns="0" tIns="0" rIns="0" bIns="0" rtlCol="0" anchor="ctr"/>
          <a:lstStyle/>
          <a:p>
            <a:pPr indent="0" marL="0">
              <a:buNone/>
            </a:pPr>
            <a:r>
              <a:rPr lang="en-US" sz="2100" b="1" dirty="0">
                <a:solidFill>
                  <a:srgbClr val="EFBD73"/>
                </a:solidFill>
                <a:latin typeface="Aptos" pitchFamily="34" charset="0"/>
                <a:ea typeface="Aptos" pitchFamily="34" charset="-122"/>
                <a:cs typeface="Aptos" pitchFamily="34" charset="-120"/>
              </a:rPr>
              <a:t>Web interface</a:t>
            </a:r>
            <a:endParaRPr lang="en-US" sz="2100" dirty="0"/>
          </a:p>
        </p:txBody>
      </p:sp>
      <p:sp>
        <p:nvSpPr>
          <p:cNvPr id="11" name="Text 9"/>
          <p:cNvSpPr/>
          <p:nvPr/>
        </p:nvSpPr>
        <p:spPr>
          <a:xfrm>
            <a:off x="777240" y="3063240"/>
            <a:ext cx="2990088" cy="68580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Map, calendar, feature pages</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Typed requests + React Query</a:t>
            </a:r>
            <a:endParaRPr lang="en-US" sz="1700" dirty="0"/>
          </a:p>
        </p:txBody>
      </p:sp>
      <p:sp>
        <p:nvSpPr>
          <p:cNvPr id="12" name="Shape 10"/>
          <p:cNvSpPr/>
          <p:nvPr/>
        </p:nvSpPr>
        <p:spPr>
          <a:xfrm>
            <a:off x="4407408" y="2286000"/>
            <a:ext cx="3355848" cy="1600200"/>
          </a:xfrm>
          <a:prstGeom prst="rect">
            <a:avLst/>
          </a:prstGeom>
          <a:solidFill>
            <a:srgbClr val="161D36"/>
          </a:solidFill>
          <a:ln w="12700">
            <a:solidFill>
              <a:srgbClr val="161D36"/>
            </a:solidFill>
            <a:prstDash val="solid"/>
          </a:ln>
        </p:spPr>
      </p:sp>
      <p:sp>
        <p:nvSpPr>
          <p:cNvPr id="13" name="Text 11"/>
          <p:cNvSpPr/>
          <p:nvPr/>
        </p:nvSpPr>
        <p:spPr>
          <a:xfrm>
            <a:off x="4590288" y="2450592"/>
            <a:ext cx="2990088" cy="438912"/>
          </a:xfrm>
          <a:prstGeom prst="rect">
            <a:avLst/>
          </a:prstGeom>
          <a:noFill/>
          <a:ln/>
        </p:spPr>
        <p:txBody>
          <a:bodyPr wrap="square" lIns="0" tIns="0" rIns="0" bIns="0" rtlCol="0" anchor="ctr"/>
          <a:lstStyle/>
          <a:p>
            <a:pPr indent="0" marL="0">
              <a:buNone/>
            </a:pPr>
            <a:r>
              <a:rPr lang="en-US" sz="2100" b="1" dirty="0">
                <a:solidFill>
                  <a:srgbClr val="EFBD73"/>
                </a:solidFill>
                <a:latin typeface="Aptos" pitchFamily="34" charset="0"/>
                <a:ea typeface="Aptos" pitchFamily="34" charset="-122"/>
                <a:cs typeface="Aptos" pitchFamily="34" charset="-120"/>
              </a:rPr>
              <a:t>API + domain services</a:t>
            </a:r>
            <a:endParaRPr lang="en-US" sz="2100" dirty="0"/>
          </a:p>
        </p:txBody>
      </p:sp>
      <p:sp>
        <p:nvSpPr>
          <p:cNvPr id="14" name="Text 12"/>
          <p:cNvSpPr/>
          <p:nvPr/>
        </p:nvSpPr>
        <p:spPr>
          <a:xfrm>
            <a:off x="4590288" y="3063240"/>
            <a:ext cx="2990088" cy="68580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Validated requests, provider</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adapters, caches and alert jobs</a:t>
            </a:r>
            <a:endParaRPr lang="en-US" sz="1700" dirty="0"/>
          </a:p>
        </p:txBody>
      </p:sp>
      <p:sp>
        <p:nvSpPr>
          <p:cNvPr id="15" name="Shape 13"/>
          <p:cNvSpPr/>
          <p:nvPr/>
        </p:nvSpPr>
        <p:spPr>
          <a:xfrm>
            <a:off x="8220456" y="2286000"/>
            <a:ext cx="3355848" cy="1600200"/>
          </a:xfrm>
          <a:prstGeom prst="rect">
            <a:avLst/>
          </a:prstGeom>
          <a:solidFill>
            <a:srgbClr val="161D36"/>
          </a:solidFill>
          <a:ln w="12700">
            <a:solidFill>
              <a:srgbClr val="161D36"/>
            </a:solidFill>
            <a:prstDash val="solid"/>
          </a:ln>
        </p:spPr>
      </p:sp>
      <p:sp>
        <p:nvSpPr>
          <p:cNvPr id="16" name="Text 14"/>
          <p:cNvSpPr/>
          <p:nvPr/>
        </p:nvSpPr>
        <p:spPr>
          <a:xfrm>
            <a:off x="8403336" y="2450592"/>
            <a:ext cx="2990088" cy="438912"/>
          </a:xfrm>
          <a:prstGeom prst="rect">
            <a:avLst/>
          </a:prstGeom>
          <a:noFill/>
          <a:ln/>
        </p:spPr>
        <p:txBody>
          <a:bodyPr wrap="square" lIns="0" tIns="0" rIns="0" bIns="0" rtlCol="0" anchor="ctr"/>
          <a:lstStyle/>
          <a:p>
            <a:pPr indent="0" marL="0">
              <a:buNone/>
            </a:pPr>
            <a:r>
              <a:rPr lang="en-US" sz="2100" b="1" dirty="0">
                <a:solidFill>
                  <a:srgbClr val="EFBD73"/>
                </a:solidFill>
                <a:latin typeface="Aptos" pitchFamily="34" charset="0"/>
                <a:ea typeface="Aptos" pitchFamily="34" charset="-122"/>
                <a:cs typeface="Aptos" pitchFamily="34" charset="-120"/>
              </a:rPr>
              <a:t>PostgreSQL / Neon</a:t>
            </a:r>
            <a:endParaRPr lang="en-US" sz="2100" dirty="0"/>
          </a:p>
        </p:txBody>
      </p:sp>
      <p:sp>
        <p:nvSpPr>
          <p:cNvPr id="17" name="Text 15"/>
          <p:cNvSpPr/>
          <p:nvPr/>
        </p:nvSpPr>
        <p:spPr>
          <a:xfrm>
            <a:off x="8403336" y="3063240"/>
            <a:ext cx="2990088" cy="685800"/>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Destinations, forecasts,</a:t>
            </a:r>
            <a:endParaRPr lang="en-US" sz="1700" dirty="0"/>
          </a:p>
          <a:p>
            <a:pPr indent="0" marL="0">
              <a:buNone/>
            </a:pPr>
            <a:r>
              <a:rPr lang="en-US" sz="1700" dirty="0">
                <a:solidFill>
                  <a:srgbClr val="B5BED5"/>
                </a:solidFill>
                <a:latin typeface="Aptos" pitchFamily="34" charset="0"/>
                <a:ea typeface="Aptos" pitchFamily="34" charset="-122"/>
                <a:cs typeface="Aptos" pitchFamily="34" charset="-120"/>
              </a:rPr>
              <a:t>events, feeds and push jobs</a:t>
            </a:r>
            <a:endParaRPr lang="en-US" sz="1700" dirty="0"/>
          </a:p>
        </p:txBody>
      </p:sp>
      <p:sp>
        <p:nvSpPr>
          <p:cNvPr id="18" name="Shape 16"/>
          <p:cNvSpPr/>
          <p:nvPr/>
        </p:nvSpPr>
        <p:spPr>
          <a:xfrm>
            <a:off x="3950208" y="3072384"/>
            <a:ext cx="393192" cy="0"/>
          </a:xfrm>
          <a:prstGeom prst="line">
            <a:avLst/>
          </a:prstGeom>
          <a:noFill/>
          <a:ln w="20320">
            <a:solidFill>
              <a:srgbClr val="EFBD73"/>
            </a:solidFill>
            <a:prstDash val="solid"/>
            <a:tailEnd type="triangle"/>
          </a:ln>
        </p:spPr>
      </p:sp>
      <p:sp>
        <p:nvSpPr>
          <p:cNvPr id="19" name="Shape 17"/>
          <p:cNvSpPr/>
          <p:nvPr/>
        </p:nvSpPr>
        <p:spPr>
          <a:xfrm>
            <a:off x="7763256" y="3072384"/>
            <a:ext cx="393192" cy="0"/>
          </a:xfrm>
          <a:prstGeom prst="line">
            <a:avLst/>
          </a:prstGeom>
          <a:noFill/>
          <a:ln w="20320">
            <a:solidFill>
              <a:srgbClr val="EFBD73"/>
            </a:solidFill>
            <a:prstDash val="solid"/>
            <a:tailEnd type="triangle"/>
          </a:ln>
        </p:spPr>
      </p:sp>
      <p:sp>
        <p:nvSpPr>
          <p:cNvPr id="20" name="Shape 18"/>
          <p:cNvSpPr/>
          <p:nvPr/>
        </p:nvSpPr>
        <p:spPr>
          <a:xfrm>
            <a:off x="594360" y="4434840"/>
            <a:ext cx="5376672" cy="1481328"/>
          </a:xfrm>
          <a:prstGeom prst="rect">
            <a:avLst/>
          </a:prstGeom>
          <a:solidFill>
            <a:srgbClr val="161D36"/>
          </a:solidFill>
          <a:ln w="12700">
            <a:solidFill>
              <a:srgbClr val="161D36"/>
            </a:solidFill>
            <a:prstDash val="solid"/>
          </a:ln>
        </p:spPr>
      </p:sp>
      <p:sp>
        <p:nvSpPr>
          <p:cNvPr id="21" name="Text 19"/>
          <p:cNvSpPr/>
          <p:nvPr/>
        </p:nvSpPr>
        <p:spPr>
          <a:xfrm>
            <a:off x="777240" y="4599432"/>
            <a:ext cx="5010912" cy="438912"/>
          </a:xfrm>
          <a:prstGeom prst="rect">
            <a:avLst/>
          </a:prstGeom>
          <a:noFill/>
          <a:ln/>
        </p:spPr>
        <p:txBody>
          <a:bodyPr wrap="square" lIns="0" tIns="0" rIns="0" bIns="0" rtlCol="0" anchor="ctr"/>
          <a:lstStyle/>
          <a:p>
            <a:pPr indent="0" marL="0">
              <a:buNone/>
            </a:pPr>
            <a:r>
              <a:rPr lang="en-US" sz="2100" b="1" dirty="0">
                <a:solidFill>
                  <a:srgbClr val="81CAB0"/>
                </a:solidFill>
                <a:latin typeface="Aptos" pitchFamily="34" charset="0"/>
                <a:ea typeface="Aptos" pitchFamily="34" charset="-122"/>
                <a:cs typeface="Aptos" pitchFamily="34" charset="-120"/>
              </a:rPr>
              <a:t>Local image worker</a:t>
            </a:r>
            <a:endParaRPr lang="en-US" sz="2100" dirty="0"/>
          </a:p>
        </p:txBody>
      </p:sp>
      <p:sp>
        <p:nvSpPr>
          <p:cNvPr id="22" name="Text 20"/>
          <p:cNvSpPr/>
          <p:nvPr/>
        </p:nvSpPr>
        <p:spPr>
          <a:xfrm>
            <a:off x="777240" y="5212080"/>
            <a:ext cx="5010912" cy="566928"/>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Validate → DnCNN → bounded blend → inspect</a:t>
            </a:r>
            <a:endParaRPr lang="en-US" sz="1700" dirty="0"/>
          </a:p>
        </p:txBody>
      </p:sp>
      <p:sp>
        <p:nvSpPr>
          <p:cNvPr id="23" name="Shape 21"/>
          <p:cNvSpPr/>
          <p:nvPr/>
        </p:nvSpPr>
        <p:spPr>
          <a:xfrm>
            <a:off x="6181344" y="4434840"/>
            <a:ext cx="5394960" cy="1481328"/>
          </a:xfrm>
          <a:prstGeom prst="rect">
            <a:avLst/>
          </a:prstGeom>
          <a:solidFill>
            <a:srgbClr val="161D36"/>
          </a:solidFill>
          <a:ln w="12700">
            <a:solidFill>
              <a:srgbClr val="161D36"/>
            </a:solidFill>
            <a:prstDash val="solid"/>
          </a:ln>
        </p:spPr>
      </p:sp>
      <p:sp>
        <p:nvSpPr>
          <p:cNvPr id="24" name="Text 22"/>
          <p:cNvSpPr/>
          <p:nvPr/>
        </p:nvSpPr>
        <p:spPr>
          <a:xfrm>
            <a:off x="6364224" y="4599432"/>
            <a:ext cx="5029200" cy="438912"/>
          </a:xfrm>
          <a:prstGeom prst="rect">
            <a:avLst/>
          </a:prstGeom>
          <a:noFill/>
          <a:ln/>
        </p:spPr>
        <p:txBody>
          <a:bodyPr wrap="square" lIns="0" tIns="0" rIns="0" bIns="0" rtlCol="0" anchor="ctr"/>
          <a:lstStyle/>
          <a:p>
            <a:pPr indent="0" marL="0">
              <a:buNone/>
            </a:pPr>
            <a:r>
              <a:rPr lang="en-US" sz="2100" b="1" dirty="0">
                <a:solidFill>
                  <a:srgbClr val="81CAB0"/>
                </a:solidFill>
                <a:latin typeface="Aptos" pitchFamily="34" charset="0"/>
                <a:ea typeface="Aptos" pitchFamily="34" charset="-122"/>
                <a:cs typeface="Aptos" pitchFamily="34" charset="-120"/>
              </a:rPr>
              <a:t>Independent data sources</a:t>
            </a:r>
            <a:endParaRPr lang="en-US" sz="2100" dirty="0"/>
          </a:p>
        </p:txBody>
      </p:sp>
      <p:sp>
        <p:nvSpPr>
          <p:cNvPr id="25" name="Text 23"/>
          <p:cNvSpPr/>
          <p:nvPr/>
        </p:nvSpPr>
        <p:spPr>
          <a:xfrm>
            <a:off x="6364224" y="5212080"/>
            <a:ext cx="5029200" cy="566928"/>
          </a:xfrm>
          <a:prstGeom prst="rect">
            <a:avLst/>
          </a:prstGeom>
          <a:noFill/>
          <a:ln/>
        </p:spPr>
        <p:txBody>
          <a:bodyPr wrap="square" lIns="0" tIns="0" rIns="0" bIns="0" rtlCol="0" anchor="t"/>
          <a:lstStyle/>
          <a:p>
            <a:pPr indent="0" marL="0">
              <a:buNone/>
            </a:pPr>
            <a:r>
              <a:rPr lang="en-US" sz="1700" dirty="0">
                <a:solidFill>
                  <a:srgbClr val="B5BED5"/>
                </a:solidFill>
                <a:latin typeface="Aptos" pitchFamily="34" charset="0"/>
                <a:ea typeface="Aptos" pitchFamily="34" charset="-122"/>
                <a:cs typeface="Aptos" pitchFamily="34" charset="-120"/>
              </a:rPr>
              <a:t>Open-Meteo, USNO, CelesTrak, NASA, launches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12700">
            <a:solidFill>
              <a:srgbClr val="C94B55"/>
            </a:solidFill>
            <a:prstDash val="solid"/>
          </a:ln>
        </p:spPr>
      </p:sp>
      <p:sp>
        <p:nvSpPr>
          <p:cNvPr id="3" name="Text 1"/>
          <p:cNvSpPr/>
          <p:nvPr/>
        </p:nvSpPr>
        <p:spPr>
          <a:xfrm>
            <a:off x="548640" y="320040"/>
            <a:ext cx="10972800" cy="228600"/>
          </a:xfrm>
          <a:prstGeom prst="rect">
            <a:avLst/>
          </a:prstGeom>
          <a:noFill/>
          <a:ln/>
        </p:spPr>
        <p:txBody>
          <a:bodyPr wrap="square" lIns="0" tIns="0" rIns="0" bIns="0" rtlCol="0" anchor="ctr"/>
          <a:lstStyle/>
          <a:p>
            <a:pPr indent="0" marL="0">
              <a:buNone/>
            </a:pPr>
            <a:r>
              <a:rPr lang="en-US" sz="1000" spc="200" kern="0" dirty="0">
                <a:solidFill>
                  <a:srgbClr val="EFBD73"/>
                </a:solidFill>
                <a:latin typeface="Aptos" pitchFamily="34" charset="0"/>
                <a:ea typeface="Aptos" pitchFamily="34" charset="-122"/>
                <a:cs typeface="Aptos" pitchFamily="34" charset="-120"/>
              </a:rPr>
              <a:t>WHY THIS PROJECT STANDS OUT</a:t>
            </a:r>
            <a:endParaRPr lang="en-US" sz="1000" dirty="0"/>
          </a:p>
        </p:txBody>
      </p:sp>
      <p:sp>
        <p:nvSpPr>
          <p:cNvPr id="4" name="Text 2"/>
          <p:cNvSpPr/>
          <p:nvPr/>
        </p:nvSpPr>
        <p:spPr>
          <a:xfrm>
            <a:off x="548640" y="841248"/>
            <a:ext cx="11064240" cy="640080"/>
          </a:xfrm>
          <a:prstGeom prst="rect">
            <a:avLst/>
          </a:prstGeom>
          <a:noFill/>
          <a:ln/>
        </p:spPr>
        <p:txBody>
          <a:bodyPr wrap="square" lIns="0" tIns="0" rIns="0" bIns="0" rtlCol="0" anchor="ctr"/>
          <a:lstStyle/>
          <a:p>
            <a:pPr indent="0" marL="0">
              <a:buNone/>
            </a:pPr>
            <a:r>
              <a:rPr lang="en-US" sz="3100" dirty="0">
                <a:solidFill>
                  <a:srgbClr val="F5EEE5"/>
                </a:solidFill>
                <a:latin typeface="Georgia" pitchFamily="34" charset="0"/>
                <a:ea typeface="Georgia" pitchFamily="34" charset="-122"/>
                <a:cs typeface="Georgia" pitchFamily="34" charset="-120"/>
              </a:rPr>
              <a:t>An observing journey with its own identity</a:t>
            </a:r>
            <a:endParaRPr lang="en-US" sz="3100" dirty="0"/>
          </a:p>
        </p:txBody>
      </p:sp>
      <p:sp>
        <p:nvSpPr>
          <p:cNvPr id="5" name="Text 3"/>
          <p:cNvSpPr/>
          <p:nvPr/>
        </p:nvSpPr>
        <p:spPr>
          <a:xfrm>
            <a:off x="566928" y="1618488"/>
            <a:ext cx="10972800" cy="457200"/>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The innovation is the connected experience and inspectable processing.</a:t>
            </a:r>
            <a:endParaRPr lang="en-US" sz="1500" dirty="0"/>
          </a:p>
        </p:txBody>
      </p:sp>
      <p:sp>
        <p:nvSpPr>
          <p:cNvPr id="6" name="Shape 4"/>
          <p:cNvSpPr/>
          <p:nvPr/>
        </p:nvSpPr>
        <p:spPr>
          <a:xfrm>
            <a:off x="502920" y="6382512"/>
            <a:ext cx="11183112" cy="0"/>
          </a:xfrm>
          <a:prstGeom prst="line">
            <a:avLst/>
          </a:prstGeom>
          <a:noFill/>
          <a:ln w="12700">
            <a:solidFill>
              <a:srgbClr val="2D3651"/>
            </a:solidFill>
            <a:prstDash val="solid"/>
          </a:ln>
        </p:spPr>
      </p:sp>
      <p:sp>
        <p:nvSpPr>
          <p:cNvPr id="7" name="Text 5"/>
          <p:cNvSpPr/>
          <p:nvPr/>
        </p:nvSpPr>
        <p:spPr>
          <a:xfrm>
            <a:off x="548640" y="6519672"/>
            <a:ext cx="10058400" cy="137160"/>
          </a:xfrm>
          <a:prstGeom prst="rect">
            <a:avLst/>
          </a:prstGeom>
          <a:noFill/>
          <a:ln/>
        </p:spPr>
        <p:txBody>
          <a:bodyPr wrap="square" lIns="0" tIns="0" rIns="0" bIns="0" rtlCol="0" anchor="ctr"/>
          <a:lstStyle/>
          <a:p>
            <a:pPr indent="0" marL="0">
              <a:buNone/>
            </a:pPr>
            <a:r>
              <a:rPr lang="en-US" sz="900" spc="100" kern="0" dirty="0">
                <a:solidFill>
                  <a:srgbClr val="B5BED5"/>
                </a:solidFill>
                <a:latin typeface="Aptos" pitchFamily="34" charset="0"/>
                <a:ea typeface="Aptos" pitchFamily="34" charset="-122"/>
                <a:cs typeface="Aptos" pitchFamily="34" charset="-120"/>
              </a:rPr>
              <a:t>TEAM PF-K96JPZ  /  PS-002  /  PECATHON 2026</a:t>
            </a:r>
            <a:endParaRPr lang="en-US" sz="900" dirty="0"/>
          </a:p>
        </p:txBody>
      </p:sp>
      <p:sp>
        <p:nvSpPr>
          <p:cNvPr id="8" name="Text 6"/>
          <p:cNvSpPr/>
          <p:nvPr/>
        </p:nvSpPr>
        <p:spPr>
          <a:xfrm>
            <a:off x="10972800" y="6483096"/>
            <a:ext cx="685800" cy="219456"/>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6 / 8</a:t>
            </a:r>
            <a:endParaRPr lang="en-US" sz="1000" dirty="0"/>
          </a:p>
        </p:txBody>
      </p:sp>
      <p:sp>
        <p:nvSpPr>
          <p:cNvPr id="9" name="Shape 7"/>
          <p:cNvSpPr/>
          <p:nvPr/>
        </p:nvSpPr>
        <p:spPr>
          <a:xfrm>
            <a:off x="594360" y="2286000"/>
            <a:ext cx="3529584" cy="3429000"/>
          </a:xfrm>
          <a:prstGeom prst="rect">
            <a:avLst/>
          </a:prstGeom>
          <a:solidFill>
            <a:srgbClr val="161D36"/>
          </a:solidFill>
          <a:ln w="12700">
            <a:solidFill>
              <a:srgbClr val="161D36"/>
            </a:solidFill>
            <a:prstDash val="solid"/>
          </a:ln>
        </p:spPr>
      </p:sp>
      <p:sp>
        <p:nvSpPr>
          <p:cNvPr id="10" name="Shape 8"/>
          <p:cNvSpPr/>
          <p:nvPr/>
        </p:nvSpPr>
        <p:spPr>
          <a:xfrm>
            <a:off x="594360" y="2286000"/>
            <a:ext cx="41148" cy="3429000"/>
          </a:xfrm>
          <a:prstGeom prst="rect">
            <a:avLst/>
          </a:prstGeom>
          <a:solidFill>
            <a:srgbClr val="EFBD73"/>
          </a:solidFill>
          <a:ln w="12700">
            <a:solidFill>
              <a:srgbClr val="EFBD73"/>
            </a:solidFill>
            <a:prstDash val="solid"/>
          </a:ln>
        </p:spPr>
      </p:sp>
      <p:sp>
        <p:nvSpPr>
          <p:cNvPr id="11" name="Text 9"/>
          <p:cNvSpPr/>
          <p:nvPr/>
        </p:nvSpPr>
        <p:spPr>
          <a:xfrm>
            <a:off x="777240" y="2487168"/>
            <a:ext cx="3163824" cy="256032"/>
          </a:xfrm>
          <a:prstGeom prst="rect">
            <a:avLst/>
          </a:prstGeom>
          <a:noFill/>
          <a:ln/>
        </p:spPr>
        <p:txBody>
          <a:bodyPr wrap="square" lIns="0" tIns="0" rIns="0" bIns="0" rtlCol="0" anchor="ctr"/>
          <a:lstStyle/>
          <a:p>
            <a:pPr indent="0" marL="0">
              <a:buNone/>
            </a:pPr>
            <a:r>
              <a:rPr lang="en-US" sz="1100" spc="100" kern="0" dirty="0">
                <a:solidFill>
                  <a:srgbClr val="EFBD73"/>
                </a:solidFill>
                <a:latin typeface="Aptos" pitchFamily="34" charset="0"/>
                <a:ea typeface="Aptos" pitchFamily="34" charset="-122"/>
                <a:cs typeface="Aptos" pitchFamily="34" charset="-120"/>
              </a:rPr>
              <a:t>MORE WAYS TO EXPLORE</a:t>
            </a:r>
            <a:endParaRPr lang="en-US" sz="1100" dirty="0"/>
          </a:p>
        </p:txBody>
      </p:sp>
      <p:sp>
        <p:nvSpPr>
          <p:cNvPr id="12" name="Text 10"/>
          <p:cNvSpPr/>
          <p:nvPr/>
        </p:nvSpPr>
        <p:spPr>
          <a:xfrm>
            <a:off x="777240" y="2980944"/>
            <a:ext cx="3163824" cy="713232"/>
          </a:xfrm>
          <a:prstGeom prst="rect">
            <a:avLst/>
          </a:prstGeom>
          <a:noFill/>
          <a:ln/>
        </p:spPr>
        <p:txBody>
          <a:bodyPr wrap="square" lIns="0" tIns="0" rIns="0" bIns="0" rtlCol="0" anchor="ctr"/>
          <a:lstStyle/>
          <a:p>
            <a:pPr indent="0" marL="0">
              <a:buNone/>
            </a:pPr>
            <a:r>
              <a:rPr lang="en-US" sz="2400" dirty="0">
                <a:solidFill>
                  <a:srgbClr val="F5EEE5"/>
                </a:solidFill>
                <a:latin typeface="Georgia" pitchFamily="34" charset="0"/>
                <a:ea typeface="Georgia" pitchFamily="34" charset="-122"/>
                <a:cs typeface="Georgia" pitchFamily="34" charset="-120"/>
              </a:rPr>
              <a:t>Archive + signals</a:t>
            </a:r>
            <a:endParaRPr lang="en-US" sz="2400" dirty="0"/>
          </a:p>
        </p:txBody>
      </p:sp>
      <p:sp>
        <p:nvSpPr>
          <p:cNvPr id="13" name="Text 11"/>
          <p:cNvSpPr/>
          <p:nvPr/>
        </p:nvSpPr>
        <p:spPr>
          <a:xfrm>
            <a:off x="777240" y="3886200"/>
            <a:ext cx="3163824" cy="1645920"/>
          </a:xfrm>
          <a:prstGeom prst="rect">
            <a:avLst/>
          </a:prstGeom>
          <a:noFill/>
          <a:ln/>
        </p:spPr>
        <p:txBody>
          <a:bodyPr wrap="square" lIns="0" tIns="0" rIns="0" bIns="0" rtlCol="0" anchor="t"/>
          <a:lstStyle/>
          <a:p>
            <a:pPr indent="0" marL="0">
              <a:buNone/>
            </a:pPr>
            <a:r>
              <a:rPr lang="en-US" sz="1800" dirty="0">
                <a:solidFill>
                  <a:srgbClr val="B5BED5"/>
                </a:solidFill>
                <a:latin typeface="Aptos" pitchFamily="34" charset="0"/>
                <a:ea typeface="Aptos" pitchFamily="34" charset="-122"/>
                <a:cs typeface="Aptos" pitchFamily="34" charset="-120"/>
              </a:rPr>
              <a:t>Import NASA archival survey images. Screen light-curve and spectral CSVs for follow-up candidates.</a:t>
            </a:r>
            <a:endParaRPr lang="en-US" sz="1800" dirty="0"/>
          </a:p>
        </p:txBody>
      </p:sp>
      <p:sp>
        <p:nvSpPr>
          <p:cNvPr id="14" name="Shape 12"/>
          <p:cNvSpPr/>
          <p:nvPr/>
        </p:nvSpPr>
        <p:spPr>
          <a:xfrm>
            <a:off x="4325112" y="2286000"/>
            <a:ext cx="3529584" cy="3429000"/>
          </a:xfrm>
          <a:prstGeom prst="rect">
            <a:avLst/>
          </a:prstGeom>
          <a:solidFill>
            <a:srgbClr val="161D36"/>
          </a:solidFill>
          <a:ln w="12700">
            <a:solidFill>
              <a:srgbClr val="161D36"/>
            </a:solidFill>
            <a:prstDash val="solid"/>
          </a:ln>
        </p:spPr>
      </p:sp>
      <p:sp>
        <p:nvSpPr>
          <p:cNvPr id="15" name="Shape 13"/>
          <p:cNvSpPr/>
          <p:nvPr/>
        </p:nvSpPr>
        <p:spPr>
          <a:xfrm>
            <a:off x="4325112" y="2286000"/>
            <a:ext cx="41148" cy="3429000"/>
          </a:xfrm>
          <a:prstGeom prst="rect">
            <a:avLst/>
          </a:prstGeom>
          <a:solidFill>
            <a:srgbClr val="EFBD73"/>
          </a:solidFill>
          <a:ln w="12700">
            <a:solidFill>
              <a:srgbClr val="EFBD73"/>
            </a:solidFill>
            <a:prstDash val="solid"/>
          </a:ln>
        </p:spPr>
      </p:sp>
      <p:sp>
        <p:nvSpPr>
          <p:cNvPr id="16" name="Text 14"/>
          <p:cNvSpPr/>
          <p:nvPr/>
        </p:nvSpPr>
        <p:spPr>
          <a:xfrm>
            <a:off x="4507992" y="2487168"/>
            <a:ext cx="3163824" cy="256032"/>
          </a:xfrm>
          <a:prstGeom prst="rect">
            <a:avLst/>
          </a:prstGeom>
          <a:noFill/>
          <a:ln/>
        </p:spPr>
        <p:txBody>
          <a:bodyPr wrap="square" lIns="0" tIns="0" rIns="0" bIns="0" rtlCol="0" anchor="ctr"/>
          <a:lstStyle/>
          <a:p>
            <a:pPr indent="0" marL="0">
              <a:buNone/>
            </a:pPr>
            <a:r>
              <a:rPr lang="en-US" sz="1100" spc="100" kern="0" dirty="0">
                <a:solidFill>
                  <a:srgbClr val="EFBD73"/>
                </a:solidFill>
                <a:latin typeface="Aptos" pitchFamily="34" charset="0"/>
                <a:ea typeface="Aptos" pitchFamily="34" charset="-122"/>
                <a:cs typeface="Aptos" pitchFamily="34" charset="-120"/>
              </a:rPr>
              <a:t>PRACTICE AND RETURN</a:t>
            </a:r>
            <a:endParaRPr lang="en-US" sz="1100" dirty="0"/>
          </a:p>
        </p:txBody>
      </p:sp>
      <p:sp>
        <p:nvSpPr>
          <p:cNvPr id="17" name="Text 15"/>
          <p:cNvSpPr/>
          <p:nvPr/>
        </p:nvSpPr>
        <p:spPr>
          <a:xfrm>
            <a:off x="4507992" y="2980944"/>
            <a:ext cx="3163824" cy="713232"/>
          </a:xfrm>
          <a:prstGeom prst="rect">
            <a:avLst/>
          </a:prstGeom>
          <a:noFill/>
          <a:ln/>
        </p:spPr>
        <p:txBody>
          <a:bodyPr wrap="square" lIns="0" tIns="0" rIns="0" bIns="0" rtlCol="0" anchor="ctr"/>
          <a:lstStyle/>
          <a:p>
            <a:pPr indent="0" marL="0">
              <a:buNone/>
            </a:pPr>
            <a:r>
              <a:rPr lang="en-US" sz="2400" dirty="0">
                <a:solidFill>
                  <a:srgbClr val="F5EEE5"/>
                </a:solidFill>
                <a:latin typeface="Georgia" pitchFamily="34" charset="0"/>
                <a:ea typeface="Georgia" pitchFamily="34" charset="-122"/>
                <a:cs typeface="Georgia" pitchFamily="34" charset="-120"/>
              </a:rPr>
              <a:t>Honor journal</a:t>
            </a:r>
            <a:endParaRPr lang="en-US" sz="2400" dirty="0"/>
          </a:p>
        </p:txBody>
      </p:sp>
      <p:sp>
        <p:nvSpPr>
          <p:cNvPr id="18" name="Text 16"/>
          <p:cNvSpPr/>
          <p:nvPr/>
        </p:nvSpPr>
        <p:spPr>
          <a:xfrm>
            <a:off x="4507992" y="3886200"/>
            <a:ext cx="3163824" cy="1645920"/>
          </a:xfrm>
          <a:prstGeom prst="rect">
            <a:avLst/>
          </a:prstGeom>
          <a:noFill/>
          <a:ln/>
        </p:spPr>
        <p:txBody>
          <a:bodyPr wrap="square" lIns="0" tIns="0" rIns="0" bIns="0" rtlCol="0" anchor="t"/>
          <a:lstStyle/>
          <a:p>
            <a:pPr indent="0" marL="0">
              <a:buNone/>
            </a:pPr>
            <a:r>
              <a:rPr lang="en-US" sz="1800" dirty="0">
                <a:solidFill>
                  <a:srgbClr val="B5BED5"/>
                </a:solidFill>
                <a:latin typeface="Aptos" pitchFamily="34" charset="0"/>
                <a:ea typeface="Aptos" pitchFamily="34" charset="-122"/>
                <a:cs typeface="Aptos" pitchFamily="34" charset="-120"/>
              </a:rPr>
              <a:t>Log observations, earn 25 points per event and unlock badges. Keep an exportable device-local record.</a:t>
            </a:r>
            <a:endParaRPr lang="en-US" sz="1800" dirty="0"/>
          </a:p>
        </p:txBody>
      </p:sp>
      <p:sp>
        <p:nvSpPr>
          <p:cNvPr id="19" name="Shape 17"/>
          <p:cNvSpPr/>
          <p:nvPr/>
        </p:nvSpPr>
        <p:spPr>
          <a:xfrm>
            <a:off x="8055864" y="2286000"/>
            <a:ext cx="3529584" cy="3429000"/>
          </a:xfrm>
          <a:prstGeom prst="rect">
            <a:avLst/>
          </a:prstGeom>
          <a:solidFill>
            <a:srgbClr val="161D36"/>
          </a:solidFill>
          <a:ln w="12700">
            <a:solidFill>
              <a:srgbClr val="161D36"/>
            </a:solidFill>
            <a:prstDash val="solid"/>
          </a:ln>
        </p:spPr>
      </p:sp>
      <p:sp>
        <p:nvSpPr>
          <p:cNvPr id="20" name="Shape 18"/>
          <p:cNvSpPr/>
          <p:nvPr/>
        </p:nvSpPr>
        <p:spPr>
          <a:xfrm>
            <a:off x="8055864" y="2286000"/>
            <a:ext cx="41148" cy="3429000"/>
          </a:xfrm>
          <a:prstGeom prst="rect">
            <a:avLst/>
          </a:prstGeom>
          <a:solidFill>
            <a:srgbClr val="EFBD73"/>
          </a:solidFill>
          <a:ln w="12700">
            <a:solidFill>
              <a:srgbClr val="EFBD73"/>
            </a:solidFill>
            <a:prstDash val="solid"/>
          </a:ln>
        </p:spPr>
      </p:sp>
      <p:sp>
        <p:nvSpPr>
          <p:cNvPr id="21" name="Text 19"/>
          <p:cNvSpPr/>
          <p:nvPr/>
        </p:nvSpPr>
        <p:spPr>
          <a:xfrm>
            <a:off x="8238744" y="2487168"/>
            <a:ext cx="3163824" cy="256032"/>
          </a:xfrm>
          <a:prstGeom prst="rect">
            <a:avLst/>
          </a:prstGeom>
          <a:noFill/>
          <a:ln/>
        </p:spPr>
        <p:txBody>
          <a:bodyPr wrap="square" lIns="0" tIns="0" rIns="0" bIns="0" rtlCol="0" anchor="ctr"/>
          <a:lstStyle/>
          <a:p>
            <a:pPr indent="0" marL="0">
              <a:buNone/>
            </a:pPr>
            <a:r>
              <a:rPr lang="en-US" sz="1100" spc="100" kern="0" dirty="0">
                <a:solidFill>
                  <a:srgbClr val="EFBD73"/>
                </a:solidFill>
                <a:latin typeface="Aptos" pitchFamily="34" charset="0"/>
                <a:ea typeface="Aptos" pitchFamily="34" charset="-122"/>
                <a:cs typeface="Aptos" pitchFamily="34" charset="-120"/>
              </a:rPr>
              <a:t>JAPANESE-INSPIRED</a:t>
            </a:r>
            <a:endParaRPr lang="en-US" sz="1100" dirty="0"/>
          </a:p>
        </p:txBody>
      </p:sp>
      <p:sp>
        <p:nvSpPr>
          <p:cNvPr id="22" name="Text 20"/>
          <p:cNvSpPr/>
          <p:nvPr/>
        </p:nvSpPr>
        <p:spPr>
          <a:xfrm>
            <a:off x="8238744" y="2980944"/>
            <a:ext cx="3163824" cy="713232"/>
          </a:xfrm>
          <a:prstGeom prst="rect">
            <a:avLst/>
          </a:prstGeom>
          <a:noFill/>
          <a:ln/>
        </p:spPr>
        <p:txBody>
          <a:bodyPr wrap="square" lIns="0" tIns="0" rIns="0" bIns="0" rtlCol="0" anchor="ctr"/>
          <a:lstStyle/>
          <a:p>
            <a:pPr indent="0" marL="0">
              <a:buNone/>
            </a:pPr>
            <a:r>
              <a:rPr lang="en-US" sz="2400" dirty="0">
                <a:solidFill>
                  <a:srgbClr val="F5EEE5"/>
                </a:solidFill>
                <a:latin typeface="Georgia" pitchFamily="34" charset="0"/>
                <a:ea typeface="Georgia" pitchFamily="34" charset="-122"/>
                <a:cs typeface="Georgia" pitchFamily="34" charset="-120"/>
              </a:rPr>
              <a:t>Four visual motifs</a:t>
            </a:r>
            <a:endParaRPr lang="en-US" sz="2400" dirty="0"/>
          </a:p>
        </p:txBody>
      </p:sp>
      <p:sp>
        <p:nvSpPr>
          <p:cNvPr id="23" name="Text 21"/>
          <p:cNvSpPr/>
          <p:nvPr/>
        </p:nvSpPr>
        <p:spPr>
          <a:xfrm>
            <a:off x="8238744" y="3886200"/>
            <a:ext cx="3163824" cy="1645920"/>
          </a:xfrm>
          <a:prstGeom prst="rect">
            <a:avLst/>
          </a:prstGeom>
          <a:noFill/>
          <a:ln/>
        </p:spPr>
        <p:txBody>
          <a:bodyPr wrap="square" lIns="0" tIns="0" rIns="0" bIns="0" rtlCol="0" anchor="t"/>
          <a:lstStyle/>
          <a:p>
            <a:pPr indent="0" marL="0">
              <a:buNone/>
            </a:pPr>
            <a:r>
              <a:rPr lang="en-US" sz="1800" dirty="0">
                <a:solidFill>
                  <a:srgbClr val="B5BED5"/>
                </a:solidFill>
                <a:latin typeface="Aptos" pitchFamily="34" charset="0"/>
                <a:ea typeface="Aptos" pitchFamily="34" charset="-122"/>
                <a:cs typeface="Aptos" pitchFamily="34" charset="-120"/>
              </a:rPr>
              <a:t>Ink Wash, Torii, Sakura and Katana. Light/dark modes, moon cues, translated labels and navigation notes.</a:t>
            </a:r>
            <a:endParaRPr lang="en-US" sz="1800" dirty="0"/>
          </a:p>
        </p:txBody>
      </p:sp>
      <p:sp>
        <p:nvSpPr>
          <p:cNvPr id="24" name="Text 22"/>
          <p:cNvSpPr/>
          <p:nvPr/>
        </p:nvSpPr>
        <p:spPr>
          <a:xfrm>
            <a:off x="640080" y="5907024"/>
            <a:ext cx="10972800" cy="256032"/>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Established scientific methods, combined with transparent sources and a distinctive interface.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12700">
            <a:solidFill>
              <a:srgbClr val="C94B55"/>
            </a:solidFill>
            <a:prstDash val="solid"/>
          </a:ln>
        </p:spPr>
      </p:sp>
      <p:sp>
        <p:nvSpPr>
          <p:cNvPr id="3" name="Text 1"/>
          <p:cNvSpPr/>
          <p:nvPr/>
        </p:nvSpPr>
        <p:spPr>
          <a:xfrm>
            <a:off x="548640" y="320040"/>
            <a:ext cx="10972800" cy="228600"/>
          </a:xfrm>
          <a:prstGeom prst="rect">
            <a:avLst/>
          </a:prstGeom>
          <a:noFill/>
          <a:ln/>
        </p:spPr>
        <p:txBody>
          <a:bodyPr wrap="square" lIns="0" tIns="0" rIns="0" bIns="0" rtlCol="0" anchor="ctr"/>
          <a:lstStyle/>
          <a:p>
            <a:pPr indent="0" marL="0">
              <a:buNone/>
            </a:pPr>
            <a:r>
              <a:rPr lang="en-US" sz="1000" spc="200" kern="0" dirty="0">
                <a:solidFill>
                  <a:srgbClr val="EFBD73"/>
                </a:solidFill>
                <a:latin typeface="Aptos" pitchFamily="34" charset="0"/>
                <a:ea typeface="Aptos" pitchFamily="34" charset="-122"/>
                <a:cs typeface="Aptos" pitchFamily="34" charset="-120"/>
              </a:rPr>
              <a:t>EVIDENCE AND FEASIBILITY</a:t>
            </a:r>
            <a:endParaRPr lang="en-US" sz="1000" dirty="0"/>
          </a:p>
        </p:txBody>
      </p:sp>
      <p:sp>
        <p:nvSpPr>
          <p:cNvPr id="4" name="Text 2"/>
          <p:cNvSpPr/>
          <p:nvPr/>
        </p:nvSpPr>
        <p:spPr>
          <a:xfrm>
            <a:off x="548640" y="841248"/>
            <a:ext cx="11064240" cy="640080"/>
          </a:xfrm>
          <a:prstGeom prst="rect">
            <a:avLst/>
          </a:prstGeom>
          <a:noFill/>
          <a:ln/>
        </p:spPr>
        <p:txBody>
          <a:bodyPr wrap="square" lIns="0" tIns="0" rIns="0" bIns="0" rtlCol="0" anchor="ctr"/>
          <a:lstStyle/>
          <a:p>
            <a:pPr indent="0" marL="0">
              <a:buNone/>
            </a:pPr>
            <a:r>
              <a:rPr lang="en-US" sz="3100" dirty="0">
                <a:solidFill>
                  <a:srgbClr val="F5EEE5"/>
                </a:solidFill>
                <a:latin typeface="Georgia" pitchFamily="34" charset="0"/>
                <a:ea typeface="Georgia" pitchFamily="34" charset="-122"/>
                <a:cs typeface="Georgia" pitchFamily="34" charset="-120"/>
              </a:rPr>
              <a:t>Built, deployed and tested against edge cases</a:t>
            </a:r>
            <a:endParaRPr lang="en-US" sz="3100" dirty="0"/>
          </a:p>
        </p:txBody>
      </p:sp>
      <p:sp>
        <p:nvSpPr>
          <p:cNvPr id="5" name="Text 3"/>
          <p:cNvSpPr/>
          <p:nvPr/>
        </p:nvSpPr>
        <p:spPr>
          <a:xfrm>
            <a:off x="566928" y="1618488"/>
            <a:ext cx="10972800" cy="457200"/>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A live prototype with repeatable checks and a practical club-pilot path.</a:t>
            </a:r>
            <a:endParaRPr lang="en-US" sz="1500" dirty="0"/>
          </a:p>
        </p:txBody>
      </p:sp>
      <p:sp>
        <p:nvSpPr>
          <p:cNvPr id="6" name="Shape 4"/>
          <p:cNvSpPr/>
          <p:nvPr/>
        </p:nvSpPr>
        <p:spPr>
          <a:xfrm>
            <a:off x="502920" y="6382512"/>
            <a:ext cx="11183112" cy="0"/>
          </a:xfrm>
          <a:prstGeom prst="line">
            <a:avLst/>
          </a:prstGeom>
          <a:noFill/>
          <a:ln w="12700">
            <a:solidFill>
              <a:srgbClr val="2D3651"/>
            </a:solidFill>
            <a:prstDash val="solid"/>
          </a:ln>
        </p:spPr>
      </p:sp>
      <p:sp>
        <p:nvSpPr>
          <p:cNvPr id="7" name="Text 5"/>
          <p:cNvSpPr/>
          <p:nvPr/>
        </p:nvSpPr>
        <p:spPr>
          <a:xfrm>
            <a:off x="548640" y="6519672"/>
            <a:ext cx="10058400" cy="137160"/>
          </a:xfrm>
          <a:prstGeom prst="rect">
            <a:avLst/>
          </a:prstGeom>
          <a:noFill/>
          <a:ln/>
        </p:spPr>
        <p:txBody>
          <a:bodyPr wrap="square" lIns="0" tIns="0" rIns="0" bIns="0" rtlCol="0" anchor="ctr"/>
          <a:lstStyle/>
          <a:p>
            <a:pPr indent="0" marL="0">
              <a:buNone/>
            </a:pPr>
            <a:r>
              <a:rPr lang="en-US" sz="900" spc="100" kern="0" dirty="0">
                <a:solidFill>
                  <a:srgbClr val="B5BED5"/>
                </a:solidFill>
                <a:latin typeface="Aptos" pitchFamily="34" charset="0"/>
                <a:ea typeface="Aptos" pitchFamily="34" charset="-122"/>
                <a:cs typeface="Aptos" pitchFamily="34" charset="-120"/>
              </a:rPr>
              <a:t>TEAM PF-K96JPZ  /  PS-002  /  PECATHON 2026</a:t>
            </a:r>
            <a:endParaRPr lang="en-US" sz="900" dirty="0"/>
          </a:p>
        </p:txBody>
      </p:sp>
      <p:sp>
        <p:nvSpPr>
          <p:cNvPr id="8" name="Text 6"/>
          <p:cNvSpPr/>
          <p:nvPr/>
        </p:nvSpPr>
        <p:spPr>
          <a:xfrm>
            <a:off x="10972800" y="6483096"/>
            <a:ext cx="685800" cy="219456"/>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7 / 8</a:t>
            </a:r>
            <a:endParaRPr lang="en-US" sz="1000" dirty="0"/>
          </a:p>
        </p:txBody>
      </p:sp>
      <p:sp>
        <p:nvSpPr>
          <p:cNvPr id="9" name="Shape 7"/>
          <p:cNvSpPr/>
          <p:nvPr/>
        </p:nvSpPr>
        <p:spPr>
          <a:xfrm>
            <a:off x="594360" y="2286000"/>
            <a:ext cx="3529584" cy="1252728"/>
          </a:xfrm>
          <a:prstGeom prst="rect">
            <a:avLst/>
          </a:prstGeom>
          <a:solidFill>
            <a:srgbClr val="161D36"/>
          </a:solidFill>
          <a:ln w="12700">
            <a:solidFill>
              <a:srgbClr val="161D36"/>
            </a:solidFill>
            <a:prstDash val="solid"/>
          </a:ln>
        </p:spPr>
      </p:sp>
      <p:sp>
        <p:nvSpPr>
          <p:cNvPr id="10" name="Text 8"/>
          <p:cNvSpPr/>
          <p:nvPr/>
        </p:nvSpPr>
        <p:spPr>
          <a:xfrm>
            <a:off x="795528" y="2459736"/>
            <a:ext cx="3127248" cy="530352"/>
          </a:xfrm>
          <a:prstGeom prst="rect">
            <a:avLst/>
          </a:prstGeom>
          <a:noFill/>
          <a:ln/>
        </p:spPr>
        <p:txBody>
          <a:bodyPr wrap="square" lIns="0" tIns="0" rIns="0" bIns="0" rtlCol="0" anchor="ctr"/>
          <a:lstStyle/>
          <a:p>
            <a:pPr indent="0" marL="0">
              <a:buNone/>
            </a:pPr>
            <a:r>
              <a:rPr lang="en-US" sz="3200" dirty="0">
                <a:solidFill>
                  <a:srgbClr val="EFBD73"/>
                </a:solidFill>
                <a:latin typeface="Georgia" pitchFamily="34" charset="0"/>
                <a:ea typeface="Georgia" pitchFamily="34" charset="-122"/>
                <a:cs typeface="Georgia" pitchFamily="34" charset="-120"/>
              </a:rPr>
              <a:t>31 / 31</a:t>
            </a:r>
            <a:endParaRPr lang="en-US" sz="3200" dirty="0"/>
          </a:p>
        </p:txBody>
      </p:sp>
      <p:sp>
        <p:nvSpPr>
          <p:cNvPr id="11" name="Text 9"/>
          <p:cNvSpPr/>
          <p:nvPr/>
        </p:nvSpPr>
        <p:spPr>
          <a:xfrm>
            <a:off x="795528" y="3063240"/>
            <a:ext cx="3127248" cy="256032"/>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Automated cases passing</a:t>
            </a:r>
            <a:endParaRPr lang="en-US" sz="1500" dirty="0"/>
          </a:p>
        </p:txBody>
      </p:sp>
      <p:sp>
        <p:nvSpPr>
          <p:cNvPr id="12" name="Shape 10"/>
          <p:cNvSpPr/>
          <p:nvPr/>
        </p:nvSpPr>
        <p:spPr>
          <a:xfrm>
            <a:off x="4325112" y="2286000"/>
            <a:ext cx="3529584" cy="1252728"/>
          </a:xfrm>
          <a:prstGeom prst="rect">
            <a:avLst/>
          </a:prstGeom>
          <a:solidFill>
            <a:srgbClr val="161D36"/>
          </a:solidFill>
          <a:ln w="12700">
            <a:solidFill>
              <a:srgbClr val="161D36"/>
            </a:solidFill>
            <a:prstDash val="solid"/>
          </a:ln>
        </p:spPr>
      </p:sp>
      <p:sp>
        <p:nvSpPr>
          <p:cNvPr id="13" name="Text 11"/>
          <p:cNvSpPr/>
          <p:nvPr/>
        </p:nvSpPr>
        <p:spPr>
          <a:xfrm>
            <a:off x="4526280" y="2459736"/>
            <a:ext cx="3127248" cy="530352"/>
          </a:xfrm>
          <a:prstGeom prst="rect">
            <a:avLst/>
          </a:prstGeom>
          <a:noFill/>
          <a:ln/>
        </p:spPr>
        <p:txBody>
          <a:bodyPr wrap="square" lIns="0" tIns="0" rIns="0" bIns="0" rtlCol="0" anchor="ctr"/>
          <a:lstStyle/>
          <a:p>
            <a:pPr indent="0" marL="0">
              <a:buNone/>
            </a:pPr>
            <a:r>
              <a:rPr lang="en-US" sz="3200" dirty="0">
                <a:solidFill>
                  <a:srgbClr val="EFBD73"/>
                </a:solidFill>
                <a:latin typeface="Georgia" pitchFamily="34" charset="0"/>
                <a:ea typeface="Georgia" pitchFamily="34" charset="-122"/>
                <a:cs typeface="Georgia" pitchFamily="34" charset="-120"/>
              </a:rPr>
              <a:t>9</a:t>
            </a:r>
            <a:endParaRPr lang="en-US" sz="3200" dirty="0"/>
          </a:p>
        </p:txBody>
      </p:sp>
      <p:sp>
        <p:nvSpPr>
          <p:cNvPr id="14" name="Text 12"/>
          <p:cNvSpPr/>
          <p:nvPr/>
        </p:nvSpPr>
        <p:spPr>
          <a:xfrm>
            <a:off x="4526280" y="3063240"/>
            <a:ext cx="3127248" cy="256032"/>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Test files</a:t>
            </a:r>
            <a:endParaRPr lang="en-US" sz="1500" dirty="0"/>
          </a:p>
        </p:txBody>
      </p:sp>
      <p:sp>
        <p:nvSpPr>
          <p:cNvPr id="15" name="Shape 13"/>
          <p:cNvSpPr/>
          <p:nvPr/>
        </p:nvSpPr>
        <p:spPr>
          <a:xfrm>
            <a:off x="8055864" y="2286000"/>
            <a:ext cx="3529584" cy="1252728"/>
          </a:xfrm>
          <a:prstGeom prst="rect">
            <a:avLst/>
          </a:prstGeom>
          <a:solidFill>
            <a:srgbClr val="161D36"/>
          </a:solidFill>
          <a:ln w="12700">
            <a:solidFill>
              <a:srgbClr val="161D36"/>
            </a:solidFill>
            <a:prstDash val="solid"/>
          </a:ln>
        </p:spPr>
      </p:sp>
      <p:sp>
        <p:nvSpPr>
          <p:cNvPr id="16" name="Text 14"/>
          <p:cNvSpPr/>
          <p:nvPr/>
        </p:nvSpPr>
        <p:spPr>
          <a:xfrm>
            <a:off x="8257032" y="2459736"/>
            <a:ext cx="3127248" cy="530352"/>
          </a:xfrm>
          <a:prstGeom prst="rect">
            <a:avLst/>
          </a:prstGeom>
          <a:noFill/>
          <a:ln/>
        </p:spPr>
        <p:txBody>
          <a:bodyPr wrap="square" lIns="0" tIns="0" rIns="0" bIns="0" rtlCol="0" anchor="ctr"/>
          <a:lstStyle/>
          <a:p>
            <a:pPr indent="0" marL="0">
              <a:buNone/>
            </a:pPr>
            <a:r>
              <a:rPr lang="en-US" sz="3200" dirty="0">
                <a:solidFill>
                  <a:srgbClr val="EFBD73"/>
                </a:solidFill>
                <a:latin typeface="Georgia" pitchFamily="34" charset="0"/>
                <a:ea typeface="Georgia" pitchFamily="34" charset="-122"/>
                <a:cs typeface="Georgia" pitchFamily="34" charset="-120"/>
              </a:rPr>
              <a:t>2</a:t>
            </a:r>
            <a:endParaRPr lang="en-US" sz="3200" dirty="0"/>
          </a:p>
        </p:txBody>
      </p:sp>
      <p:sp>
        <p:nvSpPr>
          <p:cNvPr id="17" name="Text 15"/>
          <p:cNvSpPr/>
          <p:nvPr/>
        </p:nvSpPr>
        <p:spPr>
          <a:xfrm>
            <a:off x="8257032" y="3063240"/>
            <a:ext cx="3127248" cy="256032"/>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Production builds passing</a:t>
            </a:r>
            <a:endParaRPr lang="en-US" sz="1500" dirty="0"/>
          </a:p>
        </p:txBody>
      </p:sp>
      <p:sp>
        <p:nvSpPr>
          <p:cNvPr id="18" name="Text 16"/>
          <p:cNvSpPr/>
          <p:nvPr/>
        </p:nvSpPr>
        <p:spPr>
          <a:xfrm>
            <a:off x="749808" y="3959352"/>
            <a:ext cx="164592" cy="365760"/>
          </a:xfrm>
          <a:prstGeom prst="rect">
            <a:avLst/>
          </a:prstGeom>
          <a:noFill/>
          <a:ln/>
        </p:spPr>
        <p:txBody>
          <a:bodyPr wrap="square" lIns="0" tIns="0" rIns="0" bIns="0" rtlCol="0" anchor="ctr"/>
          <a:lstStyle/>
          <a:p>
            <a:pPr indent="0" marL="0">
              <a:buNone/>
            </a:pPr>
            <a:r>
              <a:rPr lang="en-US" sz="1900" dirty="0">
                <a:solidFill>
                  <a:srgbClr val="EFBD73"/>
                </a:solidFill>
                <a:latin typeface="Aptos" pitchFamily="34" charset="0"/>
                <a:ea typeface="Aptos" pitchFamily="34" charset="-122"/>
                <a:cs typeface="Aptos" pitchFamily="34" charset="-120"/>
              </a:rPr>
              <a:t>•</a:t>
            </a:r>
            <a:endParaRPr lang="en-US" sz="1900" dirty="0"/>
          </a:p>
        </p:txBody>
      </p:sp>
      <p:sp>
        <p:nvSpPr>
          <p:cNvPr id="19" name="Text 17"/>
          <p:cNvSpPr/>
          <p:nvPr/>
        </p:nvSpPr>
        <p:spPr>
          <a:xfrm>
            <a:off x="1005840" y="3959352"/>
            <a:ext cx="10442448" cy="603504"/>
          </a:xfrm>
          <a:prstGeom prst="rect">
            <a:avLst/>
          </a:prstGeom>
          <a:noFill/>
          <a:ln/>
        </p:spPr>
        <p:txBody>
          <a:bodyPr wrap="square" lIns="0" tIns="0" rIns="0" bIns="0" rtlCol="0" anchor="t"/>
          <a:lstStyle/>
          <a:p>
            <a:pPr indent="0" marL="0">
              <a:buNone/>
            </a:pPr>
            <a:r>
              <a:rPr lang="en-US" sz="1900" dirty="0">
                <a:solidFill>
                  <a:srgbClr val="F5EEE5"/>
                </a:solidFill>
                <a:latin typeface="Aptos" pitchFamily="34" charset="0"/>
                <a:ea typeface="Aptos" pitchFamily="34" charset="-122"/>
                <a:cs typeface="Aptos" pitchFamily="34" charset="-120"/>
              </a:rPr>
              <a:t>Boundary cases: missing forecasts, lunar leap months, invalid orbital data and unsafe push endpoints.</a:t>
            </a:r>
            <a:endParaRPr lang="en-US" sz="1900" dirty="0"/>
          </a:p>
        </p:txBody>
      </p:sp>
      <p:sp>
        <p:nvSpPr>
          <p:cNvPr id="20" name="Text 18"/>
          <p:cNvSpPr/>
          <p:nvPr/>
        </p:nvSpPr>
        <p:spPr>
          <a:xfrm>
            <a:off x="749808" y="4562856"/>
            <a:ext cx="164592" cy="365760"/>
          </a:xfrm>
          <a:prstGeom prst="rect">
            <a:avLst/>
          </a:prstGeom>
          <a:noFill/>
          <a:ln/>
        </p:spPr>
        <p:txBody>
          <a:bodyPr wrap="square" lIns="0" tIns="0" rIns="0" bIns="0" rtlCol="0" anchor="ctr"/>
          <a:lstStyle/>
          <a:p>
            <a:pPr indent="0" marL="0">
              <a:buNone/>
            </a:pPr>
            <a:r>
              <a:rPr lang="en-US" sz="1900" dirty="0">
                <a:solidFill>
                  <a:srgbClr val="EFBD73"/>
                </a:solidFill>
                <a:latin typeface="Aptos" pitchFamily="34" charset="0"/>
                <a:ea typeface="Aptos" pitchFamily="34" charset="-122"/>
                <a:cs typeface="Aptos" pitchFamily="34" charset="-120"/>
              </a:rPr>
              <a:t>•</a:t>
            </a:r>
            <a:endParaRPr lang="en-US" sz="1900" dirty="0"/>
          </a:p>
        </p:txBody>
      </p:sp>
      <p:sp>
        <p:nvSpPr>
          <p:cNvPr id="21" name="Text 19"/>
          <p:cNvSpPr/>
          <p:nvPr/>
        </p:nvSpPr>
        <p:spPr>
          <a:xfrm>
            <a:off x="1005840" y="4562856"/>
            <a:ext cx="10442448" cy="603504"/>
          </a:xfrm>
          <a:prstGeom prst="rect">
            <a:avLst/>
          </a:prstGeom>
          <a:noFill/>
          <a:ln/>
        </p:spPr>
        <p:txBody>
          <a:bodyPr wrap="square" lIns="0" tIns="0" rIns="0" bIns="0" rtlCol="0" anchor="t"/>
          <a:lstStyle/>
          <a:p>
            <a:pPr indent="0" marL="0">
              <a:buNone/>
            </a:pPr>
            <a:r>
              <a:rPr lang="en-US" sz="1900" dirty="0">
                <a:solidFill>
                  <a:srgbClr val="F5EEE5"/>
                </a:solidFill>
                <a:latin typeface="Aptos" pitchFamily="34" charset="0"/>
                <a:ea typeface="Aptos" pitchFamily="34" charset="-122"/>
                <a:cs typeface="Aptos" pitchFamily="34" charset="-120"/>
              </a:rPr>
              <a:t>Image safeguards, malformed CSVs, duplicate observations and global city-query behavior are tested.</a:t>
            </a:r>
            <a:endParaRPr lang="en-US" sz="1900" dirty="0"/>
          </a:p>
        </p:txBody>
      </p:sp>
      <p:sp>
        <p:nvSpPr>
          <p:cNvPr id="22" name="Text 20"/>
          <p:cNvSpPr/>
          <p:nvPr/>
        </p:nvSpPr>
        <p:spPr>
          <a:xfrm>
            <a:off x="749808" y="5166360"/>
            <a:ext cx="164592" cy="365760"/>
          </a:xfrm>
          <a:prstGeom prst="rect">
            <a:avLst/>
          </a:prstGeom>
          <a:noFill/>
          <a:ln/>
        </p:spPr>
        <p:txBody>
          <a:bodyPr wrap="square" lIns="0" tIns="0" rIns="0" bIns="0" rtlCol="0" anchor="ctr"/>
          <a:lstStyle/>
          <a:p>
            <a:pPr indent="0" marL="0">
              <a:buNone/>
            </a:pPr>
            <a:r>
              <a:rPr lang="en-US" sz="1900" dirty="0">
                <a:solidFill>
                  <a:srgbClr val="EFBD73"/>
                </a:solidFill>
                <a:latin typeface="Aptos" pitchFamily="34" charset="0"/>
                <a:ea typeface="Aptos" pitchFamily="34" charset="-122"/>
                <a:cs typeface="Aptos" pitchFamily="34" charset="-120"/>
              </a:rPr>
              <a:t>•</a:t>
            </a:r>
            <a:endParaRPr lang="en-US" sz="1900" dirty="0"/>
          </a:p>
        </p:txBody>
      </p:sp>
      <p:sp>
        <p:nvSpPr>
          <p:cNvPr id="23" name="Text 21"/>
          <p:cNvSpPr/>
          <p:nvPr/>
        </p:nvSpPr>
        <p:spPr>
          <a:xfrm>
            <a:off x="1005840" y="5166360"/>
            <a:ext cx="10442448" cy="603504"/>
          </a:xfrm>
          <a:prstGeom prst="rect">
            <a:avLst/>
          </a:prstGeom>
          <a:noFill/>
          <a:ln/>
        </p:spPr>
        <p:txBody>
          <a:bodyPr wrap="square" lIns="0" tIns="0" rIns="0" bIns="0" rtlCol="0" anchor="t"/>
          <a:lstStyle/>
          <a:p>
            <a:pPr indent="0" marL="0">
              <a:buNone/>
            </a:pPr>
            <a:r>
              <a:rPr lang="en-US" sz="1900" dirty="0">
                <a:solidFill>
                  <a:srgbClr val="F5EEE5"/>
                </a:solidFill>
                <a:latin typeface="Aptos" pitchFamily="34" charset="0"/>
                <a:ea typeface="Aptos" pitchFamily="34" charset="-122"/>
                <a:cs typeface="Aptos" pitchFamily="34" charset="-120"/>
              </a:rPr>
              <a:t>Live on Vercel + Render + Neon; local inference avoids a separate GPU inference server.</a:t>
            </a:r>
            <a:endParaRPr lang="en-US" sz="1900" dirty="0"/>
          </a:p>
        </p:txBody>
      </p:sp>
      <p:sp>
        <p:nvSpPr>
          <p:cNvPr id="24" name="Text 22"/>
          <p:cNvSpPr/>
          <p:nvPr/>
        </p:nvSpPr>
        <p:spPr>
          <a:xfrm>
            <a:off x="731520" y="5934456"/>
            <a:ext cx="10789920" cy="256032"/>
          </a:xfrm>
          <a:prstGeom prst="rect">
            <a:avLst/>
          </a:prstGeom>
          <a:noFill/>
          <a:ln/>
        </p:spPr>
        <p:txBody>
          <a:bodyPr wrap="square" lIns="0" tIns="0" rIns="0" bIns="0" rtlCol="0" anchor="ctr"/>
          <a:lstStyle/>
          <a:p>
            <a:pPr indent="0" marL="0">
              <a:buNone/>
            </a:pPr>
            <a:r>
              <a:rPr lang="en-US" sz="1500" dirty="0">
                <a:solidFill>
                  <a:srgbClr val="EFBD73"/>
                </a:solidFill>
                <a:latin typeface="Aptos" pitchFamily="34" charset="0"/>
                <a:ea typeface="Aptos" pitchFamily="34" charset="-122"/>
                <a:cs typeface="Aptos" pitchFamily="34" charset="-120"/>
              </a:rPr>
              <a:t>Next validation: broader E2E, physical push receipt, astronomy benchmarks and real user outcomes.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024"/>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C94B55"/>
          </a:solidFill>
          <a:ln w="12700">
            <a:solidFill>
              <a:srgbClr val="C94B55"/>
            </a:solidFill>
            <a:prstDash val="solid"/>
          </a:ln>
        </p:spPr>
      </p:sp>
      <p:sp>
        <p:nvSpPr>
          <p:cNvPr id="3" name="Text 1"/>
          <p:cNvSpPr/>
          <p:nvPr/>
        </p:nvSpPr>
        <p:spPr>
          <a:xfrm>
            <a:off x="548640" y="320040"/>
            <a:ext cx="10972800" cy="228600"/>
          </a:xfrm>
          <a:prstGeom prst="rect">
            <a:avLst/>
          </a:prstGeom>
          <a:noFill/>
          <a:ln/>
        </p:spPr>
        <p:txBody>
          <a:bodyPr wrap="square" lIns="0" tIns="0" rIns="0" bIns="0" rtlCol="0" anchor="ctr"/>
          <a:lstStyle/>
          <a:p>
            <a:pPr indent="0" marL="0">
              <a:buNone/>
            </a:pPr>
            <a:r>
              <a:rPr lang="en-US" sz="1000" spc="200" kern="0" dirty="0">
                <a:solidFill>
                  <a:srgbClr val="EFBD73"/>
                </a:solidFill>
                <a:latin typeface="Aptos" pitchFamily="34" charset="0"/>
                <a:ea typeface="Aptos" pitchFamily="34" charset="-122"/>
                <a:cs typeface="Aptos" pitchFamily="34" charset="-120"/>
              </a:rPr>
              <a:t>THE OPPORTUNITY</a:t>
            </a:r>
            <a:endParaRPr lang="en-US" sz="1000" dirty="0"/>
          </a:p>
        </p:txBody>
      </p:sp>
      <p:sp>
        <p:nvSpPr>
          <p:cNvPr id="4" name="Text 2"/>
          <p:cNvSpPr/>
          <p:nvPr/>
        </p:nvSpPr>
        <p:spPr>
          <a:xfrm>
            <a:off x="548640" y="841248"/>
            <a:ext cx="11064240" cy="640080"/>
          </a:xfrm>
          <a:prstGeom prst="rect">
            <a:avLst/>
          </a:prstGeom>
          <a:noFill/>
          <a:ln/>
        </p:spPr>
        <p:txBody>
          <a:bodyPr wrap="square" lIns="0" tIns="0" rIns="0" bIns="0" rtlCol="0" anchor="ctr"/>
          <a:lstStyle/>
          <a:p>
            <a:pPr indent="0" marL="0">
              <a:buNone/>
            </a:pPr>
            <a:r>
              <a:rPr lang="en-US" sz="3100" dirty="0">
                <a:solidFill>
                  <a:srgbClr val="F5EEE5"/>
                </a:solidFill>
                <a:latin typeface="Georgia" pitchFamily="34" charset="0"/>
                <a:ea typeface="Georgia" pitchFamily="34" charset="-122"/>
                <a:cs typeface="Georgia" pitchFamily="34" charset="-120"/>
              </a:rPr>
              <a:t>Make the first observing night easier to plan.</a:t>
            </a:r>
            <a:endParaRPr lang="en-US" sz="3100" dirty="0"/>
          </a:p>
        </p:txBody>
      </p:sp>
      <p:sp>
        <p:nvSpPr>
          <p:cNvPr id="5" name="Text 3"/>
          <p:cNvSpPr/>
          <p:nvPr/>
        </p:nvSpPr>
        <p:spPr>
          <a:xfrm>
            <a:off x="566928" y="1618488"/>
            <a:ext cx="10972800" cy="457200"/>
          </a:xfrm>
          <a:prstGeom prst="rect">
            <a:avLst/>
          </a:prstGeom>
          <a:noFill/>
          <a:ln/>
        </p:spPr>
        <p:txBody>
          <a:bodyPr wrap="square" lIns="0" tIns="0" rIns="0" bIns="0" rtlCol="0" anchor="ctr"/>
          <a:lstStyle/>
          <a:p>
            <a:pPr indent="0" marL="0">
              <a:buNone/>
            </a:pPr>
            <a:r>
              <a:rPr lang="en-US" sz="1500" dirty="0">
                <a:solidFill>
                  <a:srgbClr val="B5BED5"/>
                </a:solidFill>
                <a:latin typeface="Aptos" pitchFamily="34" charset="0"/>
                <a:ea typeface="Aptos" pitchFamily="34" charset="-122"/>
                <a:cs typeface="Aptos" pitchFamily="34" charset="-120"/>
              </a:rPr>
              <a:t>A connected guide for curiosity, observation and careful image exploration.</a:t>
            </a:r>
            <a:endParaRPr lang="en-US" sz="1500" dirty="0"/>
          </a:p>
        </p:txBody>
      </p:sp>
      <p:sp>
        <p:nvSpPr>
          <p:cNvPr id="6" name="Shape 4"/>
          <p:cNvSpPr/>
          <p:nvPr/>
        </p:nvSpPr>
        <p:spPr>
          <a:xfrm>
            <a:off x="502920" y="6382512"/>
            <a:ext cx="11183112" cy="0"/>
          </a:xfrm>
          <a:prstGeom prst="line">
            <a:avLst/>
          </a:prstGeom>
          <a:noFill/>
          <a:ln w="12700">
            <a:solidFill>
              <a:srgbClr val="2D3651"/>
            </a:solidFill>
            <a:prstDash val="solid"/>
          </a:ln>
        </p:spPr>
      </p:sp>
      <p:sp>
        <p:nvSpPr>
          <p:cNvPr id="7" name="Text 5"/>
          <p:cNvSpPr/>
          <p:nvPr/>
        </p:nvSpPr>
        <p:spPr>
          <a:xfrm>
            <a:off x="548640" y="6519672"/>
            <a:ext cx="10058400" cy="137160"/>
          </a:xfrm>
          <a:prstGeom prst="rect">
            <a:avLst/>
          </a:prstGeom>
          <a:noFill/>
          <a:ln/>
        </p:spPr>
        <p:txBody>
          <a:bodyPr wrap="square" lIns="0" tIns="0" rIns="0" bIns="0" rtlCol="0" anchor="ctr"/>
          <a:lstStyle/>
          <a:p>
            <a:pPr indent="0" marL="0">
              <a:buNone/>
            </a:pPr>
            <a:r>
              <a:rPr lang="en-US" sz="900" spc="100" kern="0" dirty="0">
                <a:solidFill>
                  <a:srgbClr val="B5BED5"/>
                </a:solidFill>
                <a:latin typeface="Aptos" pitchFamily="34" charset="0"/>
                <a:ea typeface="Aptos" pitchFamily="34" charset="-122"/>
                <a:cs typeface="Aptos" pitchFamily="34" charset="-120"/>
              </a:rPr>
              <a:t>TEAM PF-K96JPZ  /  PS-002  /  PECATHON 2026</a:t>
            </a:r>
            <a:endParaRPr lang="en-US" sz="900" dirty="0"/>
          </a:p>
        </p:txBody>
      </p:sp>
      <p:sp>
        <p:nvSpPr>
          <p:cNvPr id="8" name="Text 6"/>
          <p:cNvSpPr/>
          <p:nvPr/>
        </p:nvSpPr>
        <p:spPr>
          <a:xfrm>
            <a:off x="10972800" y="6483096"/>
            <a:ext cx="685800" cy="219456"/>
          </a:xfrm>
          <a:prstGeom prst="rect">
            <a:avLst/>
          </a:prstGeom>
          <a:noFill/>
          <a:ln/>
        </p:spPr>
        <p:txBody>
          <a:bodyPr wrap="square" lIns="0" tIns="0" rIns="0" bIns="0" rtlCol="0" anchor="ctr"/>
          <a:lstStyle/>
          <a:p>
            <a:pPr algn="r" indent="0" marL="0">
              <a:buNone/>
            </a:pPr>
            <a:r>
              <a:rPr lang="en-US" sz="1000" dirty="0">
                <a:solidFill>
                  <a:srgbClr val="EFBD73"/>
                </a:solidFill>
                <a:latin typeface="Aptos" pitchFamily="34" charset="0"/>
                <a:ea typeface="Aptos" pitchFamily="34" charset="-122"/>
                <a:cs typeface="Aptos" pitchFamily="34" charset="-120"/>
              </a:rPr>
              <a:t>8 / 8</a:t>
            </a:r>
            <a:endParaRPr lang="en-US" sz="1000" dirty="0"/>
          </a:p>
        </p:txBody>
      </p:sp>
      <p:sp>
        <p:nvSpPr>
          <p:cNvPr id="9" name="Text 7"/>
          <p:cNvSpPr/>
          <p:nvPr/>
        </p:nvSpPr>
        <p:spPr>
          <a:xfrm>
            <a:off x="640080" y="2331720"/>
            <a:ext cx="6858000" cy="2029968"/>
          </a:xfrm>
          <a:prstGeom prst="rect">
            <a:avLst/>
          </a:prstGeom>
          <a:noFill/>
          <a:ln/>
        </p:spPr>
        <p:txBody>
          <a:bodyPr wrap="square" lIns="0" tIns="0" rIns="0" bIns="0" rtlCol="0" anchor="ctr"/>
          <a:lstStyle/>
          <a:p>
            <a:pPr indent="0" marL="0">
              <a:buNone/>
            </a:pPr>
            <a:r>
              <a:rPr lang="en-US" sz="3500" dirty="0">
                <a:solidFill>
                  <a:srgbClr val="F5EEE5"/>
                </a:solidFill>
                <a:latin typeface="Georgia" pitchFamily="34" charset="0"/>
                <a:ea typeface="Georgia" pitchFamily="34" charset="-122"/>
                <a:cs typeface="Georgia" pitchFamily="34" charset="-120"/>
              </a:rPr>
              <a:t>Start with a club.</a:t>
            </a:r>
            <a:endParaRPr lang="en-US" sz="3500" dirty="0"/>
          </a:p>
          <a:p>
            <a:pPr indent="0" marL="0">
              <a:buNone/>
            </a:pPr>
            <a:r>
              <a:rPr lang="en-US" sz="3500" dirty="0">
                <a:solidFill>
                  <a:srgbClr val="F5EEE5"/>
                </a:solidFill>
                <a:latin typeface="Georgia" pitchFamily="34" charset="0"/>
                <a:ea typeface="Georgia" pitchFamily="34" charset="-122"/>
                <a:cs typeface="Georgia" pitchFamily="34" charset="-120"/>
              </a:rPr>
              <a:t>Validate with real nights.</a:t>
            </a:r>
            <a:endParaRPr lang="en-US" sz="3500" dirty="0"/>
          </a:p>
          <a:p>
            <a:pPr indent="0" marL="0">
              <a:buNone/>
            </a:pPr>
            <a:r>
              <a:rPr lang="en-US" sz="3500" dirty="0">
                <a:solidFill>
                  <a:srgbClr val="F5EEE5"/>
                </a:solidFill>
                <a:latin typeface="Georgia" pitchFamily="34" charset="0"/>
                <a:ea typeface="Georgia" pitchFamily="34" charset="-122"/>
                <a:cs typeface="Georgia" pitchFamily="34" charset="-120"/>
              </a:rPr>
              <a:t>Grow the observing map.</a:t>
            </a:r>
            <a:endParaRPr lang="en-US" sz="3500" dirty="0"/>
          </a:p>
        </p:txBody>
      </p:sp>
      <p:sp>
        <p:nvSpPr>
          <p:cNvPr id="10" name="Shape 8"/>
          <p:cNvSpPr/>
          <p:nvPr/>
        </p:nvSpPr>
        <p:spPr>
          <a:xfrm>
            <a:off x="7845552" y="2331720"/>
            <a:ext cx="3730752" cy="3063240"/>
          </a:xfrm>
          <a:prstGeom prst="rect">
            <a:avLst/>
          </a:prstGeom>
          <a:solidFill>
            <a:srgbClr val="161D36"/>
          </a:solidFill>
          <a:ln w="12700">
            <a:solidFill>
              <a:srgbClr val="161D36"/>
            </a:solidFill>
            <a:prstDash val="solid"/>
          </a:ln>
        </p:spPr>
      </p:sp>
      <p:sp>
        <p:nvSpPr>
          <p:cNvPr id="11" name="Text 9"/>
          <p:cNvSpPr/>
          <p:nvPr/>
        </p:nvSpPr>
        <p:spPr>
          <a:xfrm>
            <a:off x="8065008" y="2578608"/>
            <a:ext cx="3291840" cy="274320"/>
          </a:xfrm>
          <a:prstGeom prst="rect">
            <a:avLst/>
          </a:prstGeom>
          <a:noFill/>
          <a:ln/>
        </p:spPr>
        <p:txBody>
          <a:bodyPr wrap="square" lIns="0" tIns="0" rIns="0" bIns="0" rtlCol="0" anchor="ctr"/>
          <a:lstStyle/>
          <a:p>
            <a:pPr indent="0" marL="0">
              <a:buNone/>
            </a:pPr>
            <a:r>
              <a:rPr lang="en-US" sz="1200" spc="100" kern="0" dirty="0">
                <a:solidFill>
                  <a:srgbClr val="EFBD73"/>
                </a:solidFill>
                <a:latin typeface="Aptos" pitchFamily="34" charset="0"/>
                <a:ea typeface="Aptos" pitchFamily="34" charset="-122"/>
                <a:cs typeface="Aptos" pitchFamily="34" charset="-120"/>
              </a:rPr>
              <a:t>NEXT MILESTONES</a:t>
            </a:r>
            <a:endParaRPr lang="en-US" sz="1200" dirty="0"/>
          </a:p>
        </p:txBody>
      </p:sp>
      <p:sp>
        <p:nvSpPr>
          <p:cNvPr id="12" name="Text 10"/>
          <p:cNvSpPr/>
          <p:nvPr/>
        </p:nvSpPr>
        <p:spPr>
          <a:xfrm>
            <a:off x="8074152" y="3172968"/>
            <a:ext cx="164592" cy="365760"/>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t>
            </a:r>
            <a:endParaRPr lang="en-US" sz="1600" dirty="0"/>
          </a:p>
        </p:txBody>
      </p:sp>
      <p:sp>
        <p:nvSpPr>
          <p:cNvPr id="13" name="Text 11"/>
          <p:cNvSpPr/>
          <p:nvPr/>
        </p:nvSpPr>
        <p:spPr>
          <a:xfrm>
            <a:off x="8330184" y="3172968"/>
            <a:ext cx="2944368" cy="603504"/>
          </a:xfrm>
          <a:prstGeom prst="rect">
            <a:avLst/>
          </a:prstGeom>
          <a:noFill/>
          <a:ln/>
        </p:spPr>
        <p:txBody>
          <a:bodyPr wrap="square" lIns="0" tIns="0" rIns="0" bIns="0" rtlCol="0" anchor="t"/>
          <a:lstStyle/>
          <a:p>
            <a:pPr indent="0" marL="0">
              <a:buNone/>
            </a:pPr>
            <a:r>
              <a:rPr lang="en-US" sz="1600" dirty="0">
                <a:solidFill>
                  <a:srgbClr val="F5EEE5"/>
                </a:solidFill>
                <a:latin typeface="Aptos" pitchFamily="34" charset="0"/>
                <a:ea typeface="Aptos" pitchFamily="34" charset="-122"/>
                <a:cs typeface="Aptos" pitchFamily="34" charset="-120"/>
              </a:rPr>
              <a:t>More curated destinations</a:t>
            </a:r>
            <a:endParaRPr lang="en-US" sz="1600" dirty="0"/>
          </a:p>
        </p:txBody>
      </p:sp>
      <p:sp>
        <p:nvSpPr>
          <p:cNvPr id="14" name="Text 12"/>
          <p:cNvSpPr/>
          <p:nvPr/>
        </p:nvSpPr>
        <p:spPr>
          <a:xfrm>
            <a:off x="8074152" y="3611880"/>
            <a:ext cx="164592" cy="365760"/>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8330184" y="3611880"/>
            <a:ext cx="2944368" cy="603504"/>
          </a:xfrm>
          <a:prstGeom prst="rect">
            <a:avLst/>
          </a:prstGeom>
          <a:noFill/>
          <a:ln/>
        </p:spPr>
        <p:txBody>
          <a:bodyPr wrap="square" lIns="0" tIns="0" rIns="0" bIns="0" rtlCol="0" anchor="t"/>
          <a:lstStyle/>
          <a:p>
            <a:pPr indent="0" marL="0">
              <a:buNone/>
            </a:pPr>
            <a:r>
              <a:rPr lang="en-US" sz="1600" dirty="0">
                <a:solidFill>
                  <a:srgbClr val="F5EEE5"/>
                </a:solidFill>
                <a:latin typeface="Aptos" pitchFamily="34" charset="0"/>
                <a:ea typeface="Aptos" pitchFamily="34" charset="-122"/>
                <a:cs typeface="Aptos" pitchFamily="34" charset="-120"/>
              </a:rPr>
              <a:t>Validated source preservation</a:t>
            </a:r>
            <a:endParaRPr lang="en-US" sz="1600" dirty="0"/>
          </a:p>
        </p:txBody>
      </p:sp>
      <p:sp>
        <p:nvSpPr>
          <p:cNvPr id="16" name="Text 14"/>
          <p:cNvSpPr/>
          <p:nvPr/>
        </p:nvSpPr>
        <p:spPr>
          <a:xfrm>
            <a:off x="8074152" y="4050792"/>
            <a:ext cx="164592" cy="365760"/>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8330184" y="4050792"/>
            <a:ext cx="2944368" cy="603504"/>
          </a:xfrm>
          <a:prstGeom prst="rect">
            <a:avLst/>
          </a:prstGeom>
          <a:noFill/>
          <a:ln/>
        </p:spPr>
        <p:txBody>
          <a:bodyPr wrap="square" lIns="0" tIns="0" rIns="0" bIns="0" rtlCol="0" anchor="t"/>
          <a:lstStyle/>
          <a:p>
            <a:pPr indent="0" marL="0">
              <a:buNone/>
            </a:pPr>
            <a:r>
              <a:rPr lang="en-US" sz="1600" dirty="0">
                <a:solidFill>
                  <a:srgbClr val="F5EEE5"/>
                </a:solidFill>
                <a:latin typeface="Aptos" pitchFamily="34" charset="0"/>
                <a:ea typeface="Aptos" pitchFamily="34" charset="-122"/>
                <a:cs typeface="Aptos" pitchFamily="34" charset="-120"/>
              </a:rPr>
              <a:t>Reliable scheduled alerts</a:t>
            </a:r>
            <a:endParaRPr lang="en-US" sz="1600" dirty="0"/>
          </a:p>
        </p:txBody>
      </p:sp>
      <p:sp>
        <p:nvSpPr>
          <p:cNvPr id="18" name="Text 16"/>
          <p:cNvSpPr/>
          <p:nvPr/>
        </p:nvSpPr>
        <p:spPr>
          <a:xfrm>
            <a:off x="8074152" y="4489704"/>
            <a:ext cx="164592" cy="365760"/>
          </a:xfrm>
          <a:prstGeom prst="rect">
            <a:avLst/>
          </a:prstGeom>
          <a:noFill/>
          <a:ln/>
        </p:spPr>
        <p:txBody>
          <a:bodyPr wrap="square" lIns="0" tIns="0" rIns="0" bIns="0" rtlCol="0" anchor="ctr"/>
          <a:lstStyle/>
          <a:p>
            <a:pPr indent="0" marL="0">
              <a:buNone/>
            </a:pPr>
            <a:r>
              <a:rPr lang="en-US" sz="1600" dirty="0">
                <a:solidFill>
                  <a:srgbClr val="EFBD7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8330184" y="4489704"/>
            <a:ext cx="2944368" cy="603504"/>
          </a:xfrm>
          <a:prstGeom prst="rect">
            <a:avLst/>
          </a:prstGeom>
          <a:noFill/>
          <a:ln/>
        </p:spPr>
        <p:txBody>
          <a:bodyPr wrap="square" lIns="0" tIns="0" rIns="0" bIns="0" rtlCol="0" anchor="t"/>
          <a:lstStyle/>
          <a:p>
            <a:pPr indent="0" marL="0">
              <a:buNone/>
            </a:pPr>
            <a:r>
              <a:rPr lang="en-US" sz="1600" dirty="0">
                <a:solidFill>
                  <a:srgbClr val="F5EEE5"/>
                </a:solidFill>
                <a:latin typeface="Aptos" pitchFamily="34" charset="0"/>
                <a:ea typeface="Aptos" pitchFamily="34" charset="-122"/>
                <a:cs typeface="Aptos" pitchFamily="34" charset="-120"/>
              </a:rPr>
              <a:t>Authenticated cross-device sync</a:t>
            </a:r>
            <a:endParaRPr lang="en-US" sz="1600" dirty="0"/>
          </a:p>
        </p:txBody>
      </p:sp>
      <p:sp>
        <p:nvSpPr>
          <p:cNvPr id="20" name="Text 18"/>
          <p:cNvSpPr/>
          <p:nvPr/>
        </p:nvSpPr>
        <p:spPr>
          <a:xfrm>
            <a:off x="658368" y="4919472"/>
            <a:ext cx="6858000" cy="393192"/>
          </a:xfrm>
          <a:prstGeom prst="rect">
            <a:avLst/>
          </a:prstGeom>
          <a:noFill/>
          <a:ln/>
        </p:spPr>
        <p:txBody>
          <a:bodyPr wrap="square" lIns="0" tIns="0" rIns="0" bIns="0" rtlCol="0" anchor="ctr"/>
          <a:lstStyle/>
          <a:p>
            <a:pPr indent="0" marL="0">
              <a:buNone/>
            </a:pPr>
            <a:r>
              <a:rPr lang="en-US" sz="2200" b="1" dirty="0">
                <a:solidFill>
                  <a:srgbClr val="EFBD73"/>
                </a:solidFill>
                <a:latin typeface="Aptos" pitchFamily="34" charset="0"/>
                <a:ea typeface="Aptos" pitchFamily="34" charset="-122"/>
                <a:cs typeface="Aptos" pitchFamily="34" charset="-120"/>
              </a:rPr>
              <a:t>Try the working demo</a:t>
            </a:r>
            <a:endParaRPr lang="en-US" sz="2200" dirty="0"/>
          </a:p>
        </p:txBody>
      </p:sp>
      <p:sp>
        <p:nvSpPr>
          <p:cNvPr id="21" name="Text 19">
            <a:hlinkClick r:id="rId1" tooltip=""/>
          </p:cNvPr>
          <p:cNvSpPr/>
          <p:nvPr/>
        </p:nvSpPr>
        <p:spPr>
          <a:xfrm>
            <a:off x="658368" y="5477256"/>
            <a:ext cx="7315200" cy="365760"/>
          </a:xfrm>
          <a:prstGeom prst="rect">
            <a:avLst/>
          </a:prstGeom>
          <a:noFill/>
          <a:ln/>
        </p:spPr>
        <p:txBody>
          <a:bodyPr wrap="square" lIns="0" tIns="0" rIns="0" bIns="0" rtlCol="0" anchor="ctr"/>
          <a:lstStyle/>
          <a:p>
            <a:pPr indent="0" marL="0">
              <a:buNone/>
            </a:pPr>
            <a:r>
              <a:rPr lang="en-US" sz="2200" u="sng" dirty="0">
                <a:solidFill>
                  <a:srgbClr val="F5EEE5"/>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tsukuyomi-watch.vercel.app</a:t>
            </a:r>
            <a:endParaRPr lang="en-US" sz="2200" dirty="0"/>
          </a:p>
        </p:txBody>
      </p:sp>
      <p:sp>
        <p:nvSpPr>
          <p:cNvPr id="22" name="Text 20">
            <a:hlinkClick r:id="rId2" tooltip=""/>
          </p:cNvPr>
          <p:cNvSpPr/>
          <p:nvPr/>
        </p:nvSpPr>
        <p:spPr>
          <a:xfrm>
            <a:off x="658368" y="6007608"/>
            <a:ext cx="9144000" cy="201168"/>
          </a:xfrm>
          <a:prstGeom prst="rect">
            <a:avLst/>
          </a:prstGeom>
          <a:noFill/>
          <a:ln/>
        </p:spPr>
        <p:txBody>
          <a:bodyPr wrap="square" lIns="0" tIns="0" rIns="0" bIns="0" rtlCol="0" anchor="ctr"/>
          <a:lstStyle/>
          <a:p>
            <a:pPr indent="0" marL="0">
              <a:buNone/>
            </a:pPr>
            <a:r>
              <a:rPr lang="en-US" sz="1200" u="sng" dirty="0">
                <a:solidFill>
                  <a:srgbClr val="B5BED5"/>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github.com/PECathon-2026/Team-PF-K96JPZ</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PECathon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Tsukuyomi Watch — Project Explanation &amp; Pitch</dc:title>
  <dc:subject>PS-002 · eight-slide project submission</dc:subject>
  <dc:creator>Team PF-K96JPZ</dc:creator>
  <cp:lastModifiedBy>Team PF-K96JPZ</cp:lastModifiedBy>
  <cp:revision>1</cp:revision>
  <dcterms:created xsi:type="dcterms:W3CDTF">2026-10-30T02:06:33Z</dcterms:created>
  <dcterms:modified xsi:type="dcterms:W3CDTF">2026-10-30T02:06:33Z</dcterms:modified>
</cp:coreProperties>
</file>